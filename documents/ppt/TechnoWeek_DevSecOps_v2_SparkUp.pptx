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7" r:id="rId2"/>
    <p:sldId id="258" r:id="rId3"/>
    <p:sldId id="259" r:id="rId4"/>
    <p:sldId id="28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91" r:id="rId21"/>
    <p:sldId id="275" r:id="rId22"/>
    <p:sldId id="290" r:id="rId23"/>
    <p:sldId id="292" r:id="rId24"/>
    <p:sldId id="293" r:id="rId25"/>
    <p:sldId id="284" r:id="rId26"/>
    <p:sldId id="285" r:id="rId27"/>
    <p:sldId id="286" r:id="rId28"/>
    <p:sldId id="289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7" r:id="rId38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0"/>
    <p:restoredTop sz="70068"/>
  </p:normalViewPr>
  <p:slideViewPr>
    <p:cSldViewPr snapToGrid="0" snapToObjects="1">
      <p:cViewPr varScale="1">
        <p:scale>
          <a:sx n="87" d="100"/>
          <a:sy n="87" d="100"/>
        </p:scale>
        <p:origin x="22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02B4F-A096-D94C-87E6-3E4C13CFCE18}" type="datetimeFigureOut">
              <a:rPr lang="en-CR" smtClean="0"/>
              <a:t>20/4/26</a:t>
            </a:fld>
            <a:endParaRPr lang="en-C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52ED73-0492-8A4C-AD9F-C8CE60280D21}" type="slidenum">
              <a:rPr lang="en-CR" smtClean="0"/>
              <a:t>‹#›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164681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[SLIDE: 1 — </a:t>
            </a:r>
            <a:r>
              <a:rPr lang="en-US" dirty="0" err="1"/>
              <a:t>Portada</a:t>
            </a:r>
            <a:r>
              <a:rPr lang="en-US" dirty="0"/>
              <a:t> con </a:t>
            </a:r>
            <a:r>
              <a:rPr lang="en-US" dirty="0" err="1"/>
              <a:t>título</a:t>
            </a:r>
            <a:r>
              <a:rPr lang="en-US" dirty="0"/>
              <a:t>]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 </a:t>
            </a:r>
            <a:r>
              <a:rPr lang="en-US" dirty="0"/>
              <a:t>[MOVER: </a:t>
            </a:r>
            <a:r>
              <a:rPr lang="en-US" dirty="0" err="1"/>
              <a:t>Parado</a:t>
            </a:r>
            <a:r>
              <a:rPr lang="en-US" dirty="0"/>
              <a:t> al </a:t>
            </a:r>
            <a:r>
              <a:rPr lang="en-US" dirty="0" err="1"/>
              <a:t>centro</a:t>
            </a:r>
            <a:r>
              <a:rPr lang="en-US" dirty="0"/>
              <a:t> del </a:t>
            </a:r>
            <a:r>
              <a:rPr lang="en-US" dirty="0" err="1"/>
              <a:t>escenario</a:t>
            </a:r>
            <a:r>
              <a:rPr lang="en-US" dirty="0"/>
              <a:t>, sin </a:t>
            </a:r>
            <a:r>
              <a:rPr lang="en-US" dirty="0" err="1"/>
              <a:t>mirar</a:t>
            </a:r>
            <a:r>
              <a:rPr lang="en-US" dirty="0"/>
              <a:t> la </a:t>
            </a:r>
            <a:r>
              <a:rPr lang="en-US" dirty="0" err="1"/>
              <a:t>pantalla</a:t>
            </a:r>
            <a:r>
              <a:rPr lang="en-US" dirty="0"/>
              <a:t>. Mirar </a:t>
            </a:r>
            <a:r>
              <a:rPr lang="en-US" dirty="0" err="1"/>
              <a:t>directamente</a:t>
            </a:r>
            <a:r>
              <a:rPr lang="en-US" dirty="0"/>
              <a:t> al </a:t>
            </a:r>
            <a:r>
              <a:rPr lang="en-US" dirty="0" err="1"/>
              <a:t>público</a:t>
            </a:r>
            <a:r>
              <a:rPr lang="en-US" dirty="0"/>
              <a:t>.]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 </a:t>
            </a:r>
            <a:r>
              <a:rPr lang="en-US" dirty="0"/>
              <a:t>[TONO: Serio, </a:t>
            </a:r>
            <a:r>
              <a:rPr lang="en-US" dirty="0" err="1"/>
              <a:t>pausado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contando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historia</a:t>
            </a:r>
            <a:r>
              <a:rPr lang="en-US" dirty="0"/>
              <a:t> real]</a:t>
            </a:r>
          </a:p>
          <a:p>
            <a:endParaRPr lang="en-US" dirty="0"/>
          </a:p>
          <a:p>
            <a:r>
              <a:rPr lang="en-US" dirty="0"/>
              <a:t>############################</a:t>
            </a:r>
          </a:p>
          <a:p>
            <a:endParaRPr lang="en-US" dirty="0"/>
          </a:p>
          <a:p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"El 14 de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agosto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del 2025, un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atacante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accedió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a la API de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una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empresa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financiera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en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Estados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Unidos. No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usó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un exploit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sofisticado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. No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rompió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un firewall.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Simplemente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...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hizo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un request a un endpoint que no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validaba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quién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estaba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pidiendo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los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datos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.”</a:t>
            </a:r>
          </a:p>
          <a:p>
            <a:endParaRPr lang="en-US" sz="1800" b="0" i="0" dirty="0">
              <a:solidFill>
                <a:srgbClr val="9198A1"/>
              </a:solidFill>
              <a:effectLst/>
              <a:latin typeface="Mona Sans VF"/>
            </a:endParaRPr>
          </a:p>
          <a:p>
            <a:pPr algn="l"/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[PAUSA: 3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sz="28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############################</a:t>
            </a:r>
          </a:p>
          <a:p>
            <a:pPr algn="l"/>
            <a:endParaRPr lang="en-US" sz="28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sz="2800" dirty="0">
                <a:effectLst/>
              </a:rPr>
              <a:t>"En </a:t>
            </a:r>
            <a:r>
              <a:rPr lang="en-US" sz="2800" dirty="0" err="1">
                <a:effectLst/>
              </a:rPr>
              <a:t>menos</a:t>
            </a:r>
            <a:r>
              <a:rPr lang="en-US" sz="2800" dirty="0">
                <a:effectLst/>
              </a:rPr>
              <a:t> de 48 horas, </a:t>
            </a:r>
            <a:r>
              <a:rPr lang="en-US" sz="2800" dirty="0" err="1">
                <a:effectLst/>
              </a:rPr>
              <a:t>los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datos</a:t>
            </a:r>
            <a:r>
              <a:rPr lang="en-US" sz="2800" dirty="0">
                <a:effectLst/>
              </a:rPr>
              <a:t> de 5.8 </a:t>
            </a:r>
            <a:r>
              <a:rPr lang="en-US" sz="2800" dirty="0" err="1">
                <a:effectLst/>
              </a:rPr>
              <a:t>millones</a:t>
            </a:r>
            <a:r>
              <a:rPr lang="en-US" sz="2800" dirty="0">
                <a:effectLst/>
              </a:rPr>
              <a:t> de personas </a:t>
            </a:r>
            <a:r>
              <a:rPr lang="en-US" sz="2800" dirty="0" err="1">
                <a:effectLst/>
              </a:rPr>
              <a:t>estaban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comprometidos</a:t>
            </a:r>
            <a:r>
              <a:rPr lang="en-US" sz="2800" dirty="0">
                <a:effectLst/>
              </a:rPr>
              <a:t>. </a:t>
            </a:r>
            <a:r>
              <a:rPr lang="en-US" sz="2800" dirty="0" err="1">
                <a:effectLst/>
              </a:rPr>
              <a:t>Nombres</a:t>
            </a:r>
            <a:r>
              <a:rPr lang="en-US" sz="2800" dirty="0">
                <a:effectLst/>
              </a:rPr>
              <a:t>, </a:t>
            </a:r>
            <a:r>
              <a:rPr lang="en-US" sz="2800" dirty="0" err="1">
                <a:effectLst/>
              </a:rPr>
              <a:t>números</a:t>
            </a:r>
            <a:r>
              <a:rPr lang="en-US" sz="2800" dirty="0">
                <a:effectLst/>
              </a:rPr>
              <a:t> de </a:t>
            </a:r>
            <a:r>
              <a:rPr lang="en-US" sz="2800" dirty="0" err="1">
                <a:effectLst/>
              </a:rPr>
              <a:t>seguro</a:t>
            </a:r>
            <a:r>
              <a:rPr lang="en-US" sz="2800" dirty="0">
                <a:effectLst/>
              </a:rPr>
              <a:t> social, </a:t>
            </a:r>
            <a:r>
              <a:rPr lang="en-US" sz="2800" dirty="0" err="1">
                <a:effectLst/>
              </a:rPr>
              <a:t>información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crediticia</a:t>
            </a:r>
            <a:r>
              <a:rPr lang="en-US" sz="2800" dirty="0">
                <a:effectLst/>
              </a:rPr>
              <a:t>. Todo.”</a:t>
            </a:r>
          </a:p>
          <a:p>
            <a:endParaRPr lang="en-US" sz="2800" dirty="0">
              <a:effectLst/>
            </a:endParaRPr>
          </a:p>
          <a:p>
            <a:endParaRPr lang="en-US" sz="2800" dirty="0">
              <a:effectLst/>
            </a:endParaRPr>
          </a:p>
          <a:p>
            <a:pPr algn="l"/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 [TONO: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Cambiar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 a un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tono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más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cercano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conversacional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sz="28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############################</a:t>
            </a:r>
          </a:p>
          <a:p>
            <a:pPr algn="l"/>
            <a:endParaRPr lang="en-US" sz="28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sz="2800" dirty="0">
                <a:effectLst/>
              </a:rPr>
              <a:t>"¿Y </a:t>
            </a:r>
            <a:r>
              <a:rPr lang="en-US" sz="2800" dirty="0" err="1">
                <a:effectLst/>
              </a:rPr>
              <a:t>saben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qué</a:t>
            </a:r>
            <a:r>
              <a:rPr lang="en-US" sz="2800" dirty="0">
                <a:effectLst/>
              </a:rPr>
              <a:t> es lo </a:t>
            </a:r>
            <a:r>
              <a:rPr lang="en-US" sz="2800" dirty="0" err="1">
                <a:effectLst/>
              </a:rPr>
              <a:t>más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absurdo</a:t>
            </a:r>
            <a:r>
              <a:rPr lang="en-US" sz="2800" dirty="0">
                <a:effectLst/>
              </a:rPr>
              <a:t>? Esa </a:t>
            </a:r>
            <a:r>
              <a:rPr lang="en-US" sz="2800" dirty="0" err="1">
                <a:effectLst/>
              </a:rPr>
              <a:t>vulnerabilidad</a:t>
            </a:r>
            <a:r>
              <a:rPr lang="en-US" sz="2800" dirty="0">
                <a:effectLst/>
              </a:rPr>
              <a:t> — un endpoint sin </a:t>
            </a:r>
            <a:r>
              <a:rPr lang="en-US" sz="2800" dirty="0" err="1">
                <a:effectLst/>
              </a:rPr>
              <a:t>validación</a:t>
            </a:r>
            <a:r>
              <a:rPr lang="en-US" sz="2800" dirty="0">
                <a:effectLst/>
              </a:rPr>
              <a:t> de </a:t>
            </a:r>
            <a:r>
              <a:rPr lang="en-US" sz="2800" dirty="0" err="1">
                <a:effectLst/>
              </a:rPr>
              <a:t>identidad</a:t>
            </a:r>
            <a:r>
              <a:rPr lang="en-US" sz="2800" dirty="0">
                <a:effectLst/>
              </a:rPr>
              <a:t> — la </a:t>
            </a:r>
            <a:r>
              <a:rPr lang="en-US" sz="2800" dirty="0" err="1">
                <a:effectLst/>
              </a:rPr>
              <a:t>hubiera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detectado</a:t>
            </a:r>
            <a:r>
              <a:rPr lang="en-US" sz="2800" dirty="0">
                <a:effectLst/>
              </a:rPr>
              <a:t> un linter de </a:t>
            </a:r>
            <a:r>
              <a:rPr lang="en-US" sz="2800" dirty="0" err="1">
                <a:effectLst/>
              </a:rPr>
              <a:t>OpenAPI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en</a:t>
            </a:r>
            <a:r>
              <a:rPr lang="en-US" sz="2800" dirty="0">
                <a:effectLst/>
              </a:rPr>
              <a:t> 0.3 </a:t>
            </a:r>
            <a:r>
              <a:rPr lang="en-US" sz="2800" dirty="0" err="1">
                <a:effectLst/>
              </a:rPr>
              <a:t>segundos</a:t>
            </a:r>
            <a:r>
              <a:rPr lang="en-US" sz="2800" dirty="0">
                <a:effectLst/>
              </a:rPr>
              <a:t>. Antes de que </a:t>
            </a:r>
            <a:r>
              <a:rPr lang="en-US" sz="2800" dirty="0" err="1">
                <a:effectLst/>
              </a:rPr>
              <a:t>el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código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siquiera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llegara</a:t>
            </a:r>
            <a:r>
              <a:rPr lang="en-US" sz="2800" dirty="0">
                <a:effectLst/>
              </a:rPr>
              <a:t> a un </a:t>
            </a:r>
            <a:r>
              <a:rPr lang="en-US" sz="2800" dirty="0" err="1">
                <a:effectLst/>
              </a:rPr>
              <a:t>servidor</a:t>
            </a:r>
            <a:r>
              <a:rPr lang="en-US" sz="2800" dirty="0">
                <a:effectLst/>
              </a:rPr>
              <a:t>.”</a:t>
            </a:r>
          </a:p>
          <a:p>
            <a:endParaRPr lang="en-US" sz="2800" dirty="0">
              <a:effectLst/>
            </a:endParaRPr>
          </a:p>
          <a:p>
            <a:pPr algn="l"/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 [MOVER: Dar un paso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hacia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público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 [TONO: Con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convicción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sz="28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############################</a:t>
            </a:r>
          </a:p>
          <a:p>
            <a:pPr algn="l"/>
            <a:endParaRPr lang="en-US" sz="28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sz="2800" dirty="0">
                <a:effectLst/>
              </a:rPr>
              <a:t>"0.3 </a:t>
            </a:r>
            <a:r>
              <a:rPr lang="en-US" sz="2800" dirty="0" err="1">
                <a:effectLst/>
              </a:rPr>
              <a:t>segundos</a:t>
            </a:r>
            <a:r>
              <a:rPr lang="en-US" sz="2800" dirty="0">
                <a:effectLst/>
              </a:rPr>
              <a:t> contra 5.8 </a:t>
            </a:r>
            <a:r>
              <a:rPr lang="en-US" sz="2800" dirty="0" err="1">
                <a:effectLst/>
              </a:rPr>
              <a:t>millones</a:t>
            </a:r>
            <a:r>
              <a:rPr lang="en-US" sz="2800" dirty="0">
                <a:effectLst/>
              </a:rPr>
              <a:t> de </a:t>
            </a:r>
            <a:r>
              <a:rPr lang="en-US" sz="2800" dirty="0" err="1">
                <a:effectLst/>
              </a:rPr>
              <a:t>víctimas</a:t>
            </a:r>
            <a:r>
              <a:rPr lang="en-US" sz="2800" dirty="0">
                <a:effectLst/>
              </a:rPr>
              <a:t>. Esa es la </a:t>
            </a:r>
            <a:r>
              <a:rPr lang="en-US" sz="2800" dirty="0" err="1">
                <a:effectLst/>
              </a:rPr>
              <a:t>diferencia</a:t>
            </a:r>
            <a:r>
              <a:rPr lang="en-US" sz="2800" dirty="0">
                <a:effectLst/>
              </a:rPr>
              <a:t> entre </a:t>
            </a:r>
            <a:r>
              <a:rPr lang="en-US" sz="2800" dirty="0" err="1">
                <a:effectLst/>
              </a:rPr>
              <a:t>revisar</a:t>
            </a:r>
            <a:r>
              <a:rPr lang="en-US" sz="2800" dirty="0">
                <a:effectLst/>
              </a:rPr>
              <a:t> la </a:t>
            </a:r>
            <a:r>
              <a:rPr lang="en-US" sz="2800" dirty="0" err="1">
                <a:effectLst/>
              </a:rPr>
              <a:t>seguridad</a:t>
            </a:r>
            <a:r>
              <a:rPr lang="en-US" sz="2800" dirty="0">
                <a:effectLst/>
              </a:rPr>
              <a:t> al final... y </a:t>
            </a:r>
            <a:r>
              <a:rPr lang="en-US" sz="2800" dirty="0" err="1">
                <a:effectLst/>
              </a:rPr>
              <a:t>tenerla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integrada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desde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el</a:t>
            </a:r>
            <a:r>
              <a:rPr lang="en-US" sz="2800" dirty="0">
                <a:effectLst/>
              </a:rPr>
              <a:t> primer commit."</a:t>
            </a:r>
          </a:p>
          <a:p>
            <a:pPr algn="l"/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endParaRPr lang="en-CR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426680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2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Nombre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y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título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[TONO: Más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cálido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sonreír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Buenas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tardes</a:t>
            </a:r>
            <a:r>
              <a:rPr lang="en-US" dirty="0">
                <a:effectLst/>
              </a:rPr>
              <a:t>. Mi </a:t>
            </a:r>
            <a:r>
              <a:rPr lang="en-US" dirty="0" err="1">
                <a:effectLst/>
              </a:rPr>
              <a:t>nombre</a:t>
            </a:r>
            <a:r>
              <a:rPr lang="en-US" dirty="0">
                <a:effectLst/>
              </a:rPr>
              <a:t> es [TU NOMBRE], soy DevOps Engineer, y hoy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hablar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convertir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 No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documentos</a:t>
            </a:r>
            <a:r>
              <a:rPr lang="en-US" dirty="0">
                <a:effectLst/>
              </a:rPr>
              <a:t> de 200 </a:t>
            </a:r>
            <a:r>
              <a:rPr lang="en-US" dirty="0" err="1">
                <a:effectLst/>
              </a:rPr>
              <a:t>páginas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 lee. No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auditorías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llegan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 meses </a:t>
            </a:r>
            <a:r>
              <a:rPr lang="en-US" dirty="0" err="1">
                <a:effectLst/>
              </a:rPr>
              <a:t>después</a:t>
            </a:r>
            <a:r>
              <a:rPr lang="en-US" dirty="0">
                <a:effectLst/>
              </a:rPr>
              <a:t>. Código. Que se </a:t>
            </a:r>
            <a:r>
              <a:rPr lang="en-US" dirty="0" err="1">
                <a:effectLst/>
              </a:rPr>
              <a:t>ejecuta</a:t>
            </a:r>
            <a:r>
              <a:rPr lang="en-US" dirty="0">
                <a:effectLst/>
              </a:rPr>
              <a:t>, que se </a:t>
            </a:r>
            <a:r>
              <a:rPr lang="en-US" dirty="0" err="1">
                <a:effectLst/>
              </a:rPr>
              <a:t>versiona</a:t>
            </a:r>
            <a:r>
              <a:rPr lang="en-US" dirty="0">
                <a:effectLst/>
              </a:rPr>
              <a:t>, y que les dice a </a:t>
            </a:r>
            <a:r>
              <a:rPr lang="en-US" dirty="0" err="1">
                <a:effectLst/>
              </a:rPr>
              <a:t>ustedes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 real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API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segura</a:t>
            </a:r>
            <a:r>
              <a:rPr lang="en-US" dirty="0">
                <a:effectLst/>
              </a:rPr>
              <a:t> o no."</a:t>
            </a:r>
          </a:p>
          <a:p>
            <a:endParaRPr lang="en-CR" dirty="0"/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Ligeramente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humorístico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lo </a:t>
            </a:r>
            <a:r>
              <a:rPr lang="en-US" dirty="0" err="1">
                <a:effectLst/>
              </a:rPr>
              <a:t>mejor</a:t>
            </a:r>
            <a:r>
              <a:rPr lang="en-US" dirty="0">
                <a:effectLst/>
              </a:rPr>
              <a:t>: al final de </a:t>
            </a:r>
            <a:r>
              <a:rPr lang="en-US" dirty="0" err="1">
                <a:effectLst/>
              </a:rPr>
              <a:t>esta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charla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uno de </a:t>
            </a:r>
            <a:r>
              <a:rPr lang="en-US" dirty="0" err="1">
                <a:effectLst/>
              </a:rPr>
              <a:t>ustedes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tener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acceso</a:t>
            </a:r>
            <a:r>
              <a:rPr lang="en-US" dirty="0">
                <a:effectLst/>
              </a:rPr>
              <a:t> a un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de GitHub </a:t>
            </a:r>
            <a:r>
              <a:rPr lang="en-US" dirty="0" err="1">
                <a:effectLst/>
              </a:rPr>
              <a:t>donde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funcionando</a:t>
            </a:r>
            <a:r>
              <a:rPr lang="en-US" dirty="0">
                <a:effectLst/>
              </a:rPr>
              <a:t>. Lo </a:t>
            </a:r>
            <a:r>
              <a:rPr lang="en-US" dirty="0" err="1">
                <a:effectLst/>
              </a:rPr>
              <a:t>clonan</a:t>
            </a:r>
            <a:r>
              <a:rPr lang="en-US" dirty="0">
                <a:effectLst/>
              </a:rPr>
              <a:t>, lo </a:t>
            </a:r>
            <a:r>
              <a:rPr lang="en-US" dirty="0" err="1">
                <a:effectLst/>
              </a:rPr>
              <a:t>adaptan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mañana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un pipeline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automatizado</a:t>
            </a:r>
            <a:r>
              <a:rPr lang="en-US" dirty="0">
                <a:effectLst/>
              </a:rPr>
              <a:t>. Sin </a:t>
            </a:r>
            <a:r>
              <a:rPr lang="en-US" dirty="0" err="1">
                <a:effectLst/>
              </a:rPr>
              <a:t>excusas</a:t>
            </a:r>
            <a:r>
              <a:rPr lang="en-US" dirty="0">
                <a:effectLst/>
              </a:rPr>
              <a:t>."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[MOVER: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Señalar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la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pantalla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brevemente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"Pero antes de </a:t>
            </a:r>
            <a:r>
              <a:rPr lang="en-US" dirty="0" err="1">
                <a:effectLst/>
              </a:rPr>
              <a:t>llegar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ahí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necesito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entendamos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juntos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hacemos</a:t>
            </a:r>
            <a:r>
              <a:rPr lang="en-US" dirty="0">
                <a:effectLst/>
              </a:rPr>
              <a:t> hoy... no es </a:t>
            </a:r>
            <a:r>
              <a:rPr lang="en-US" dirty="0" err="1">
                <a:effectLst/>
              </a:rPr>
              <a:t>suficiente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462248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>
                <a:effectLst/>
                <a:latin typeface="Helvetica" pitchFamily="2" charset="0"/>
              </a:rPr>
              <a:t>Pero antes, </a:t>
            </a:r>
            <a:r>
              <a:rPr lang="en-US" i="1" dirty="0" err="1">
                <a:effectLst/>
                <a:latin typeface="Helvetica" pitchFamily="2" charset="0"/>
              </a:rPr>
              <a:t>necesito</a:t>
            </a:r>
            <a:r>
              <a:rPr lang="en-US" i="1" dirty="0">
                <a:effectLst/>
                <a:latin typeface="Helvetica" pitchFamily="2" charset="0"/>
              </a:rPr>
              <a:t> que </a:t>
            </a:r>
            <a:r>
              <a:rPr lang="en-US" i="1" dirty="0" err="1">
                <a:effectLst/>
                <a:latin typeface="Helvetica" pitchFamily="2" charset="0"/>
              </a:rPr>
              <a:t>entendamos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juntos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por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qué</a:t>
            </a:r>
            <a:r>
              <a:rPr lang="en-US" i="1" dirty="0">
                <a:effectLst/>
                <a:latin typeface="Helvetica" pitchFamily="2" charset="0"/>
              </a:rPr>
              <a:t> lo que </a:t>
            </a:r>
            <a:r>
              <a:rPr lang="en-US" i="1" dirty="0" err="1">
                <a:effectLst/>
                <a:latin typeface="Helvetica" pitchFamily="2" charset="0"/>
              </a:rPr>
              <a:t>hacemos</a:t>
            </a:r>
            <a:r>
              <a:rPr lang="en-US" i="1" dirty="0">
                <a:effectLst/>
                <a:latin typeface="Helvetica" pitchFamily="2" charset="0"/>
              </a:rPr>
              <a:t> hoy... no es </a:t>
            </a:r>
            <a:r>
              <a:rPr lang="en-US" i="1" dirty="0" err="1">
                <a:effectLst/>
                <a:latin typeface="Helvetica" pitchFamily="2" charset="0"/>
              </a:rPr>
              <a:t>suficiente</a:t>
            </a:r>
            <a:r>
              <a:rPr lang="en-US" i="1" dirty="0">
                <a:effectLst/>
                <a:latin typeface="Helvetica" pitchFamily="2" charset="0"/>
              </a:rPr>
              <a:t>.</a:t>
            </a:r>
            <a:endParaRPr lang="en-US" dirty="0">
              <a:effectLst/>
              <a:latin typeface="Helvetica" pitchFamily="2" charset="0"/>
            </a:endParaRP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557993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458EB-7155-FAB2-F111-8E29C32A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54F83B-8A6A-CD9A-3BAE-8CDC93A60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B3BA6-C6D1-C5D4-FBFC-CABFDC500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err="1">
                <a:effectLst/>
                <a:latin typeface="Helvetica" pitchFamily="2" charset="0"/>
              </a:rPr>
              <a:t>Pregunta</a:t>
            </a:r>
            <a:r>
              <a:rPr lang="en-US" i="1" dirty="0">
                <a:effectLst/>
                <a:latin typeface="Helvetica" pitchFamily="2" charset="0"/>
              </a:rPr>
              <a:t>: ¿En </a:t>
            </a:r>
            <a:r>
              <a:rPr lang="en-US" i="1" dirty="0" err="1">
                <a:effectLst/>
                <a:latin typeface="Helvetica" pitchFamily="2" charset="0"/>
              </a:rPr>
              <a:t>qué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etapa</a:t>
            </a:r>
            <a:r>
              <a:rPr lang="en-US" i="1" dirty="0">
                <a:effectLst/>
                <a:latin typeface="Helvetica" pitchFamily="2" charset="0"/>
              </a:rPr>
              <a:t> se </a:t>
            </a:r>
            <a:r>
              <a:rPr lang="en-US" i="1" dirty="0" err="1">
                <a:effectLst/>
                <a:latin typeface="Helvetica" pitchFamily="2" charset="0"/>
              </a:rPr>
              <a:t>revisa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seguridad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tu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equipo</a:t>
            </a:r>
            <a:r>
              <a:rPr lang="en-US" i="1" dirty="0">
                <a:effectLst/>
                <a:latin typeface="Helvetica" pitchFamily="2" charset="0"/>
              </a:rPr>
              <a:t>?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Opciones</a:t>
            </a:r>
            <a:r>
              <a:rPr lang="en-US" i="1" dirty="0">
                <a:effectLst/>
                <a:latin typeface="Helvetica" pitchFamily="2" charset="0"/>
              </a:rPr>
              <a:t>: </a:t>
            </a:r>
          </a:p>
          <a:p>
            <a:pPr marL="228600" indent="-228600">
              <a:buAutoNum type="alphaLcParenBoth"/>
            </a:pPr>
            <a:r>
              <a:rPr lang="en-US" i="1" dirty="0">
                <a:effectLst/>
                <a:latin typeface="Helvetica" pitchFamily="2" charset="0"/>
              </a:rPr>
              <a:t>Antes del </a:t>
            </a:r>
            <a:r>
              <a:rPr lang="en-US" i="1" dirty="0" err="1">
                <a:effectLst/>
                <a:latin typeface="Helvetica" pitchFamily="2" charset="0"/>
              </a:rPr>
              <a:t>desarrollo</a:t>
            </a:r>
            <a:r>
              <a:rPr lang="en-US" i="1" dirty="0">
                <a:effectLst/>
                <a:latin typeface="Helvetica" pitchFamily="2" charset="0"/>
              </a:rPr>
              <a:t> · </a:t>
            </a:r>
          </a:p>
          <a:p>
            <a:pPr marL="228600" indent="-228600">
              <a:buAutoNum type="alphaLcParenBoth"/>
            </a:pPr>
            <a:r>
              <a:rPr lang="en-US" i="1" dirty="0">
                <a:effectLst/>
                <a:latin typeface="Helvetica" pitchFamily="2" charset="0"/>
              </a:rPr>
              <a:t>(b) Durante CI/CD · </a:t>
            </a:r>
          </a:p>
          <a:p>
            <a:pPr marL="228600" indent="-228600">
              <a:buAutoNum type="alphaLcParenBoth"/>
            </a:pPr>
            <a:r>
              <a:rPr lang="en-US" i="1" dirty="0">
                <a:effectLst/>
                <a:latin typeface="Helvetica" pitchFamily="2" charset="0"/>
              </a:rPr>
              <a:t>(c) </a:t>
            </a:r>
            <a:r>
              <a:rPr lang="en-US" i="1" dirty="0" err="1">
                <a:effectLst/>
                <a:latin typeface="Helvetica" pitchFamily="2" charset="0"/>
              </a:rPr>
              <a:t>Después</a:t>
            </a:r>
            <a:r>
              <a:rPr lang="en-US" i="1" dirty="0">
                <a:effectLst/>
                <a:latin typeface="Helvetica" pitchFamily="2" charset="0"/>
              </a:rPr>
              <a:t> (</a:t>
            </a:r>
            <a:r>
              <a:rPr lang="en-US" i="1" dirty="0" err="1">
                <a:effectLst/>
                <a:latin typeface="Helvetica" pitchFamily="2" charset="0"/>
              </a:rPr>
              <a:t>auditoría</a:t>
            </a:r>
            <a:r>
              <a:rPr lang="en-US" i="1" dirty="0">
                <a:effectLst/>
                <a:latin typeface="Helvetica" pitchFamily="2" charset="0"/>
              </a:rPr>
              <a:t>/</a:t>
            </a:r>
            <a:r>
              <a:rPr lang="en-US" i="1" dirty="0" err="1">
                <a:effectLst/>
                <a:latin typeface="Helvetica" pitchFamily="2" charset="0"/>
              </a:rPr>
              <a:t>pentest</a:t>
            </a:r>
            <a:r>
              <a:rPr lang="en-US" i="1" dirty="0">
                <a:effectLst/>
                <a:latin typeface="Helvetica" pitchFamily="2" charset="0"/>
              </a:rPr>
              <a:t>) · </a:t>
            </a:r>
          </a:p>
          <a:p>
            <a:pPr marL="228600" indent="-228600">
              <a:buAutoNum type="alphaLcParenBoth"/>
            </a:pPr>
            <a:r>
              <a:rPr lang="en-US" i="1" dirty="0">
                <a:effectLst/>
                <a:latin typeface="Helvetica" pitchFamily="2" charset="0"/>
              </a:rPr>
              <a:t>(d) No se </a:t>
            </a:r>
            <a:r>
              <a:rPr lang="en-US" i="1" dirty="0" err="1">
                <a:effectLst/>
                <a:latin typeface="Helvetica" pitchFamily="2" charset="0"/>
              </a:rPr>
              <a:t>revisa</a:t>
            </a:r>
            <a:endParaRPr lang="en-US" i="1" dirty="0">
              <a:effectLst/>
              <a:latin typeface="Helvetica" pitchFamily="2" charset="0"/>
            </a:endParaRPr>
          </a:p>
          <a:p>
            <a:pPr marL="228600" indent="-228600">
              <a:buAutoNum type="alphaLcParenBoth"/>
            </a:pP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Por </a:t>
            </a:r>
            <a:r>
              <a:rPr lang="en-US" i="1" dirty="0" err="1">
                <a:effectLst/>
                <a:latin typeface="Helvetica" pitchFamily="2" charset="0"/>
              </a:rPr>
              <a:t>qué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aquí</a:t>
            </a:r>
            <a:r>
              <a:rPr lang="en-US" i="1" dirty="0">
                <a:effectLst/>
                <a:latin typeface="Helvetica" pitchFamily="2" charset="0"/>
              </a:rPr>
              <a:t>: </a:t>
            </a:r>
            <a:r>
              <a:rPr lang="en-US" i="1" dirty="0" err="1">
                <a:effectLst/>
                <a:latin typeface="Helvetica" pitchFamily="2" charset="0"/>
              </a:rPr>
              <a:t>te</a:t>
            </a:r>
            <a:r>
              <a:rPr lang="en-US" i="1" dirty="0">
                <a:effectLst/>
                <a:latin typeface="Helvetica" pitchFamily="2" charset="0"/>
              </a:rPr>
              <a:t> da un </a:t>
            </a:r>
            <a:r>
              <a:rPr lang="en-US" i="1" dirty="0" err="1">
                <a:effectLst/>
                <a:latin typeface="Helvetica" pitchFamily="2" charset="0"/>
              </a:rPr>
              <a:t>dato</a:t>
            </a:r>
            <a:r>
              <a:rPr lang="en-US" i="1" dirty="0">
                <a:effectLst/>
                <a:latin typeface="Helvetica" pitchFamily="2" charset="0"/>
              </a:rPr>
              <a:t> REAL de </a:t>
            </a:r>
            <a:r>
              <a:rPr lang="en-US" i="1" dirty="0" err="1">
                <a:effectLst/>
                <a:latin typeface="Helvetica" pitchFamily="2" charset="0"/>
              </a:rPr>
              <a:t>tu</a:t>
            </a:r>
            <a:r>
              <a:rPr lang="en-US" i="1" dirty="0">
                <a:effectLst/>
                <a:latin typeface="Helvetica" pitchFamily="2" charset="0"/>
              </a:rPr>
              <a:t> audiencia que vas a </a:t>
            </a:r>
            <a:r>
              <a:rPr lang="en-US" i="1" dirty="0" err="1">
                <a:effectLst/>
                <a:latin typeface="Helvetica" pitchFamily="2" charset="0"/>
              </a:rPr>
              <a:t>poder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citar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el</a:t>
            </a:r>
            <a:r>
              <a:rPr lang="en-US" i="1" dirty="0">
                <a:effectLst/>
                <a:latin typeface="Helvetica" pitchFamily="2" charset="0"/>
              </a:rPr>
              <a:t> resto de la </a:t>
            </a:r>
            <a:r>
              <a:rPr lang="en-US" i="1" dirty="0" err="1">
                <a:effectLst/>
                <a:latin typeface="Helvetica" pitchFamily="2" charset="0"/>
              </a:rPr>
              <a:t>charla</a:t>
            </a:r>
            <a:r>
              <a:rPr lang="en-US" i="1" dirty="0">
                <a:effectLst/>
                <a:latin typeface="Helvetica" pitchFamily="2" charset="0"/>
              </a:rPr>
              <a:t>. Si </a:t>
            </a:r>
            <a:r>
              <a:rPr lang="en-US" i="1" dirty="0" err="1">
                <a:effectLst/>
                <a:latin typeface="Helvetica" pitchFamily="2" charset="0"/>
              </a:rPr>
              <a:t>el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grueso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responde</a:t>
            </a:r>
            <a:r>
              <a:rPr lang="en-US" i="1" dirty="0">
                <a:effectLst/>
                <a:latin typeface="Helvetica" pitchFamily="2" charset="0"/>
              </a:rPr>
              <a:t> '</a:t>
            </a:r>
            <a:r>
              <a:rPr lang="en-US" i="1" dirty="0" err="1">
                <a:effectLst/>
                <a:latin typeface="Helvetica" pitchFamily="2" charset="0"/>
              </a:rPr>
              <a:t>Después</a:t>
            </a:r>
            <a:r>
              <a:rPr lang="en-US" i="1" dirty="0">
                <a:effectLst/>
                <a:latin typeface="Helvetica" pitchFamily="2" charset="0"/>
              </a:rPr>
              <a:t>' o 'No se </a:t>
            </a:r>
            <a:r>
              <a:rPr lang="en-US" i="1" dirty="0" err="1">
                <a:effectLst/>
                <a:latin typeface="Helvetica" pitchFamily="2" charset="0"/>
              </a:rPr>
              <a:t>revisa</a:t>
            </a:r>
            <a:r>
              <a:rPr lang="en-US" i="1" dirty="0">
                <a:effectLst/>
                <a:latin typeface="Helvetica" pitchFamily="2" charset="0"/>
              </a:rPr>
              <a:t>' — que es lo </a:t>
            </a:r>
            <a:r>
              <a:rPr lang="en-US" i="1" dirty="0" err="1">
                <a:effectLst/>
                <a:latin typeface="Helvetica" pitchFamily="2" charset="0"/>
              </a:rPr>
              <a:t>estadísticamente</a:t>
            </a:r>
            <a:r>
              <a:rPr lang="en-US" i="1" dirty="0">
                <a:effectLst/>
                <a:latin typeface="Helvetica" pitchFamily="2" charset="0"/>
              </a:rPr>
              <a:t> probable — </a:t>
            </a:r>
            <a:r>
              <a:rPr lang="en-US" i="1" dirty="0" err="1">
                <a:effectLst/>
                <a:latin typeface="Helvetica" pitchFamily="2" charset="0"/>
              </a:rPr>
              <a:t>tenés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munición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narrativa</a:t>
            </a:r>
            <a:r>
              <a:rPr lang="en-US" i="1" dirty="0">
                <a:effectLst/>
                <a:latin typeface="Helvetica" pitchFamily="2" charset="0"/>
              </a:rPr>
              <a:t> para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los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siguientes</a:t>
            </a:r>
            <a:r>
              <a:rPr lang="en-US" i="1" dirty="0">
                <a:effectLst/>
                <a:latin typeface="Helvetica" pitchFamily="2" charset="0"/>
              </a:rPr>
              <a:t> 45 </a:t>
            </a:r>
            <a:r>
              <a:rPr lang="en-US" i="1" dirty="0" err="1">
                <a:effectLst/>
                <a:latin typeface="Helvetica" pitchFamily="2" charset="0"/>
              </a:rPr>
              <a:t>minutos</a:t>
            </a:r>
            <a:r>
              <a:rPr lang="en-US" i="1" dirty="0">
                <a:effectLst/>
                <a:latin typeface="Helvetica" pitchFamily="2" charset="0"/>
              </a:rPr>
              <a:t>.</a:t>
            </a:r>
            <a:endParaRPr lang="en-US" dirty="0">
              <a:effectLst/>
              <a:latin typeface="Helvetica" pitchFamily="2" charset="0"/>
            </a:endParaRPr>
          </a:p>
          <a:p>
            <a:endParaRPr lang="en-CR" dirty="0"/>
          </a:p>
          <a:p>
            <a:r>
              <a:rPr lang="en-US" i="1" dirty="0">
                <a:effectLst/>
                <a:latin typeface="Helvetica" pitchFamily="2" charset="0"/>
              </a:rPr>
              <a:t>Si </a:t>
            </a:r>
            <a:r>
              <a:rPr lang="en-US" i="1" dirty="0" err="1">
                <a:effectLst/>
                <a:latin typeface="Helvetica" pitchFamily="2" charset="0"/>
              </a:rPr>
              <a:t>gana</a:t>
            </a:r>
            <a:r>
              <a:rPr lang="en-US" i="1" dirty="0">
                <a:effectLst/>
                <a:latin typeface="Helvetica" pitchFamily="2" charset="0"/>
              </a:rPr>
              <a:t> '</a:t>
            </a:r>
            <a:r>
              <a:rPr lang="en-US" i="1" dirty="0" err="1">
                <a:effectLst/>
                <a:latin typeface="Helvetica" pitchFamily="2" charset="0"/>
              </a:rPr>
              <a:t>Después</a:t>
            </a:r>
            <a:r>
              <a:rPr lang="en-US" i="1" dirty="0">
                <a:effectLst/>
                <a:latin typeface="Helvetica" pitchFamily="2" charset="0"/>
              </a:rPr>
              <a:t>': "</a:t>
            </a:r>
            <a:r>
              <a:rPr lang="en-US" i="1" dirty="0" err="1">
                <a:effectLst/>
                <a:latin typeface="Helvetica" pitchFamily="2" charset="0"/>
              </a:rPr>
              <a:t>Ahí</a:t>
            </a:r>
            <a:r>
              <a:rPr lang="en-US" i="1" dirty="0">
                <a:effectLst/>
                <a:latin typeface="Helvetica" pitchFamily="2" charset="0"/>
              </a:rPr>
              <a:t> lo </a:t>
            </a:r>
            <a:r>
              <a:rPr lang="en-US" i="1" dirty="0" err="1">
                <a:effectLst/>
                <a:latin typeface="Helvetica" pitchFamily="2" charset="0"/>
              </a:rPr>
              <a:t>tienen</a:t>
            </a:r>
            <a:r>
              <a:rPr lang="en-US" i="1" dirty="0">
                <a:effectLst/>
                <a:latin typeface="Helvetica" pitchFamily="2" charset="0"/>
              </a:rPr>
              <a:t>. [X]% de </a:t>
            </a:r>
            <a:r>
              <a:rPr lang="en-US" i="1" dirty="0" err="1">
                <a:effectLst/>
                <a:latin typeface="Helvetica" pitchFamily="2" charset="0"/>
              </a:rPr>
              <a:t>ustedes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está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el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modelo</a:t>
            </a:r>
            <a:r>
              <a:rPr lang="en-US" i="1" dirty="0">
                <a:effectLst/>
                <a:latin typeface="Helvetica" pitchFamily="2" charset="0"/>
              </a:rPr>
              <a:t> del </a:t>
            </a:r>
            <a:r>
              <a:rPr lang="en-US" i="1" dirty="0" err="1">
                <a:effectLst/>
                <a:latin typeface="Helvetica" pitchFamily="2" charset="0"/>
              </a:rPr>
              <a:t>espejo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retrovisor</a:t>
            </a:r>
            <a:r>
              <a:rPr lang="en-US" i="1" dirty="0">
                <a:effectLst/>
                <a:latin typeface="Helvetica" pitchFamily="2" charset="0"/>
              </a:rPr>
              <a:t>. </a:t>
            </a:r>
            <a:r>
              <a:rPr lang="en-US" i="1" dirty="0" err="1">
                <a:effectLst/>
                <a:latin typeface="Helvetica" pitchFamily="2" charset="0"/>
              </a:rPr>
              <a:t>Construir</a:t>
            </a:r>
            <a:r>
              <a:rPr lang="en-US" i="1" dirty="0">
                <a:effectLst/>
                <a:latin typeface="Helvetica" pitchFamily="2" charset="0"/>
              </a:rPr>
              <a:t> primero,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revisar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después</a:t>
            </a:r>
            <a:r>
              <a:rPr lang="en-US" i="1" dirty="0">
                <a:effectLst/>
                <a:latin typeface="Helvetica" pitchFamily="2" charset="0"/>
              </a:rPr>
              <a:t>. No les </a:t>
            </a:r>
            <a:r>
              <a:rPr lang="en-US" i="1" dirty="0" err="1">
                <a:effectLst/>
                <a:latin typeface="Helvetica" pitchFamily="2" charset="0"/>
              </a:rPr>
              <a:t>estoy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contando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una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historia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ajena</a:t>
            </a:r>
            <a:r>
              <a:rPr lang="en-US" i="1" dirty="0">
                <a:effectLst/>
                <a:latin typeface="Helvetica" pitchFamily="2" charset="0"/>
              </a:rPr>
              <a:t> — les </a:t>
            </a:r>
            <a:r>
              <a:rPr lang="en-US" i="1" dirty="0" err="1">
                <a:effectLst/>
                <a:latin typeface="Helvetica" pitchFamily="2" charset="0"/>
              </a:rPr>
              <a:t>estoy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describiendo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su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realidad</a:t>
            </a:r>
            <a:r>
              <a:rPr lang="en-US" i="1" dirty="0">
                <a:effectLst/>
                <a:latin typeface="Helvetica" pitchFamily="2" charset="0"/>
              </a:rPr>
              <a:t>. Y </a:t>
            </a:r>
            <a:r>
              <a:rPr lang="en-US" i="1" dirty="0" err="1">
                <a:effectLst/>
                <a:latin typeface="Helvetica" pitchFamily="2" charset="0"/>
              </a:rPr>
              <a:t>eso</a:t>
            </a:r>
            <a:r>
              <a:rPr lang="en-US" i="1" dirty="0">
                <a:effectLst/>
                <a:latin typeface="Helvetica" pitchFamily="2" charset="0"/>
              </a:rPr>
              <a:t> es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exactamente</a:t>
            </a:r>
            <a:r>
              <a:rPr lang="en-US" i="1" dirty="0">
                <a:effectLst/>
                <a:latin typeface="Helvetica" pitchFamily="2" charset="0"/>
              </a:rPr>
              <a:t> lo que </a:t>
            </a:r>
            <a:r>
              <a:rPr lang="en-US" i="1" dirty="0" err="1">
                <a:effectLst/>
                <a:latin typeface="Helvetica" pitchFamily="2" charset="0"/>
              </a:rPr>
              <a:t>vamos</a:t>
            </a:r>
            <a:r>
              <a:rPr lang="en-US" i="1" dirty="0">
                <a:effectLst/>
                <a:latin typeface="Helvetica" pitchFamily="2" charset="0"/>
              </a:rPr>
              <a:t> a </a:t>
            </a:r>
            <a:r>
              <a:rPr lang="en-US" i="1" dirty="0" err="1">
                <a:effectLst/>
                <a:latin typeface="Helvetica" pitchFamily="2" charset="0"/>
              </a:rPr>
              <a:t>cambiar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los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próximos</a:t>
            </a:r>
            <a:r>
              <a:rPr lang="en-US" i="1" dirty="0">
                <a:effectLst/>
                <a:latin typeface="Helvetica" pitchFamily="2" charset="0"/>
              </a:rPr>
              <a:t> 40 </a:t>
            </a:r>
            <a:r>
              <a:rPr lang="en-US" i="1" dirty="0" err="1">
                <a:effectLst/>
                <a:latin typeface="Helvetica" pitchFamily="2" charset="0"/>
              </a:rPr>
              <a:t>minutos</a:t>
            </a:r>
            <a:r>
              <a:rPr lang="en-US" i="1" dirty="0">
                <a:effectLst/>
                <a:latin typeface="Helvetica" pitchFamily="2" charset="0"/>
              </a:rPr>
              <a:t>.”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Si </a:t>
            </a:r>
            <a:r>
              <a:rPr lang="en-US" i="1" dirty="0" err="1">
                <a:effectLst/>
                <a:latin typeface="Helvetica" pitchFamily="2" charset="0"/>
              </a:rPr>
              <a:t>gana</a:t>
            </a:r>
            <a:r>
              <a:rPr lang="en-US" i="1" dirty="0">
                <a:effectLst/>
                <a:latin typeface="Helvetica" pitchFamily="2" charset="0"/>
              </a:rPr>
              <a:t> 'Durante CI/CD': "</a:t>
            </a:r>
            <a:r>
              <a:rPr lang="en-US" i="1" dirty="0" err="1">
                <a:effectLst/>
                <a:latin typeface="Helvetica" pitchFamily="2" charset="0"/>
              </a:rPr>
              <a:t>Buenas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noticias</a:t>
            </a:r>
            <a:r>
              <a:rPr lang="en-US" i="1" dirty="0">
                <a:effectLst/>
                <a:latin typeface="Helvetica" pitchFamily="2" charset="0"/>
              </a:rPr>
              <a:t> — la </a:t>
            </a:r>
            <a:r>
              <a:rPr lang="en-US" i="1" dirty="0" err="1">
                <a:effectLst/>
                <a:latin typeface="Helvetica" pitchFamily="2" charset="0"/>
              </a:rPr>
              <a:t>mayoría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ya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tiene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seguridad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en</a:t>
            </a:r>
            <a:r>
              <a:rPr lang="en-US" i="1" dirty="0">
                <a:effectLst/>
                <a:latin typeface="Helvetica" pitchFamily="2" charset="0"/>
              </a:rPr>
              <a:t> CI/CD. Pero la </a:t>
            </a:r>
            <a:r>
              <a:rPr lang="en-US" i="1" dirty="0" err="1">
                <a:effectLst/>
                <a:latin typeface="Helvetica" pitchFamily="2" charset="0"/>
              </a:rPr>
              <a:t>pregunta</a:t>
            </a:r>
            <a:r>
              <a:rPr lang="en-US" i="1" dirty="0">
                <a:effectLst/>
                <a:latin typeface="Helvetica" pitchFamily="2" charset="0"/>
              </a:rPr>
              <a:t> no es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SI la </a:t>
            </a:r>
            <a:r>
              <a:rPr lang="en-US" i="1" dirty="0" err="1">
                <a:effectLst/>
                <a:latin typeface="Helvetica" pitchFamily="2" charset="0"/>
              </a:rPr>
              <a:t>tienen</a:t>
            </a:r>
            <a:r>
              <a:rPr lang="en-US" i="1" dirty="0">
                <a:effectLst/>
                <a:latin typeface="Helvetica" pitchFamily="2" charset="0"/>
              </a:rPr>
              <a:t>, </a:t>
            </a:r>
            <a:r>
              <a:rPr lang="en-US" i="1" dirty="0" err="1">
                <a:effectLst/>
                <a:latin typeface="Helvetica" pitchFamily="2" charset="0"/>
              </a:rPr>
              <a:t>sino</a:t>
            </a:r>
            <a:r>
              <a:rPr lang="en-US" i="1" dirty="0">
                <a:effectLst/>
                <a:latin typeface="Helvetica" pitchFamily="2" charset="0"/>
              </a:rPr>
              <a:t> QUÉ tan </a:t>
            </a:r>
            <a:r>
              <a:rPr lang="en-US" i="1" dirty="0" err="1">
                <a:effectLst/>
                <a:latin typeface="Helvetica" pitchFamily="2" charset="0"/>
              </a:rPr>
              <a:t>temprano</a:t>
            </a:r>
            <a:r>
              <a:rPr lang="en-US" i="1" dirty="0">
                <a:effectLst/>
                <a:latin typeface="Helvetica" pitchFamily="2" charset="0"/>
              </a:rPr>
              <a:t> y QUÉ tan </a:t>
            </a:r>
            <a:r>
              <a:rPr lang="en-US" i="1" dirty="0" err="1">
                <a:effectLst/>
                <a:latin typeface="Helvetica" pitchFamily="2" charset="0"/>
              </a:rPr>
              <a:t>completa</a:t>
            </a:r>
            <a:r>
              <a:rPr lang="en-US" i="1" dirty="0">
                <a:effectLst/>
                <a:latin typeface="Helvetica" pitchFamily="2" charset="0"/>
              </a:rPr>
              <a:t> es. Vamos a </a:t>
            </a:r>
            <a:r>
              <a:rPr lang="en-US" i="1" dirty="0" err="1">
                <a:effectLst/>
                <a:latin typeface="Helvetica" pitchFamily="2" charset="0"/>
              </a:rPr>
              <a:t>ver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si</a:t>
            </a:r>
            <a:r>
              <a:rPr lang="en-US" i="1" dirty="0">
                <a:effectLst/>
                <a:latin typeface="Helvetica" pitchFamily="2" charset="0"/>
              </a:rPr>
              <a:t> lo que </a:t>
            </a:r>
            <a:r>
              <a:rPr lang="en-US" i="1" dirty="0" err="1">
                <a:effectLst/>
                <a:latin typeface="Helvetica" pitchFamily="2" charset="0"/>
              </a:rPr>
              <a:t>están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haciendo</a:t>
            </a:r>
            <a:r>
              <a:rPr lang="en-US" i="1" dirty="0">
                <a:effectLst/>
                <a:latin typeface="Helvetica" pitchFamily="2" charset="0"/>
              </a:rPr>
              <a:t> hoy es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suficiente</a:t>
            </a:r>
            <a:r>
              <a:rPr lang="en-US" i="1" dirty="0">
                <a:effectLst/>
                <a:latin typeface="Helvetica" pitchFamily="2" charset="0"/>
              </a:rPr>
              <a:t> para SUGEF.”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Si </a:t>
            </a:r>
            <a:r>
              <a:rPr lang="en-US" i="1" dirty="0" err="1">
                <a:effectLst/>
                <a:latin typeface="Helvetica" pitchFamily="2" charset="0"/>
              </a:rPr>
              <a:t>gana</a:t>
            </a:r>
            <a:r>
              <a:rPr lang="en-US" i="1" dirty="0">
                <a:effectLst/>
                <a:latin typeface="Helvetica" pitchFamily="2" charset="0"/>
              </a:rPr>
              <a:t> 'Antes del </a:t>
            </a:r>
            <a:r>
              <a:rPr lang="en-US" i="1" dirty="0" err="1">
                <a:effectLst/>
                <a:latin typeface="Helvetica" pitchFamily="2" charset="0"/>
              </a:rPr>
              <a:t>desarrollo</a:t>
            </a:r>
            <a:r>
              <a:rPr lang="en-US" i="1" dirty="0">
                <a:effectLst/>
                <a:latin typeface="Helvetica" pitchFamily="2" charset="0"/>
              </a:rPr>
              <a:t>': "Ok, </a:t>
            </a:r>
            <a:r>
              <a:rPr lang="en-US" i="1" dirty="0" err="1">
                <a:effectLst/>
                <a:latin typeface="Helvetica" pitchFamily="2" charset="0"/>
              </a:rPr>
              <a:t>tengo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una</a:t>
            </a:r>
            <a:r>
              <a:rPr lang="en-US" i="1" dirty="0">
                <a:effectLst/>
                <a:latin typeface="Helvetica" pitchFamily="2" charset="0"/>
              </a:rPr>
              <a:t> audiencia </a:t>
            </a:r>
            <a:r>
              <a:rPr lang="en-US" i="1" dirty="0" err="1">
                <a:effectLst/>
                <a:latin typeface="Helvetica" pitchFamily="2" charset="0"/>
              </a:rPr>
              <a:t>madura</a:t>
            </a:r>
            <a:r>
              <a:rPr lang="en-US" i="1" dirty="0">
                <a:effectLst/>
                <a:latin typeface="Helvetica" pitchFamily="2" charset="0"/>
              </a:rPr>
              <a:t>. </a:t>
            </a:r>
            <a:r>
              <a:rPr lang="en-US" i="1" dirty="0" err="1">
                <a:effectLst/>
                <a:latin typeface="Helvetica" pitchFamily="2" charset="0"/>
              </a:rPr>
              <a:t>Eso</a:t>
            </a:r>
            <a:r>
              <a:rPr lang="en-US" i="1" dirty="0">
                <a:effectLst/>
                <a:latin typeface="Helvetica" pitchFamily="2" charset="0"/>
              </a:rPr>
              <a:t> cambia la </a:t>
            </a:r>
            <a:r>
              <a:rPr lang="en-US" i="1" dirty="0" err="1">
                <a:effectLst/>
                <a:latin typeface="Helvetica" pitchFamily="2" charset="0"/>
              </a:rPr>
              <a:t>conversación</a:t>
            </a:r>
            <a:r>
              <a:rPr lang="en-US" i="1" dirty="0">
                <a:effectLst/>
                <a:latin typeface="Helvetica" pitchFamily="2" charset="0"/>
              </a:rPr>
              <a:t> — hoy no les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voy</a:t>
            </a:r>
            <a:r>
              <a:rPr lang="en-US" i="1" dirty="0">
                <a:effectLst/>
                <a:latin typeface="Helvetica" pitchFamily="2" charset="0"/>
              </a:rPr>
              <a:t> a vender la idea, les </a:t>
            </a:r>
            <a:r>
              <a:rPr lang="en-US" i="1" dirty="0" err="1">
                <a:effectLst/>
                <a:latin typeface="Helvetica" pitchFamily="2" charset="0"/>
              </a:rPr>
              <a:t>voy</a:t>
            </a:r>
            <a:r>
              <a:rPr lang="en-US" i="1" dirty="0">
                <a:effectLst/>
                <a:latin typeface="Helvetica" pitchFamily="2" charset="0"/>
              </a:rPr>
              <a:t> a </a:t>
            </a:r>
            <a:r>
              <a:rPr lang="en-US" i="1" dirty="0" err="1">
                <a:effectLst/>
                <a:latin typeface="Helvetica" pitchFamily="2" charset="0"/>
              </a:rPr>
              <a:t>mostrar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cómo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escalarla</a:t>
            </a:r>
            <a:r>
              <a:rPr lang="en-US" i="1" dirty="0">
                <a:effectLst/>
                <a:latin typeface="Helvetica" pitchFamily="2" charset="0"/>
              </a:rPr>
              <a:t>.”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solidFill>
                  <a:srgbClr val="555555"/>
                </a:solidFill>
                <a:effectLst/>
                <a:latin typeface="Helvetica" pitchFamily="2" charset="0"/>
              </a:rPr>
              <a:t>[</a:t>
            </a:r>
            <a:endParaRPr lang="en-US" dirty="0">
              <a:effectLst/>
              <a:latin typeface="Helvetica" pitchFamily="2" charset="0"/>
            </a:endParaRPr>
          </a:p>
          <a:p>
            <a:endParaRPr lang="en-C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422D7-BFDD-9517-F4F6-0D959F6FBB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4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69801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Serio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pero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no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alarmista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 Datos con peso.] [SLIDE: 4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Estadística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"84%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empresas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tuvieron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un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incidente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seguridad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APIs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último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año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3:30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En 2025, </a:t>
            </a:r>
            <a:r>
              <a:rPr lang="en-US" i="1" dirty="0" err="1">
                <a:effectLst/>
                <a:latin typeface="Helvetica" pitchFamily="2" charset="0"/>
              </a:rPr>
              <a:t>el</a:t>
            </a:r>
            <a:r>
              <a:rPr lang="en-US" i="1" dirty="0">
                <a:effectLst/>
                <a:latin typeface="Helvetica" pitchFamily="2" charset="0"/>
              </a:rPr>
              <a:t> 84% de las </a:t>
            </a:r>
            <a:r>
              <a:rPr lang="en-US" i="1" dirty="0" err="1">
                <a:effectLst/>
                <a:latin typeface="Helvetica" pitchFamily="2" charset="0"/>
              </a:rPr>
              <a:t>empresas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reportaron</a:t>
            </a:r>
            <a:r>
              <a:rPr lang="en-US" i="1" dirty="0">
                <a:effectLst/>
                <a:latin typeface="Helvetica" pitchFamily="2" charset="0"/>
              </a:rPr>
              <a:t> al </a:t>
            </a:r>
            <a:r>
              <a:rPr lang="en-US" i="1" dirty="0" err="1">
                <a:effectLst/>
                <a:latin typeface="Helvetica" pitchFamily="2" charset="0"/>
              </a:rPr>
              <a:t>menos</a:t>
            </a:r>
            <a:r>
              <a:rPr lang="en-US" i="1" dirty="0">
                <a:effectLst/>
                <a:latin typeface="Helvetica" pitchFamily="2" charset="0"/>
              </a:rPr>
              <a:t> un </a:t>
            </a:r>
            <a:r>
              <a:rPr lang="en-US" i="1" dirty="0" err="1">
                <a:effectLst/>
                <a:latin typeface="Helvetica" pitchFamily="2" charset="0"/>
              </a:rPr>
              <a:t>incidente</a:t>
            </a:r>
            <a:r>
              <a:rPr lang="en-US" i="1" dirty="0">
                <a:effectLst/>
                <a:latin typeface="Helvetica" pitchFamily="2" charset="0"/>
              </a:rPr>
              <a:t> de </a:t>
            </a:r>
            <a:r>
              <a:rPr lang="en-US" i="1" dirty="0" err="1">
                <a:effectLst/>
                <a:latin typeface="Helvetica" pitchFamily="2" charset="0"/>
              </a:rPr>
              <a:t>seguridad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en</a:t>
            </a:r>
            <a:r>
              <a:rPr lang="en-US" i="1" dirty="0">
                <a:effectLst/>
                <a:latin typeface="Helvetica" pitchFamily="2" charset="0"/>
              </a:rPr>
              <a:t> APIs. Y </a:t>
            </a:r>
            <a:r>
              <a:rPr lang="en-US" i="1" dirty="0" err="1">
                <a:effectLst/>
                <a:latin typeface="Helvetica" pitchFamily="2" charset="0"/>
              </a:rPr>
              <a:t>ojo</a:t>
            </a:r>
            <a:r>
              <a:rPr lang="en-US" i="1" dirty="0">
                <a:effectLst/>
                <a:latin typeface="Helvetica" pitchFamily="2" charset="0"/>
              </a:rPr>
              <a:t> — </a:t>
            </a:r>
            <a:r>
              <a:rPr lang="en-US" i="1" dirty="0" err="1">
                <a:effectLst/>
                <a:latin typeface="Helvetica" pitchFamily="2" charset="0"/>
              </a:rPr>
              <a:t>esos</a:t>
            </a:r>
            <a:r>
              <a:rPr lang="en-US" i="1" dirty="0">
                <a:effectLst/>
                <a:latin typeface="Helvetica" pitchFamily="2" charset="0"/>
              </a:rPr>
              <a:t> son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los</a:t>
            </a:r>
            <a:r>
              <a:rPr lang="en-US" i="1" dirty="0">
                <a:effectLst/>
                <a:latin typeface="Helvetica" pitchFamily="2" charset="0"/>
              </a:rPr>
              <a:t> que lo </a:t>
            </a:r>
            <a:r>
              <a:rPr lang="en-US" i="1" dirty="0" err="1">
                <a:effectLst/>
                <a:latin typeface="Helvetica" pitchFamily="2" charset="0"/>
              </a:rPr>
              <a:t>detectaron</a:t>
            </a:r>
            <a:r>
              <a:rPr lang="en-US" i="1" dirty="0">
                <a:effectLst/>
                <a:latin typeface="Helvetica" pitchFamily="2" charset="0"/>
              </a:rPr>
              <a:t>.</a:t>
            </a:r>
            <a:endParaRPr lang="en-US" dirty="0">
              <a:effectLst/>
              <a:latin typeface="Helvetica" pitchFamily="2" charset="0"/>
            </a:endParaRPr>
          </a:p>
          <a:p>
            <a:endParaRPr lang="en-CR" dirty="0"/>
          </a:p>
          <a:p>
            <a:r>
              <a:rPr lang="en-US" i="1" dirty="0" err="1">
                <a:effectLst/>
                <a:latin typeface="Helvetica" pitchFamily="2" charset="0"/>
              </a:rPr>
              <a:t>Mientras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llegan</a:t>
            </a:r>
            <a:r>
              <a:rPr lang="en-US" i="1" dirty="0">
                <a:effectLst/>
                <a:latin typeface="Helvetica" pitchFamily="2" charset="0"/>
              </a:rPr>
              <a:t> las </a:t>
            </a:r>
            <a:r>
              <a:rPr lang="en-US" i="1" dirty="0" err="1">
                <a:effectLst/>
                <a:latin typeface="Helvetica" pitchFamily="2" charset="0"/>
              </a:rPr>
              <a:t>respuestas</a:t>
            </a:r>
            <a:r>
              <a:rPr lang="en-US" i="1" dirty="0">
                <a:effectLst/>
                <a:latin typeface="Helvetica" pitchFamily="2" charset="0"/>
              </a:rPr>
              <a:t>... les </a:t>
            </a:r>
            <a:r>
              <a:rPr lang="en-US" i="1" dirty="0" err="1">
                <a:effectLst/>
                <a:latin typeface="Helvetica" pitchFamily="2" charset="0"/>
              </a:rPr>
              <a:t>cuento</a:t>
            </a:r>
            <a:r>
              <a:rPr lang="en-US" i="1" dirty="0">
                <a:effectLst/>
                <a:latin typeface="Helvetica" pitchFamily="2" charset="0"/>
              </a:rPr>
              <a:t> algo. Esta </a:t>
            </a:r>
            <a:r>
              <a:rPr lang="en-US" i="1" dirty="0" err="1">
                <a:effectLst/>
                <a:latin typeface="Helvetica" pitchFamily="2" charset="0"/>
              </a:rPr>
              <a:t>pregunta</a:t>
            </a:r>
            <a:r>
              <a:rPr lang="en-US" i="1" dirty="0">
                <a:effectLst/>
                <a:latin typeface="Helvetica" pitchFamily="2" charset="0"/>
              </a:rPr>
              <a:t> se la </a:t>
            </a:r>
            <a:r>
              <a:rPr lang="en-US" i="1" dirty="0" err="1">
                <a:effectLst/>
                <a:latin typeface="Helvetica" pitchFamily="2" charset="0"/>
              </a:rPr>
              <a:t>hice</a:t>
            </a:r>
            <a:r>
              <a:rPr lang="en-US" i="1" dirty="0">
                <a:effectLst/>
                <a:latin typeface="Helvetica" pitchFamily="2" charset="0"/>
              </a:rPr>
              <a:t> a 40 </a:t>
            </a:r>
            <a:r>
              <a:rPr lang="en-US" i="1" dirty="0" err="1">
                <a:effectLst/>
                <a:latin typeface="Helvetica" pitchFamily="2" charset="0"/>
              </a:rPr>
              <a:t>devs</a:t>
            </a:r>
            <a:r>
              <a:rPr lang="en-US" i="1" dirty="0">
                <a:effectLst/>
                <a:latin typeface="Helvetica" pitchFamily="2" charset="0"/>
              </a:rPr>
              <a:t> la </a:t>
            </a:r>
            <a:r>
              <a:rPr lang="en-US" i="1" dirty="0" err="1">
                <a:effectLst/>
                <a:latin typeface="Helvetica" pitchFamily="2" charset="0"/>
              </a:rPr>
              <a:t>semana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pasada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en</a:t>
            </a:r>
            <a:r>
              <a:rPr lang="en-US" i="1" dirty="0">
                <a:effectLst/>
                <a:latin typeface="Helvetica" pitchFamily="2" charset="0"/>
              </a:rPr>
              <a:t> un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meetup. </a:t>
            </a:r>
            <a:r>
              <a:rPr lang="en-US" i="1" dirty="0" err="1">
                <a:effectLst/>
                <a:latin typeface="Helvetica" pitchFamily="2" charset="0"/>
              </a:rPr>
              <a:t>Prepárense</a:t>
            </a:r>
            <a:r>
              <a:rPr lang="en-US" i="1" dirty="0">
                <a:effectLst/>
                <a:latin typeface="Helvetica" pitchFamily="2" charset="0"/>
              </a:rPr>
              <a:t> para </a:t>
            </a:r>
            <a:r>
              <a:rPr lang="en-US" i="1" dirty="0" err="1">
                <a:effectLst/>
                <a:latin typeface="Helvetica" pitchFamily="2" charset="0"/>
              </a:rPr>
              <a:t>ver</a:t>
            </a:r>
            <a:r>
              <a:rPr lang="en-US" i="1" dirty="0">
                <a:effectLst/>
                <a:latin typeface="Helvetica" pitchFamily="2" charset="0"/>
              </a:rPr>
              <a:t> un </a:t>
            </a:r>
            <a:r>
              <a:rPr lang="en-US" i="1" dirty="0" err="1">
                <a:effectLst/>
                <a:latin typeface="Helvetica" pitchFamily="2" charset="0"/>
              </a:rPr>
              <a:t>número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incómodo</a:t>
            </a:r>
            <a:r>
              <a:rPr lang="en-US" i="1" dirty="0">
                <a:effectLst/>
                <a:latin typeface="Helvetica" pitchFamily="2" charset="0"/>
              </a:rPr>
              <a:t>.</a:t>
            </a:r>
            <a:endParaRPr lang="en-US" dirty="0">
              <a:effectLst/>
              <a:latin typeface="Helvetica" pitchFamily="2" charset="0"/>
            </a:endParaRP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5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489414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5 — "Solo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13%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puede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prevenir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más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50%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ataques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APIs"]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viene</a:t>
            </a:r>
            <a:r>
              <a:rPr lang="en-US" dirty="0">
                <a:effectLst/>
              </a:rPr>
              <a:t> lo que a </a:t>
            </a:r>
            <a:r>
              <a:rPr lang="en-US" dirty="0" err="1">
                <a:effectLst/>
              </a:rPr>
              <a:t>mí</a:t>
            </a:r>
            <a:r>
              <a:rPr lang="en-US" dirty="0">
                <a:effectLst/>
              </a:rPr>
              <a:t> me </a:t>
            </a:r>
            <a:r>
              <a:rPr lang="en-US" dirty="0" err="1">
                <a:effectLst/>
              </a:rPr>
              <a:t>quita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sueño</a:t>
            </a:r>
            <a:r>
              <a:rPr lang="en-US" dirty="0">
                <a:effectLst/>
              </a:rPr>
              <a:t>: solo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13% de las </a:t>
            </a:r>
            <a:r>
              <a:rPr lang="en-US" dirty="0" err="1">
                <a:effectLst/>
              </a:rPr>
              <a:t>organizaciones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capacidad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prevenir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de la </a:t>
            </a:r>
            <a:r>
              <a:rPr lang="en-US" dirty="0" err="1">
                <a:effectLst/>
              </a:rPr>
              <a:t>mitad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ataques</a:t>
            </a:r>
            <a:r>
              <a:rPr lang="en-US" dirty="0">
                <a:effectLst/>
              </a:rPr>
              <a:t> a sus APIs. ¿El </a:t>
            </a:r>
            <a:r>
              <a:rPr lang="en-US" dirty="0" err="1">
                <a:effectLst/>
              </a:rPr>
              <a:t>otro</a:t>
            </a:r>
            <a:r>
              <a:rPr lang="en-US" dirty="0">
                <a:effectLst/>
              </a:rPr>
              <a:t> 87%? </a:t>
            </a:r>
            <a:r>
              <a:rPr lang="en-US" dirty="0" err="1">
                <a:effectLst/>
              </a:rPr>
              <a:t>Básicamente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modo '</a:t>
            </a:r>
            <a:r>
              <a:rPr lang="en-US" dirty="0" err="1">
                <a:effectLst/>
              </a:rPr>
              <a:t>ojalá</a:t>
            </a:r>
            <a:r>
              <a:rPr lang="en-US" dirty="0">
                <a:effectLst/>
              </a:rPr>
              <a:t> no </a:t>
            </a:r>
            <a:r>
              <a:rPr lang="en-US" dirty="0" err="1">
                <a:effectLst/>
              </a:rPr>
              <a:t>nos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pase</a:t>
            </a:r>
            <a:r>
              <a:rPr lang="en-US" dirty="0">
                <a:effectLst/>
              </a:rPr>
              <a:t>’.”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Ligeramente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humorístico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"Es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poner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candado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bicicleta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bóveda</a:t>
            </a:r>
            <a:r>
              <a:rPr lang="en-US" dirty="0">
                <a:effectLst/>
              </a:rPr>
              <a:t> del banco y </a:t>
            </a:r>
            <a:r>
              <a:rPr lang="en-US" dirty="0" err="1">
                <a:effectLst/>
              </a:rPr>
              <a:t>decir</a:t>
            </a:r>
            <a:r>
              <a:rPr lang="en-US" dirty="0">
                <a:effectLst/>
              </a:rPr>
              <a:t> '</a:t>
            </a:r>
            <a:r>
              <a:rPr lang="en-US" dirty="0" err="1">
                <a:effectLst/>
              </a:rPr>
              <a:t>estamos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protegidos</a:t>
            </a:r>
            <a:r>
              <a:rPr lang="en-US" dirty="0">
                <a:effectLst/>
              </a:rPr>
              <a:t>’.”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Pequeña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risa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público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dejar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espacio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6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002552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6 — "El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modelo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auditoría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 final"]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Explicativo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contando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algo que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reconocen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5:30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"Pero, ¿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así</a:t>
            </a:r>
            <a:r>
              <a:rPr lang="en-US" dirty="0">
                <a:effectLst/>
              </a:rPr>
              <a:t>?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mayoría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organizaciones</a:t>
            </a:r>
            <a:r>
              <a:rPr lang="en-US" dirty="0">
                <a:effectLst/>
              </a:rPr>
              <a:t> — y la banca no es la </a:t>
            </a:r>
            <a:r>
              <a:rPr lang="en-US" dirty="0" err="1">
                <a:effectLst/>
              </a:rPr>
              <a:t>excepción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todavía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trabajan</a:t>
            </a:r>
            <a:r>
              <a:rPr lang="en-US" dirty="0">
                <a:effectLst/>
              </a:rPr>
              <a:t> con un </a:t>
            </a:r>
            <a:r>
              <a:rPr lang="en-US" dirty="0" err="1">
                <a:effectLst/>
              </a:rPr>
              <a:t>modelo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yo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llamo</a:t>
            </a:r>
            <a:r>
              <a:rPr lang="en-US" dirty="0">
                <a:effectLst/>
              </a:rPr>
              <a:t> '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espejo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retrovisor</a:t>
            </a:r>
            <a:r>
              <a:rPr lang="en-US" dirty="0">
                <a:effectLst/>
              </a:rPr>
              <a:t>'. </a:t>
            </a:r>
            <a:r>
              <a:rPr lang="en-US" dirty="0" err="1">
                <a:effectLst/>
              </a:rPr>
              <a:t>Funciona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así</a:t>
            </a:r>
            <a:r>
              <a:rPr lang="en-US" dirty="0">
                <a:effectLst/>
              </a:rPr>
              <a:t>:"</a:t>
            </a: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equipo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desarrollo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construye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aplicación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Trabajan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semanas</a:t>
            </a:r>
            <a:r>
              <a:rPr lang="en-US" dirty="0">
                <a:effectLst/>
              </a:rPr>
              <a:t>, meses. </a:t>
            </a:r>
            <a:r>
              <a:rPr lang="en-US" dirty="0" err="1">
                <a:effectLst/>
              </a:rPr>
              <a:t>Hacen</a:t>
            </a:r>
            <a:r>
              <a:rPr lang="en-US" dirty="0">
                <a:effectLst/>
              </a:rPr>
              <a:t> deploys. Y </a:t>
            </a:r>
            <a:r>
              <a:rPr lang="en-US" dirty="0" err="1">
                <a:effectLst/>
              </a:rPr>
              <a:t>cuando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ahí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donde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llega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equipo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Hacen</a:t>
            </a:r>
            <a:r>
              <a:rPr lang="en-US" dirty="0">
                <a:effectLst/>
              </a:rPr>
              <a:t> un penetration test. </a:t>
            </a:r>
            <a:r>
              <a:rPr lang="en-US" dirty="0" err="1">
                <a:effectLst/>
              </a:rPr>
              <a:t>Encuentran</a:t>
            </a:r>
            <a:r>
              <a:rPr lang="en-US" dirty="0">
                <a:effectLst/>
              </a:rPr>
              <a:t> 47 </a:t>
            </a:r>
            <a:r>
              <a:rPr lang="en-US" dirty="0" err="1">
                <a:effectLst/>
              </a:rPr>
              <a:t>hallazgos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Generan</a:t>
            </a:r>
            <a:r>
              <a:rPr lang="en-US" dirty="0">
                <a:effectLst/>
              </a:rPr>
              <a:t> un PDF de 200 </a:t>
            </a:r>
            <a:r>
              <a:rPr lang="en-US" dirty="0" err="1">
                <a:effectLst/>
              </a:rPr>
              <a:t>páginas</a:t>
            </a:r>
            <a:r>
              <a:rPr lang="en-US" dirty="0">
                <a:effectLst/>
              </a:rPr>
              <a:t>."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Fingir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frustración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cómica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ese PDF lo </a:t>
            </a:r>
            <a:r>
              <a:rPr lang="en-US" dirty="0" err="1">
                <a:effectLst/>
              </a:rPr>
              <a:t>recibe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trabajando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otra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completamente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distinta</a:t>
            </a:r>
            <a:r>
              <a:rPr lang="en-US" dirty="0">
                <a:effectLst/>
              </a:rPr>
              <a:t>, lo </a:t>
            </a:r>
            <a:r>
              <a:rPr lang="en-US" dirty="0" err="1">
                <a:effectLst/>
              </a:rPr>
              <a:t>abre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las 200 </a:t>
            </a:r>
            <a:r>
              <a:rPr lang="en-US" dirty="0" err="1">
                <a:effectLst/>
              </a:rPr>
              <a:t>páginas</a:t>
            </a:r>
            <a:r>
              <a:rPr lang="en-US" dirty="0">
                <a:effectLst/>
              </a:rPr>
              <a:t>, y dice: 'Mae...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veo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próxima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</a:t>
            </a:r>
            <a:r>
              <a:rPr lang="en-US" dirty="0">
                <a:effectLst/>
              </a:rPr>
              <a:t>'. Y </a:t>
            </a:r>
            <a:r>
              <a:rPr lang="en-US" dirty="0" err="1">
                <a:effectLst/>
              </a:rPr>
              <a:t>esa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próxima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llega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7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427942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7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Contexto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Costa Rica: SUGEF y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regulaciones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[TONO: Serio,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conectando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con la audiencia local]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7:00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especialmente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crítico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nosotros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Costa Rica. En 2024,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CONASSIF </a:t>
            </a:r>
            <a:r>
              <a:rPr lang="en-US" dirty="0" err="1">
                <a:effectLst/>
              </a:rPr>
              <a:t>aprobó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reforma</a:t>
            </a:r>
            <a:r>
              <a:rPr lang="en-US" dirty="0">
                <a:effectLst/>
              </a:rPr>
              <a:t> integral al </a:t>
            </a:r>
            <a:r>
              <a:rPr lang="en-US" dirty="0" err="1">
                <a:effectLst/>
              </a:rPr>
              <a:t>Reglamento</a:t>
            </a:r>
            <a:r>
              <a:rPr lang="en-US" dirty="0">
                <a:effectLst/>
              </a:rPr>
              <a:t> General de </a:t>
            </a:r>
            <a:r>
              <a:rPr lang="en-US" dirty="0" err="1">
                <a:effectLst/>
              </a:rPr>
              <a:t>Gestión</a:t>
            </a:r>
            <a:r>
              <a:rPr lang="en-US" dirty="0">
                <a:effectLst/>
              </a:rPr>
              <a:t> de TI. La SUGEF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exige</a:t>
            </a:r>
            <a:r>
              <a:rPr lang="en-US" dirty="0">
                <a:effectLst/>
              </a:rPr>
              <a:t> que las </a:t>
            </a:r>
            <a:r>
              <a:rPr lang="en-US" dirty="0" err="1">
                <a:effectLst/>
              </a:rPr>
              <a:t>entidades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financieras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demuestren</a:t>
            </a:r>
            <a:r>
              <a:rPr lang="en-US" dirty="0">
                <a:effectLst/>
              </a:rPr>
              <a:t> — con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 — que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controles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cibernética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robustos</a:t>
            </a:r>
            <a:r>
              <a:rPr lang="en-US" dirty="0">
                <a:effectLst/>
              </a:rPr>
              <a:t>. No solo </a:t>
            </a:r>
            <a:r>
              <a:rPr lang="en-US" dirty="0" err="1">
                <a:effectLst/>
              </a:rPr>
              <a:t>políticas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escritas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Controles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verificables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febrero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este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año</a:t>
            </a:r>
            <a:r>
              <a:rPr lang="en-US" dirty="0">
                <a:effectLst/>
              </a:rPr>
              <a:t>, la </a:t>
            </a:r>
            <a:r>
              <a:rPr lang="en-US" dirty="0" err="1">
                <a:effectLst/>
              </a:rPr>
              <a:t>Asamblea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Legislativa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aprobó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primer debate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ley que </a:t>
            </a:r>
            <a:r>
              <a:rPr lang="en-US" dirty="0" err="1">
                <a:effectLst/>
              </a:rPr>
              <a:t>convierte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ciberseguridad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eje</a:t>
            </a:r>
            <a:r>
              <a:rPr lang="en-US" dirty="0">
                <a:effectLst/>
              </a:rPr>
              <a:t> de la </a:t>
            </a:r>
            <a:r>
              <a:rPr lang="en-US" dirty="0" err="1">
                <a:effectLst/>
              </a:rPr>
              <a:t>responsabilidad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significa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un banco no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demostrar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cumple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estándares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de SUGEF, se </a:t>
            </a:r>
            <a:r>
              <a:rPr lang="en-US" dirty="0" err="1">
                <a:effectLst/>
              </a:rPr>
              <a:t>convierte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responsable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directo</a:t>
            </a:r>
            <a:r>
              <a:rPr lang="en-US" dirty="0">
                <a:effectLst/>
              </a:rPr>
              <a:t> ante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usuario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afectado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Directo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mirando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tomadores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decisión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no es un </a:t>
            </a:r>
            <a:r>
              <a:rPr lang="en-US" dirty="0" err="1">
                <a:effectLst/>
              </a:rPr>
              <a:t>tema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técnico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solamente</a:t>
            </a:r>
            <a:r>
              <a:rPr lang="en-US" dirty="0">
                <a:effectLst/>
              </a:rPr>
              <a:t>. Es un </a:t>
            </a:r>
            <a:r>
              <a:rPr lang="en-US" dirty="0" err="1">
                <a:effectLst/>
              </a:rPr>
              <a:t>tema</a:t>
            </a:r>
            <a:r>
              <a:rPr lang="en-US" dirty="0">
                <a:effectLst/>
              </a:rPr>
              <a:t> legal. Es un </a:t>
            </a:r>
            <a:r>
              <a:rPr lang="en-US" dirty="0" err="1">
                <a:effectLst/>
              </a:rPr>
              <a:t>tema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responsabilidad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institucional</a:t>
            </a:r>
            <a:r>
              <a:rPr lang="en-US" dirty="0">
                <a:effectLst/>
              </a:rPr>
              <a:t>. Y les </a:t>
            </a:r>
            <a:r>
              <a:rPr lang="en-US" dirty="0" err="1">
                <a:effectLst/>
              </a:rPr>
              <a:t>voy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mostrar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resuelve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8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022754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[SLIDE: 8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Transición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: ”</a:t>
            </a:r>
          </a:p>
          <a:p>
            <a:endParaRPr lang="en-US" b="0" i="0" dirty="0">
              <a:solidFill>
                <a:srgbClr val="F0F6FC"/>
              </a:solidFill>
              <a:effectLst/>
              <a:latin typeface="Monaspace Neon"/>
            </a:endParaRPr>
          </a:p>
          <a:p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space Neon"/>
            </a:endParaRPr>
          </a:p>
          <a:p>
            <a:endParaRPr lang="en-US" b="0" i="0" dirty="0">
              <a:solidFill>
                <a:srgbClr val="F0F6FC"/>
              </a:solidFill>
              <a:effectLst/>
              <a:latin typeface="Monaspace Neon"/>
            </a:endParaRPr>
          </a:p>
          <a:p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¿Y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si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la spec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fuera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contrato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seguridad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?"]</a:t>
            </a:r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9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889225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SECCIÓN 3: LA TESIS — SEGURIDAD COMO CÓDIGO (9:00–12:00)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Energético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es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momento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"aha!"] [MOVER: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Caminar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centro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contacto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visual con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público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[SLIDE: 9 — "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Seguridad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Código: 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contrato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empieza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la Spec"]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9:00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"La </a:t>
            </a:r>
            <a:r>
              <a:rPr lang="en-US" dirty="0" err="1">
                <a:effectLst/>
              </a:rPr>
              <a:t>solución</a:t>
            </a:r>
            <a:r>
              <a:rPr lang="en-US" dirty="0">
                <a:effectLst/>
              </a:rPr>
              <a:t> no es </a:t>
            </a:r>
            <a:r>
              <a:rPr lang="en-US" dirty="0" err="1">
                <a:effectLst/>
              </a:rPr>
              <a:t>contratar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auditores</a:t>
            </a:r>
            <a:r>
              <a:rPr lang="en-US" dirty="0">
                <a:effectLst/>
              </a:rPr>
              <a:t>. No es </a:t>
            </a:r>
            <a:r>
              <a:rPr lang="en-US" dirty="0" err="1">
                <a:effectLst/>
              </a:rPr>
              <a:t>comprar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. La </a:t>
            </a:r>
            <a:r>
              <a:rPr lang="en-US" dirty="0" err="1">
                <a:effectLst/>
              </a:rPr>
              <a:t>solución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cambiar</a:t>
            </a:r>
            <a:r>
              <a:rPr lang="en-US" dirty="0">
                <a:effectLst/>
              </a:rPr>
              <a:t> CUÁNDO y CÓMO se </a:t>
            </a:r>
            <a:r>
              <a:rPr lang="en-US" dirty="0" err="1">
                <a:effectLst/>
              </a:rPr>
              <a:t>aplica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"¿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pasaría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que un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un pull request,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ejecutaran</a:t>
            </a:r>
            <a:r>
              <a:rPr lang="en-US" dirty="0">
                <a:effectLst/>
              </a:rPr>
              <a:t> 6 </a:t>
            </a:r>
            <a:r>
              <a:rPr lang="en-US" dirty="0" err="1">
                <a:effectLst/>
              </a:rPr>
              <a:t>tipos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validaciones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? ¿Sin que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tenga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pedirlo</a:t>
            </a:r>
            <a:r>
              <a:rPr lang="en-US" dirty="0">
                <a:effectLst/>
              </a:rPr>
              <a:t>? ¿Sin que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tenga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recordarlo</a:t>
            </a:r>
            <a:r>
              <a:rPr lang="en-US" dirty="0">
                <a:effectLst/>
              </a:rPr>
              <a:t>?"</a:t>
            </a:r>
          </a:p>
          <a:p>
            <a:r>
              <a:rPr lang="en-US" dirty="0">
                <a:effectLst/>
              </a:rPr>
              <a:t>"¿Y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pasaría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validaciones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nacieran</a:t>
            </a:r>
            <a:r>
              <a:rPr lang="en-US" dirty="0">
                <a:effectLst/>
              </a:rPr>
              <a:t> de un solo </a:t>
            </a:r>
            <a:r>
              <a:rPr lang="en-US" dirty="0" err="1">
                <a:effectLst/>
              </a:rPr>
              <a:t>lugar</a:t>
            </a:r>
            <a:r>
              <a:rPr lang="en-US" dirty="0">
                <a:effectLst/>
              </a:rPr>
              <a:t>: la </a:t>
            </a:r>
            <a:r>
              <a:rPr lang="en-US" dirty="0" err="1">
                <a:effectLst/>
              </a:rPr>
              <a:t>especificación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API?"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10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172776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10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Diagrama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simple: "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OpenAPI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Spec → Genera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"Este 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concepto</a:t>
            </a:r>
            <a:r>
              <a:rPr lang="en-US" dirty="0">
                <a:effectLst/>
              </a:rPr>
              <a:t> de 'Spec-Driven Security'. La idea es simple </a:t>
            </a:r>
            <a:r>
              <a:rPr lang="en-US" dirty="0" err="1">
                <a:effectLst/>
              </a:rPr>
              <a:t>pero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poderosa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— ese YAML o JSON que describe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API — no es solo </a:t>
            </a:r>
            <a:r>
              <a:rPr lang="en-US" dirty="0" err="1">
                <a:effectLst/>
              </a:rPr>
              <a:t>documentación</a:t>
            </a:r>
            <a:r>
              <a:rPr lang="en-US" dirty="0">
                <a:effectLst/>
              </a:rPr>
              <a:t>. 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contrato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Y de ese </a:t>
            </a:r>
            <a:r>
              <a:rPr lang="en-US" dirty="0" err="1">
                <a:effectLst/>
              </a:rPr>
              <a:t>contrato</a:t>
            </a:r>
            <a:r>
              <a:rPr lang="en-US" dirty="0">
                <a:effectLst/>
              </a:rPr>
              <a:t>, se genera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:"</a:t>
            </a:r>
          </a:p>
          <a:p>
            <a:r>
              <a:rPr lang="en-US" dirty="0">
                <a:effectLst/>
              </a:rPr>
              <a:t>"Linting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Tests de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Escaneo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dinámico</a:t>
            </a:r>
            <a:r>
              <a:rPr lang="en-US" dirty="0">
                <a:effectLst/>
              </a:rPr>
              <a:t> con OWASP ZAP. </a:t>
            </a:r>
            <a:r>
              <a:rPr lang="en-US" dirty="0" err="1">
                <a:effectLst/>
              </a:rPr>
              <a:t>Validación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dependencias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Detección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secretos</a:t>
            </a:r>
            <a:r>
              <a:rPr lang="en-US" dirty="0">
                <a:effectLst/>
              </a:rPr>
              <a:t>. Y un </a:t>
            </a:r>
            <a:r>
              <a:rPr lang="en-US" dirty="0" err="1">
                <a:effectLst/>
              </a:rPr>
              <a:t>reporte</a:t>
            </a:r>
            <a:r>
              <a:rPr lang="en-US" dirty="0">
                <a:effectLst/>
              </a:rPr>
              <a:t> de compliance. Todo </a:t>
            </a:r>
            <a:r>
              <a:rPr lang="en-US" dirty="0" err="1">
                <a:effectLst/>
              </a:rPr>
              <a:t>corriendo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GitHub Actions. Todo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 Todo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."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Con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pasión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'Security as Code'. No es un </a:t>
            </a:r>
            <a:r>
              <a:rPr lang="en-US" dirty="0" err="1">
                <a:effectLst/>
              </a:rPr>
              <a:t>concepto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teórico</a:t>
            </a:r>
            <a:r>
              <a:rPr lang="en-US" dirty="0">
                <a:effectLst/>
              </a:rPr>
              <a:t>. Es algo que les </a:t>
            </a:r>
            <a:r>
              <a:rPr lang="en-US" dirty="0" err="1">
                <a:effectLst/>
              </a:rPr>
              <a:t>voy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demostrar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vivo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minutos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11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758523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11 — "¿Por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Spec-Driven?"]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10:30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"¿Y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hacerlo</a:t>
            </a:r>
            <a:r>
              <a:rPr lang="en-US" dirty="0">
                <a:effectLst/>
              </a:rPr>
              <a:t> spec-driven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de solo meter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sueltas</a:t>
            </a:r>
            <a:r>
              <a:rPr lang="en-US" dirty="0">
                <a:effectLst/>
              </a:rPr>
              <a:t>? Tres </a:t>
            </a:r>
            <a:r>
              <a:rPr lang="en-US" dirty="0" err="1">
                <a:effectLst/>
              </a:rPr>
              <a:t>razones</a:t>
            </a:r>
            <a:r>
              <a:rPr lang="en-US" dirty="0">
                <a:effectLst/>
              </a:rPr>
              <a:t>:"</a:t>
            </a:r>
          </a:p>
          <a:p>
            <a:r>
              <a:rPr lang="en-US" dirty="0">
                <a:effectLst/>
              </a:rPr>
              <a:t>"Primera: la spec es la </a:t>
            </a:r>
            <a:r>
              <a:rPr lang="en-US" dirty="0" err="1">
                <a:effectLst/>
              </a:rPr>
              <a:t>fuente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verdad</a:t>
            </a:r>
            <a:r>
              <a:rPr lang="en-US" dirty="0">
                <a:effectLst/>
              </a:rPr>
              <a:t>. Si un endpoint no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spec, no </a:t>
            </a:r>
            <a:r>
              <a:rPr lang="en-US" dirty="0" err="1">
                <a:effectLst/>
              </a:rPr>
              <a:t>debería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existir</a:t>
            </a:r>
            <a:r>
              <a:rPr lang="en-US" dirty="0">
                <a:effectLst/>
              </a:rPr>
              <a:t>. Si no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lo </a:t>
            </a:r>
            <a:r>
              <a:rPr lang="en-US" dirty="0" err="1">
                <a:effectLst/>
              </a:rPr>
              <a:t>detecta</a:t>
            </a:r>
            <a:r>
              <a:rPr lang="en-US" dirty="0">
                <a:effectLst/>
              </a:rPr>
              <a:t> antes de que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escriba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línea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."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"Segunda: es auditable. La SUGEF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pide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controles</a:t>
            </a:r>
            <a:r>
              <a:rPr lang="en-US" dirty="0">
                <a:effectLst/>
              </a:rPr>
              <a:t>. Tu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de GitHub, con sus pull requests, sus checks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, y sus </a:t>
            </a:r>
            <a:r>
              <a:rPr lang="en-US" dirty="0" err="1">
                <a:effectLst/>
              </a:rPr>
              <a:t>reportes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generados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... ESA es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Verificable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versionada</a:t>
            </a:r>
            <a:r>
              <a:rPr lang="en-US" dirty="0">
                <a:effectLst/>
              </a:rPr>
              <a:t>, con </a:t>
            </a:r>
            <a:r>
              <a:rPr lang="en-US" dirty="0" err="1">
                <a:effectLst/>
              </a:rPr>
              <a:t>fecha</a:t>
            </a:r>
            <a:r>
              <a:rPr lang="en-US" dirty="0">
                <a:effectLst/>
              </a:rPr>
              <a:t> y hora.”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tercera</a:t>
            </a:r>
            <a:r>
              <a:rPr lang="en-US" dirty="0">
                <a:effectLst/>
              </a:rPr>
              <a:t>: es reproducible. No </a:t>
            </a:r>
            <a:r>
              <a:rPr lang="en-US" dirty="0" err="1">
                <a:effectLst/>
              </a:rPr>
              <a:t>depende</a:t>
            </a:r>
            <a:r>
              <a:rPr lang="en-US" dirty="0">
                <a:effectLst/>
              </a:rPr>
              <a:t> de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experto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esté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vacaciones</a:t>
            </a:r>
            <a:r>
              <a:rPr lang="en-US" dirty="0">
                <a:effectLst/>
              </a:rPr>
              <a:t>. El pipeline </a:t>
            </a:r>
            <a:r>
              <a:rPr lang="en-US" dirty="0" err="1">
                <a:effectLst/>
              </a:rPr>
              <a:t>corre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siempre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Igual</a:t>
            </a:r>
            <a:r>
              <a:rPr lang="en-US" dirty="0">
                <a:effectLst/>
              </a:rPr>
              <a:t>. Sin </a:t>
            </a:r>
            <a:r>
              <a:rPr lang="en-US" dirty="0" err="1">
                <a:effectLst/>
              </a:rPr>
              <a:t>excepciones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[RESPIRAR]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12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2327994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SECCIÓN 4: ARQUITECTURA — EL PIPELINE SPEC-DRIVEN (12:00–20:00)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12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Título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sección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"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Arquitectura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Pipeline"] [TONO: Técnico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pero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accesible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 No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abrumar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12:00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"Bien,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entendemos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. Les </a:t>
            </a:r>
            <a:r>
              <a:rPr lang="en-US" dirty="0" err="1">
                <a:effectLst/>
              </a:rPr>
              <a:t>voy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mostrar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arquitectura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completa</a:t>
            </a:r>
            <a:r>
              <a:rPr lang="en-US" dirty="0">
                <a:effectLst/>
              </a:rPr>
              <a:t> del pipeline que </a:t>
            </a:r>
            <a:r>
              <a:rPr lang="en-US" dirty="0" err="1">
                <a:effectLst/>
              </a:rPr>
              <a:t>construí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después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ver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funcionando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vivo."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13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4779796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13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Diagrama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arquitectura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pipeline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completo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[MOVER: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Señalar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la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pantalla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ir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explicando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izquierda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derecha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"Todo </a:t>
            </a:r>
            <a:r>
              <a:rPr lang="en-US" dirty="0" err="1">
                <a:effectLst/>
              </a:rPr>
              <a:t>empieza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con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openapi.yaml</a:t>
            </a:r>
            <a:r>
              <a:rPr lang="en-US" dirty="0">
                <a:effectLst/>
              </a:rPr>
              <a:t>. Esta es </a:t>
            </a:r>
            <a:r>
              <a:rPr lang="en-US" dirty="0" err="1">
                <a:effectLst/>
              </a:rPr>
              <a:t>nuestra</a:t>
            </a:r>
            <a:r>
              <a:rPr lang="en-US" dirty="0">
                <a:effectLst/>
              </a:rPr>
              <a:t> API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endpoints para </a:t>
            </a:r>
            <a:r>
              <a:rPr lang="en-US" dirty="0" err="1">
                <a:effectLst/>
              </a:rPr>
              <a:t>consultar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saldo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transferencias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ver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historial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transacciones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Cosas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cualquier</a:t>
            </a:r>
            <a:r>
              <a:rPr lang="en-US" dirty="0">
                <a:effectLst/>
              </a:rPr>
              <a:t> banco </a:t>
            </a:r>
            <a:r>
              <a:rPr lang="en-US" dirty="0" err="1">
                <a:effectLst/>
              </a:rPr>
              <a:t>maneja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Cuando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un pull request —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ejemplo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agrega</a:t>
            </a:r>
            <a:r>
              <a:rPr lang="en-US" dirty="0">
                <a:effectLst/>
              </a:rPr>
              <a:t> un nuevo endpoint o </a:t>
            </a:r>
            <a:r>
              <a:rPr lang="en-US" dirty="0" err="1">
                <a:effectLst/>
              </a:rPr>
              <a:t>modifica</a:t>
            </a:r>
            <a:r>
              <a:rPr lang="en-US" dirty="0">
                <a:effectLst/>
              </a:rPr>
              <a:t> uno </a:t>
            </a:r>
            <a:r>
              <a:rPr lang="en-US" dirty="0" err="1">
                <a:effectLst/>
              </a:rPr>
              <a:t>existente</a:t>
            </a:r>
            <a:r>
              <a:rPr lang="en-US" dirty="0">
                <a:effectLst/>
              </a:rPr>
              <a:t> — se </a:t>
            </a:r>
            <a:r>
              <a:rPr lang="en-US" dirty="0" err="1">
                <a:effectLst/>
              </a:rPr>
              <a:t>dispara</a:t>
            </a:r>
            <a:r>
              <a:rPr lang="en-US" dirty="0">
                <a:effectLst/>
              </a:rPr>
              <a:t> un workflow de GitHub Actions con 6 </a:t>
            </a:r>
            <a:r>
              <a:rPr lang="en-US" dirty="0" err="1">
                <a:effectLst/>
              </a:rPr>
              <a:t>etapas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14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6037547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14 — Etapa 1-2: Spectral + SAST]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13:30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"Etapa uno: Spectral. Es un linter </a:t>
            </a:r>
            <a:r>
              <a:rPr lang="en-US" dirty="0" err="1">
                <a:effectLst/>
              </a:rPr>
              <a:t>específico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Revisa</a:t>
            </a:r>
            <a:r>
              <a:rPr lang="en-US" dirty="0">
                <a:effectLst/>
              </a:rPr>
              <a:t> que la spec </a:t>
            </a:r>
            <a:r>
              <a:rPr lang="en-US" dirty="0" err="1">
                <a:effectLst/>
              </a:rPr>
              <a:t>cumpla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: ¿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endpoints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definida</a:t>
            </a:r>
            <a:r>
              <a:rPr lang="en-US" dirty="0">
                <a:effectLst/>
              </a:rPr>
              <a:t>? ¿Se </a:t>
            </a:r>
            <a:r>
              <a:rPr lang="en-US" dirty="0" err="1">
                <a:effectLst/>
              </a:rPr>
              <a:t>usa</a:t>
            </a:r>
            <a:r>
              <a:rPr lang="en-US" dirty="0">
                <a:effectLst/>
              </a:rPr>
              <a:t> HTTPS? ¿Los </a:t>
            </a:r>
            <a:r>
              <a:rPr lang="en-US" dirty="0" err="1">
                <a:effectLst/>
              </a:rPr>
              <a:t>esquemas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están</a:t>
            </a:r>
            <a:r>
              <a:rPr lang="en-US" dirty="0">
                <a:effectLst/>
              </a:rPr>
              <a:t> bien </a:t>
            </a:r>
            <a:r>
              <a:rPr lang="en-US" dirty="0" err="1">
                <a:effectLst/>
              </a:rPr>
              <a:t>definidos</a:t>
            </a:r>
            <a:r>
              <a:rPr lang="en-US" dirty="0">
                <a:effectLst/>
              </a:rPr>
              <a:t>? Si algo </a:t>
            </a:r>
            <a:r>
              <a:rPr lang="en-US" dirty="0" err="1">
                <a:effectLst/>
              </a:rPr>
              <a:t>falla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PR se </a:t>
            </a:r>
            <a:r>
              <a:rPr lang="en-US" dirty="0" err="1">
                <a:effectLst/>
              </a:rPr>
              <a:t>marca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rojo </a:t>
            </a:r>
            <a:r>
              <a:rPr lang="en-US" dirty="0" err="1">
                <a:effectLst/>
              </a:rPr>
              <a:t>inmediatamente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"Etapa dos: SAST — </a:t>
            </a:r>
            <a:r>
              <a:rPr lang="en-US" dirty="0" err="1">
                <a:effectLst/>
              </a:rPr>
              <a:t>análisis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estático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revisa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buscando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patrones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peligrosos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inyección</a:t>
            </a:r>
            <a:r>
              <a:rPr lang="en-US" dirty="0">
                <a:effectLst/>
              </a:rPr>
              <a:t> SQL, variables no </a:t>
            </a:r>
            <a:r>
              <a:rPr lang="en-US" dirty="0" err="1">
                <a:effectLst/>
              </a:rPr>
              <a:t>sanitizadas</a:t>
            </a:r>
            <a:r>
              <a:rPr lang="en-US" dirty="0">
                <a:effectLst/>
              </a:rPr>
              <a:t>, hardcoded secrets. </a:t>
            </a:r>
            <a:r>
              <a:rPr lang="en-US" dirty="0" err="1">
                <a:effectLst/>
              </a:rPr>
              <a:t>Usamos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, que es open source y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específicas</a:t>
            </a:r>
            <a:r>
              <a:rPr lang="en-US" dirty="0">
                <a:effectLst/>
              </a:rPr>
              <a:t> para Node.js."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15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6364581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15 — Etapa 3-4: Secret Scanning + Dependency Check]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15:00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"Etapa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detección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secretos</a:t>
            </a:r>
            <a:r>
              <a:rPr lang="en-US" dirty="0">
                <a:effectLst/>
              </a:rPr>
              <a:t>. ¿</a:t>
            </a:r>
            <a:r>
              <a:rPr lang="en-US" dirty="0" err="1">
                <a:effectLst/>
              </a:rPr>
              <a:t>Alguien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dejó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API key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? ¿Una </a:t>
            </a:r>
            <a:r>
              <a:rPr lang="en-US" dirty="0" err="1">
                <a:effectLst/>
              </a:rPr>
              <a:t>contraseña</a:t>
            </a:r>
            <a:r>
              <a:rPr lang="en-US" dirty="0">
                <a:effectLst/>
              </a:rPr>
              <a:t> de base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configuración</a:t>
            </a:r>
            <a:r>
              <a:rPr lang="en-US" dirty="0">
                <a:effectLst/>
              </a:rPr>
              <a:t>? </a:t>
            </a:r>
            <a:r>
              <a:rPr lang="en-US" dirty="0" err="1">
                <a:effectLst/>
              </a:rPr>
              <a:t>Gitleaks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detecta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. Y no, no les ha </a:t>
            </a:r>
            <a:r>
              <a:rPr lang="en-US" dirty="0" err="1">
                <a:effectLst/>
              </a:rPr>
              <a:t>pasado</a:t>
            </a:r>
            <a:r>
              <a:rPr lang="en-US" dirty="0">
                <a:effectLst/>
              </a:rPr>
              <a:t> solo a juniors...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sudado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frío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alguna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con un git push que no </a:t>
            </a:r>
            <a:r>
              <a:rPr lang="en-US" dirty="0" err="1">
                <a:effectLst/>
              </a:rPr>
              <a:t>debía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llevar</a:t>
            </a:r>
            <a:r>
              <a:rPr lang="en-US" dirty="0">
                <a:effectLst/>
              </a:rPr>
              <a:t> un .env."</a:t>
            </a:r>
          </a:p>
          <a:p>
            <a:endParaRPr lang="en-CR" dirty="0"/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Sonrisas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público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— es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una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experiencia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universal]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"Etapa cuatro: </a:t>
            </a:r>
            <a:r>
              <a:rPr lang="en-US" dirty="0" err="1">
                <a:effectLst/>
              </a:rPr>
              <a:t>análisis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dependencias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Revisamos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package.json</a:t>
            </a:r>
            <a:r>
              <a:rPr lang="en-US" dirty="0">
                <a:effectLst/>
              </a:rPr>
              <a:t> o </a:t>
            </a:r>
            <a:r>
              <a:rPr lang="en-US" dirty="0" err="1">
                <a:effectLst/>
              </a:rPr>
              <a:t>requirements.txt</a:t>
            </a:r>
            <a:r>
              <a:rPr lang="en-US" dirty="0">
                <a:effectLst/>
              </a:rPr>
              <a:t> contra bases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vulnerabilidades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conocidas</a:t>
            </a:r>
            <a:r>
              <a:rPr lang="en-US" dirty="0">
                <a:effectLst/>
              </a:rPr>
              <a:t>. Si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librería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usas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un CVE </a:t>
            </a:r>
            <a:r>
              <a:rPr lang="en-US" dirty="0" err="1">
                <a:effectLst/>
              </a:rPr>
              <a:t>crítico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lo dice antes de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merge."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16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2047424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16 — Etapa 5-6: OWASP ZAP + Compliance Report]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16:30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"Etapa </a:t>
            </a:r>
            <a:r>
              <a:rPr lang="en-US" dirty="0" err="1">
                <a:effectLst/>
              </a:rPr>
              <a:t>cinco</a:t>
            </a:r>
            <a:r>
              <a:rPr lang="en-US" dirty="0">
                <a:effectLst/>
              </a:rPr>
              <a:t> — y </a:t>
            </a:r>
            <a:r>
              <a:rPr lang="en-US" dirty="0" err="1">
                <a:effectLst/>
              </a:rPr>
              <a:t>esta</a:t>
            </a:r>
            <a:r>
              <a:rPr lang="en-US" dirty="0">
                <a:effectLst/>
              </a:rPr>
              <a:t> es mi </a:t>
            </a:r>
            <a:r>
              <a:rPr lang="en-US" dirty="0" err="1">
                <a:effectLst/>
              </a:rPr>
              <a:t>favorita</a:t>
            </a:r>
            <a:r>
              <a:rPr lang="en-US" dirty="0">
                <a:effectLst/>
              </a:rPr>
              <a:t>: OWASP ZAP.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prueba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dinámica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Levantamos</a:t>
            </a:r>
            <a:r>
              <a:rPr lang="en-US" dirty="0">
                <a:effectLst/>
              </a:rPr>
              <a:t> la API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contenedor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efímero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alimentamos</a:t>
            </a:r>
            <a:r>
              <a:rPr lang="en-US" dirty="0">
                <a:effectLst/>
              </a:rPr>
              <a:t> ZAP con la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spec, y ZAP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 genera </a:t>
            </a:r>
            <a:r>
              <a:rPr lang="en-US" dirty="0" err="1">
                <a:effectLst/>
              </a:rPr>
              <a:t>ataques</a:t>
            </a:r>
            <a:r>
              <a:rPr lang="en-US" dirty="0">
                <a:effectLst/>
              </a:rPr>
              <a:t> contra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endpoint </a:t>
            </a:r>
            <a:r>
              <a:rPr lang="en-US" dirty="0" err="1">
                <a:effectLst/>
              </a:rPr>
              <a:t>descrito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 </a:t>
            </a:r>
            <a:r>
              <a:rPr lang="en-US" dirty="0" err="1">
                <a:effectLst/>
              </a:rPr>
              <a:t>Inyección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rota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exposición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basado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OWASP API Top 10."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finalmente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etapa</a:t>
            </a:r>
            <a:r>
              <a:rPr lang="en-US" dirty="0">
                <a:effectLst/>
              </a:rPr>
              <a:t> seis: </a:t>
            </a:r>
            <a:r>
              <a:rPr lang="en-US" dirty="0" err="1">
                <a:effectLst/>
              </a:rPr>
              <a:t>generación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reporte</a:t>
            </a:r>
            <a:r>
              <a:rPr lang="en-US" dirty="0">
                <a:effectLst/>
              </a:rPr>
              <a:t> de compliance. Un </a:t>
            </a:r>
            <a:r>
              <a:rPr lang="en-US" dirty="0" err="1">
                <a:effectLst/>
              </a:rPr>
              <a:t>resumen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Markdown que se </a:t>
            </a:r>
            <a:r>
              <a:rPr lang="en-US" dirty="0" err="1">
                <a:effectLst/>
              </a:rPr>
              <a:t>adjunta</a:t>
            </a:r>
            <a:r>
              <a:rPr lang="en-US" dirty="0">
                <a:effectLst/>
              </a:rPr>
              <a:t> al pull request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comentario</a:t>
            </a:r>
            <a:r>
              <a:rPr lang="en-US" dirty="0">
                <a:effectLst/>
              </a:rPr>
              <a:t>. El reviewer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de un </a:t>
            </a:r>
            <a:r>
              <a:rPr lang="en-US" dirty="0" err="1">
                <a:effectLst/>
              </a:rPr>
              <a:t>vistazo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pasó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falló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debe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corregir</a:t>
            </a:r>
            <a:r>
              <a:rPr lang="en-US" dirty="0">
                <a:effectLst/>
              </a:rPr>
              <a:t>. Sin </a:t>
            </a:r>
            <a:r>
              <a:rPr lang="en-US" dirty="0" err="1">
                <a:effectLst/>
              </a:rPr>
              <a:t>abrir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otra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herramienta</a:t>
            </a:r>
            <a:r>
              <a:rPr lang="en-US" dirty="0">
                <a:effectLst/>
              </a:rPr>
              <a:t>. Sin </a:t>
            </a:r>
            <a:r>
              <a:rPr lang="en-US" dirty="0" err="1">
                <a:effectLst/>
              </a:rPr>
              <a:t>esperar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17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4959066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17 — Vista del PR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GitHub con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checks]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18:00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resultado</a:t>
            </a:r>
            <a:r>
              <a:rPr lang="en-US" dirty="0">
                <a:effectLst/>
              </a:rPr>
              <a:t> es algo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: un pull request </a:t>
            </a:r>
            <a:r>
              <a:rPr lang="en-US" dirty="0" err="1">
                <a:effectLst/>
              </a:rPr>
              <a:t>donde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etapa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aparece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un check de GitHub. Verde es que </a:t>
            </a:r>
            <a:r>
              <a:rPr lang="en-US" dirty="0" err="1">
                <a:effectLst/>
              </a:rPr>
              <a:t>pasó</a:t>
            </a:r>
            <a:r>
              <a:rPr lang="en-US" dirty="0">
                <a:effectLst/>
              </a:rPr>
              <a:t>, rojo es que hay algo que </a:t>
            </a:r>
            <a:r>
              <a:rPr lang="en-US" dirty="0" err="1">
                <a:effectLst/>
              </a:rPr>
              <a:t>corregir</a:t>
            </a:r>
            <a:r>
              <a:rPr lang="en-US" dirty="0">
                <a:effectLst/>
              </a:rPr>
              <a:t>. El reviewer no </a:t>
            </a:r>
            <a:r>
              <a:rPr lang="en-US" dirty="0" err="1">
                <a:effectLst/>
              </a:rPr>
              <a:t>necesita</a:t>
            </a:r>
            <a:r>
              <a:rPr lang="en-US" dirty="0">
                <a:effectLst/>
              </a:rPr>
              <a:t> ser </a:t>
            </a:r>
            <a:r>
              <a:rPr lang="en-US" dirty="0" err="1">
                <a:effectLst/>
              </a:rPr>
              <a:t>experto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Solo </a:t>
            </a:r>
            <a:r>
              <a:rPr lang="en-US" dirty="0" err="1">
                <a:effectLst/>
              </a:rPr>
              <a:t>necesita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</a:t>
            </a:r>
            <a:r>
              <a:rPr lang="en-US" dirty="0">
                <a:effectLst/>
              </a:rPr>
              <a:t>: ¿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? </a:t>
            </a:r>
            <a:r>
              <a:rPr lang="en-US" dirty="0" err="1">
                <a:effectLst/>
              </a:rPr>
              <a:t>Sí</a:t>
            </a:r>
            <a:r>
              <a:rPr lang="en-US" dirty="0">
                <a:effectLst/>
              </a:rPr>
              <a:t>.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mergear</a:t>
            </a:r>
            <a:r>
              <a:rPr lang="en-US" dirty="0">
                <a:effectLst/>
              </a:rPr>
              <a:t>. ¿Hay algo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rojo? Se </a:t>
            </a:r>
            <a:r>
              <a:rPr lang="en-US" dirty="0" err="1">
                <a:effectLst/>
              </a:rPr>
              <a:t>corrige</a:t>
            </a:r>
            <a:r>
              <a:rPr lang="en-US" dirty="0">
                <a:effectLst/>
              </a:rPr>
              <a:t> primero.”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Confiado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dejemos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hablar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teoría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Quiero</a:t>
            </a:r>
            <a:r>
              <a:rPr lang="en-US" dirty="0">
                <a:effectLst/>
              </a:rPr>
              <a:t> que lo </a:t>
            </a:r>
            <a:r>
              <a:rPr lang="en-US" dirty="0" err="1">
                <a:effectLst/>
              </a:rPr>
              <a:t>vean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funcionando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[MOVER: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Caminar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hacia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la laptop/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podio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18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5853483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SECCIÓN 5: DEMO EN VIVO (20:00–37:00)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18 — "DEMO: spec-driven-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devsecops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 con URL del repo]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Relajado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pero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enfocado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Narrar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cada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acción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20:00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"Vamos al repo. Este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se llama spec-driven-</a:t>
            </a:r>
            <a:r>
              <a:rPr lang="en-US" dirty="0" err="1">
                <a:effectLst/>
              </a:rPr>
              <a:t>devsecops</a:t>
            </a:r>
            <a:r>
              <a:rPr lang="en-US" dirty="0">
                <a:effectLst/>
              </a:rPr>
              <a:t> y es </a:t>
            </a:r>
            <a:r>
              <a:rPr lang="en-US" dirty="0" err="1">
                <a:effectLst/>
              </a:rPr>
              <a:t>público</a:t>
            </a:r>
            <a:r>
              <a:rPr lang="en-US" dirty="0">
                <a:effectLst/>
              </a:rPr>
              <a:t>. Al final de la </a:t>
            </a:r>
            <a:r>
              <a:rPr lang="en-US" dirty="0" err="1">
                <a:effectLst/>
              </a:rPr>
              <a:t>charla</a:t>
            </a:r>
            <a:r>
              <a:rPr lang="en-US" dirty="0">
                <a:effectLst/>
              </a:rPr>
              <a:t> les </a:t>
            </a:r>
            <a:r>
              <a:rPr lang="en-US" dirty="0" err="1">
                <a:effectLst/>
              </a:rPr>
              <a:t>comparto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link — de </a:t>
            </a:r>
            <a:r>
              <a:rPr lang="en-US" dirty="0" err="1">
                <a:effectLst/>
              </a:rPr>
              <a:t>hecho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slide."</a:t>
            </a:r>
          </a:p>
          <a:p>
            <a:pPr algn="l"/>
            <a:endParaRPr lang="en-US" b="1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1: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estructura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del repo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"Primero, 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estructura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tenemos</a:t>
            </a:r>
            <a:r>
              <a:rPr lang="en-US" dirty="0">
                <a:effectLst/>
              </a:rPr>
              <a:t>:"</a:t>
            </a: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openapi.yaml</a:t>
            </a:r>
            <a:r>
              <a:rPr lang="en-US" dirty="0">
                <a:effectLst/>
              </a:rPr>
              <a:t> — </a:t>
            </a:r>
            <a:r>
              <a:rPr lang="en-US" dirty="0" err="1">
                <a:effectLst/>
              </a:rPr>
              <a:t>nuestro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contrato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La </a:t>
            </a:r>
            <a:r>
              <a:rPr lang="en-US" dirty="0" err="1">
                <a:effectLst/>
              </a:rPr>
              <a:t>carpeta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src</a:t>
            </a:r>
            <a:r>
              <a:rPr lang="en-US" dirty="0">
                <a:effectLst/>
              </a:rPr>
              <a:t>/ con la API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Node.js. La </a:t>
            </a:r>
            <a:r>
              <a:rPr lang="en-US" dirty="0" err="1">
                <a:effectLst/>
              </a:rPr>
              <a:t>carpeta</a:t>
            </a:r>
            <a:r>
              <a:rPr lang="en-US" dirty="0">
                <a:effectLst/>
              </a:rPr>
              <a:t> .</a:t>
            </a:r>
            <a:r>
              <a:rPr lang="en-US" dirty="0" err="1">
                <a:effectLst/>
              </a:rPr>
              <a:t>github</a:t>
            </a:r>
            <a:r>
              <a:rPr lang="en-US" dirty="0">
                <a:effectLst/>
              </a:rPr>
              <a:t>/workflows/ con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de CI/CD y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Y algo que me </a:t>
            </a:r>
            <a:r>
              <a:rPr lang="en-US" dirty="0" err="1">
                <a:effectLst/>
              </a:rPr>
              <a:t>gusta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mucho</a:t>
            </a:r>
            <a:r>
              <a:rPr lang="en-US" dirty="0">
                <a:effectLst/>
              </a:rPr>
              <a:t>: un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SECURITY.md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hablar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propio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dar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ejemplo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2: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Explorar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la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OpenAPI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Spec (3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la spec. Esta es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API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simplificada</a:t>
            </a:r>
            <a:r>
              <a:rPr lang="en-US" dirty="0">
                <a:effectLst/>
              </a:rPr>
              <a:t>. Tiene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 endpoints:"</a:t>
            </a:r>
          </a:p>
          <a:p>
            <a:r>
              <a:rPr lang="en-US" dirty="0">
                <a:effectLst/>
              </a:rPr>
              <a:t>"GET /accounts/{id}/balance — consulta de </a:t>
            </a:r>
            <a:r>
              <a:rPr lang="en-US" dirty="0" err="1">
                <a:effectLst/>
              </a:rPr>
              <a:t>saldo</a:t>
            </a:r>
            <a:r>
              <a:rPr lang="en-US" dirty="0">
                <a:effectLst/>
              </a:rPr>
              <a:t>. POST /transfers —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transferencia</a:t>
            </a:r>
            <a:r>
              <a:rPr lang="en-US" dirty="0">
                <a:effectLst/>
              </a:rPr>
              <a:t>. GET /accounts/{id}/transactions — </a:t>
            </a:r>
            <a:r>
              <a:rPr lang="en-US" dirty="0" err="1">
                <a:effectLst/>
              </a:rPr>
              <a:t>historial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"Noten algo </a:t>
            </a:r>
            <a:r>
              <a:rPr lang="en-US" dirty="0" err="1">
                <a:effectLst/>
              </a:rPr>
              <a:t>importante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endpoint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esquema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Bearer token. Y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campo sensible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marcado</a:t>
            </a:r>
            <a:r>
              <a:rPr lang="en-US" dirty="0">
                <a:effectLst/>
              </a:rPr>
              <a:t>. El </a:t>
            </a:r>
            <a:r>
              <a:rPr lang="en-US" dirty="0" err="1">
                <a:effectLst/>
              </a:rPr>
              <a:t>número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cuenta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monto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saldo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formato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restricciones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"Este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 es la </a:t>
            </a:r>
            <a:r>
              <a:rPr lang="en-US" dirty="0" err="1">
                <a:effectLst/>
              </a:rPr>
              <a:t>fuente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verdad</a:t>
            </a:r>
            <a:r>
              <a:rPr lang="en-US" dirty="0">
                <a:effectLst/>
              </a:rPr>
              <a:t>. Si algo no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no </a:t>
            </a:r>
            <a:r>
              <a:rPr lang="en-US" dirty="0" err="1">
                <a:effectLst/>
              </a:rPr>
              <a:t>existe</a:t>
            </a:r>
            <a:r>
              <a:rPr lang="en-US" dirty="0">
                <a:effectLst/>
              </a:rPr>
              <a:t>. Si algo no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lo </a:t>
            </a:r>
            <a:r>
              <a:rPr lang="en-US" dirty="0" err="1">
                <a:effectLst/>
              </a:rPr>
              <a:t>va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atrapar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3: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Introducir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una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vulnerabilidad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Conspirativo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divertido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viene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divertido</a:t>
            </a:r>
            <a:r>
              <a:rPr lang="en-US" dirty="0">
                <a:effectLst/>
              </a:rPr>
              <a:t>. Voy a ser un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prisa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sido</a:t>
            </a:r>
            <a:r>
              <a:rPr lang="en-US" dirty="0">
                <a:effectLst/>
              </a:rPr>
              <a:t> ese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alguna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— y </a:t>
            </a:r>
            <a:r>
              <a:rPr lang="en-US" dirty="0" err="1">
                <a:effectLst/>
              </a:rPr>
              <a:t>voy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agregar</a:t>
            </a:r>
            <a:r>
              <a:rPr lang="en-US" dirty="0">
                <a:effectLst/>
              </a:rPr>
              <a:t> un endpoint nuevo. Uno que </a:t>
            </a:r>
            <a:r>
              <a:rPr lang="en-US" dirty="0" err="1">
                <a:effectLst/>
              </a:rPr>
              <a:t>expone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información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cliente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"Pero 'se me </a:t>
            </a:r>
            <a:r>
              <a:rPr lang="en-US" dirty="0" err="1">
                <a:effectLst/>
              </a:rPr>
              <a:t>va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olvidar</a:t>
            </a:r>
            <a:r>
              <a:rPr lang="en-US" dirty="0">
                <a:effectLst/>
              </a:rPr>
              <a:t>' </a:t>
            </a:r>
            <a:r>
              <a:rPr lang="en-US" dirty="0" err="1">
                <a:effectLst/>
              </a:rPr>
              <a:t>ponerle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 Un </a:t>
            </a:r>
            <a:r>
              <a:rPr lang="en-US" dirty="0" err="1">
                <a:effectLst/>
              </a:rPr>
              <a:t>descuido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inocente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Pasa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días."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cambio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vivo: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agregar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endpoint sin security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la spec y sin auth middleware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código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Listo</a:t>
            </a:r>
            <a:r>
              <a:rPr lang="en-US" dirty="0">
                <a:effectLst/>
              </a:rPr>
              <a:t>. Un endpoint GET /customers/{id}/profile sin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 Lo </a:t>
            </a:r>
            <a:r>
              <a:rPr lang="en-US" dirty="0" err="1">
                <a:effectLst/>
              </a:rPr>
              <a:t>commiteamos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hacemos</a:t>
            </a:r>
            <a:r>
              <a:rPr lang="en-US" dirty="0">
                <a:effectLst/>
              </a:rPr>
              <a:t> un pull request."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4: Ver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pipeline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acción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(5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Narrar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un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relato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suspenso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esperamos</a:t>
            </a:r>
            <a:r>
              <a:rPr lang="en-US" dirty="0">
                <a:effectLst/>
              </a:rPr>
              <a:t> a que GitHub </a:t>
            </a:r>
            <a:r>
              <a:rPr lang="en-US" dirty="0" err="1">
                <a:effectLst/>
              </a:rPr>
              <a:t>haga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suyo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workflows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ejecutándose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. Ya se </a:t>
            </a:r>
            <a:r>
              <a:rPr lang="en-US" dirty="0" err="1">
                <a:effectLst/>
              </a:rPr>
              <a:t>dispararon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6 checks. Spectral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analizando</a:t>
            </a:r>
            <a:r>
              <a:rPr lang="en-US" dirty="0">
                <a:effectLst/>
              </a:rPr>
              <a:t> la spec..."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Mientras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esperamos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donde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normalmente</a:t>
            </a:r>
            <a:r>
              <a:rPr lang="en-US" dirty="0">
                <a:effectLst/>
              </a:rPr>
              <a:t> uno se </a:t>
            </a:r>
            <a:r>
              <a:rPr lang="en-US" dirty="0" err="1">
                <a:effectLst/>
              </a:rPr>
              <a:t>toma</a:t>
            </a:r>
            <a:r>
              <a:rPr lang="en-US" dirty="0">
                <a:effectLst/>
              </a:rPr>
              <a:t> un café. Pero hoy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ver</a:t>
            </a:r>
            <a:r>
              <a:rPr lang="en-US" dirty="0">
                <a:effectLst/>
              </a:rPr>
              <a:t> algo </a:t>
            </a:r>
            <a:r>
              <a:rPr lang="en-US" dirty="0" err="1">
                <a:effectLst/>
              </a:rPr>
              <a:t>emocionante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"¡</a:t>
            </a:r>
            <a:r>
              <a:rPr lang="en-US" dirty="0" err="1">
                <a:effectLst/>
              </a:rPr>
              <a:t>Ahí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! Spectral </a:t>
            </a:r>
            <a:r>
              <a:rPr lang="en-US" dirty="0" err="1">
                <a:effectLst/>
              </a:rPr>
              <a:t>falló</a:t>
            </a:r>
            <a:r>
              <a:rPr lang="en-US" dirty="0">
                <a:effectLst/>
              </a:rPr>
              <a:t>. ¿Por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?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detectó</a:t>
            </a:r>
            <a:r>
              <a:rPr lang="en-US" dirty="0">
                <a:effectLst/>
              </a:rPr>
              <a:t> un endpoint que no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esquema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nuestro</a:t>
            </a:r>
            <a:r>
              <a:rPr lang="en-US" dirty="0">
                <a:effectLst/>
              </a:rPr>
              <a:t> endpoint nuevo."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también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falló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Encontró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handler del endpoint no </a:t>
            </a:r>
            <a:r>
              <a:rPr lang="en-US" dirty="0" err="1">
                <a:effectLst/>
              </a:rPr>
              <a:t>valida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"Y ZAP... ZAP </a:t>
            </a:r>
            <a:r>
              <a:rPr lang="en-US" dirty="0" err="1">
                <a:effectLst/>
              </a:rPr>
              <a:t>hizo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suyo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Atacó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endpoint sin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reportó</a:t>
            </a:r>
            <a:r>
              <a:rPr lang="en-US" dirty="0">
                <a:effectLst/>
              </a:rPr>
              <a:t>: 'Broken Authentication. Severity: High.'"</a:t>
            </a:r>
          </a:p>
          <a:p>
            <a:r>
              <a:rPr lang="en-US" dirty="0">
                <a:effectLst/>
              </a:rPr>
              <a:t>"El pull request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3 checks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rojo.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merge. El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inseguro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llegó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3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Satisfecho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"0.3 </a:t>
            </a:r>
            <a:r>
              <a:rPr lang="en-US" dirty="0" err="1">
                <a:effectLst/>
              </a:rPr>
              <a:t>segundos</a:t>
            </a:r>
            <a:r>
              <a:rPr lang="en-US" dirty="0">
                <a:effectLst/>
              </a:rPr>
              <a:t> versus 5.8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víctimas</a:t>
            </a:r>
            <a:r>
              <a:rPr lang="en-US" dirty="0">
                <a:effectLst/>
              </a:rPr>
              <a:t>. ¿</a:t>
            </a:r>
            <a:r>
              <a:rPr lang="en-US" dirty="0" err="1">
                <a:effectLst/>
              </a:rPr>
              <a:t>Recuerdan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historia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inicio</a:t>
            </a:r>
            <a:r>
              <a:rPr lang="en-US" dirty="0">
                <a:effectLst/>
              </a:rPr>
              <a:t>?"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5: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reporte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reporte</a:t>
            </a:r>
            <a:r>
              <a:rPr lang="en-US" dirty="0">
                <a:effectLst/>
              </a:rPr>
              <a:t> que se </a:t>
            </a:r>
            <a:r>
              <a:rPr lang="en-US" dirty="0" err="1">
                <a:effectLst/>
              </a:rPr>
              <a:t>generó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comentario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PR."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comentario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bot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PR]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limpio</a:t>
            </a:r>
            <a:r>
              <a:rPr lang="en-US" dirty="0">
                <a:effectLst/>
              </a:rPr>
              <a:t>: un </a:t>
            </a:r>
            <a:r>
              <a:rPr lang="en-US" dirty="0" err="1">
                <a:effectLst/>
              </a:rPr>
              <a:t>resumen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semáforo</a:t>
            </a:r>
            <a:r>
              <a:rPr lang="en-US" dirty="0">
                <a:effectLst/>
              </a:rPr>
              <a:t>.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Spectral,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SAST,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DAST. Y para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hallazgo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encontró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línea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corregirlo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lo que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reviewer.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lo que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un auditor de SUGEF."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6: Fix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rápido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(3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hagamos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fix. </a:t>
            </a:r>
            <a:r>
              <a:rPr lang="en-US" dirty="0" err="1">
                <a:effectLst/>
              </a:rPr>
              <a:t>Agrego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definición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spec... </a:t>
            </a:r>
            <a:r>
              <a:rPr lang="en-US" dirty="0" err="1">
                <a:effectLst/>
              </a:rPr>
              <a:t>agrego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middleware de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... commit, push."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cambios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vivo]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vemos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workflows se </a:t>
            </a:r>
            <a:r>
              <a:rPr lang="en-US" dirty="0" err="1">
                <a:effectLst/>
              </a:rPr>
              <a:t>vuelven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ejecutar</a:t>
            </a:r>
            <a:r>
              <a:rPr lang="en-US" dirty="0">
                <a:effectLst/>
              </a:rPr>
              <a:t>..."</a:t>
            </a:r>
          </a:p>
          <a:p>
            <a:r>
              <a:rPr lang="en-US" dirty="0">
                <a:effectLst/>
              </a:rPr>
              <a:t>"Spectral: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ZAP: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Dependencias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Secretos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Compliance: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"Pull request </a:t>
            </a:r>
            <a:r>
              <a:rPr lang="en-US" dirty="0" err="1">
                <a:effectLst/>
              </a:rPr>
              <a:t>listo</a:t>
            </a:r>
            <a:r>
              <a:rPr lang="en-US" dirty="0">
                <a:effectLst/>
              </a:rPr>
              <a:t> para merge. Todo </a:t>
            </a:r>
            <a:r>
              <a:rPr lang="en-US" dirty="0" err="1">
                <a:effectLst/>
              </a:rPr>
              <a:t>documentado</a:t>
            </a:r>
            <a:r>
              <a:rPr lang="en-US" dirty="0">
                <a:effectLst/>
              </a:rPr>
              <a:t>. Todo auditable."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Dirigido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tomadores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decisión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"Para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están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pensando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compliance: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uno de </a:t>
            </a:r>
            <a:r>
              <a:rPr lang="en-US" dirty="0" err="1">
                <a:effectLst/>
              </a:rPr>
              <a:t>estos</a:t>
            </a:r>
            <a:r>
              <a:rPr lang="en-US" dirty="0">
                <a:effectLst/>
              </a:rPr>
              <a:t> checks es un </a:t>
            </a:r>
            <a:r>
              <a:rPr lang="en-US" dirty="0" err="1">
                <a:effectLst/>
              </a:rPr>
              <a:t>registro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verificable</a:t>
            </a:r>
            <a:r>
              <a:rPr lang="en-US" dirty="0">
                <a:effectLst/>
              </a:rPr>
              <a:t>. Con timestamp. En un </a:t>
            </a:r>
            <a:r>
              <a:rPr lang="en-US" dirty="0" err="1">
                <a:effectLst/>
              </a:rPr>
              <a:t>sistema</a:t>
            </a:r>
            <a:r>
              <a:rPr lang="en-US" dirty="0">
                <a:effectLst/>
              </a:rPr>
              <a:t> que no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manipular </a:t>
            </a:r>
            <a:r>
              <a:rPr lang="en-US" dirty="0" err="1">
                <a:effectLst/>
              </a:rPr>
              <a:t>retroactivamente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lo que SUGEF </a:t>
            </a:r>
            <a:r>
              <a:rPr lang="en-US" dirty="0" err="1">
                <a:effectLst/>
              </a:rPr>
              <a:t>quiere</a:t>
            </a:r>
            <a:r>
              <a:rPr lang="en-US" dirty="0">
                <a:effectLst/>
              </a:rPr>
              <a:t> ver."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[MOVER: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Alejarse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la laptop,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volver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centro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escenario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PLAN B (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algo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falla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la demo):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Si GitHub Actions </a:t>
            </a:r>
            <a:r>
              <a:rPr lang="en-US" dirty="0" err="1">
                <a:effectLst/>
              </a:rPr>
              <a:t>tarda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mucho</a:t>
            </a:r>
            <a:r>
              <a:rPr lang="en-US" dirty="0">
                <a:effectLst/>
              </a:rPr>
              <a:t>: "La </a:t>
            </a:r>
            <a:r>
              <a:rPr lang="en-US" dirty="0" err="1">
                <a:effectLst/>
              </a:rPr>
              <a:t>nube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sus </a:t>
            </a:r>
            <a:r>
              <a:rPr lang="en-US" dirty="0" err="1">
                <a:effectLst/>
              </a:rPr>
              <a:t>tiempos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automatizamos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Mientras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esperamos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déjenme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mostrarles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deberíamos</a:t>
            </a:r>
            <a:r>
              <a:rPr lang="en-US" dirty="0">
                <a:effectLst/>
              </a:rPr>
              <a:t> ver..." [</a:t>
            </a:r>
            <a:r>
              <a:rPr lang="en-US" dirty="0" err="1">
                <a:effectLst/>
              </a:rPr>
              <a:t>Cambiar</a:t>
            </a:r>
            <a:r>
              <a:rPr lang="en-US" dirty="0">
                <a:effectLst/>
              </a:rPr>
              <a:t> a screenshots/GIFs pre-</a:t>
            </a:r>
            <a:r>
              <a:rPr lang="en-US" dirty="0" err="1">
                <a:effectLst/>
              </a:rPr>
              <a:t>grabados</a:t>
            </a:r>
            <a:r>
              <a:rPr lang="en-US" dirty="0">
                <a:effectLst/>
              </a:rPr>
              <a:t>]</a:t>
            </a:r>
          </a:p>
          <a:p>
            <a:r>
              <a:rPr lang="en-US" dirty="0">
                <a:effectLst/>
              </a:rPr>
              <a:t>Si algo no </a:t>
            </a:r>
            <a:r>
              <a:rPr lang="en-US" dirty="0" err="1">
                <a:effectLst/>
              </a:rPr>
              <a:t>funciona</a:t>
            </a:r>
            <a:r>
              <a:rPr lang="en-US" dirty="0">
                <a:effectLst/>
              </a:rPr>
              <a:t>: 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, Murphy's Law </a:t>
            </a:r>
            <a:r>
              <a:rPr lang="en-US" dirty="0" err="1">
                <a:effectLst/>
              </a:rPr>
              <a:t>existe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incluso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DevOps. Y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EXACTAMENTE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necesitamos</a:t>
            </a:r>
            <a:r>
              <a:rPr lang="en-US" dirty="0">
                <a:effectLst/>
              </a:rPr>
              <a:t> pipelines </a:t>
            </a:r>
            <a:r>
              <a:rPr lang="en-US" dirty="0" err="1">
                <a:effectLst/>
              </a:rPr>
              <a:t>automatizados</a:t>
            </a:r>
            <a:r>
              <a:rPr lang="en-US" dirty="0">
                <a:effectLst/>
              </a:rPr>
              <a:t>: para que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errores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detecten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y no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Déjenme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mostrarles</a:t>
            </a:r>
            <a:r>
              <a:rPr lang="en-US" dirty="0">
                <a:effectLst/>
              </a:rPr>
              <a:t> la corrida que </a:t>
            </a:r>
            <a:r>
              <a:rPr lang="en-US" dirty="0" err="1">
                <a:effectLst/>
              </a:rPr>
              <a:t>hice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anoche</a:t>
            </a:r>
            <a:r>
              <a:rPr lang="en-US" dirty="0">
                <a:effectLst/>
              </a:rPr>
              <a:t>..." [Video de backup]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19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5221033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3D2DF-CF1D-3522-50D6-46C791B48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89DCD6-DB3D-CDFF-3297-39850B948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0913F3-B982-C411-8BDB-C60F5A222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SECCIÓN 5: DEMO EN VIVO (20:00–37:00)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18 — "DEMO: spec-driven-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devsecops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 con URL del repo]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Relajado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pero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enfocado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Narrar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cada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acción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20:00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"Vamos al repo. Este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se llama spec-driven-</a:t>
            </a:r>
            <a:r>
              <a:rPr lang="en-US" dirty="0" err="1">
                <a:effectLst/>
              </a:rPr>
              <a:t>devsecops</a:t>
            </a:r>
            <a:r>
              <a:rPr lang="en-US" dirty="0">
                <a:effectLst/>
              </a:rPr>
              <a:t> y es </a:t>
            </a:r>
            <a:r>
              <a:rPr lang="en-US" dirty="0" err="1">
                <a:effectLst/>
              </a:rPr>
              <a:t>público</a:t>
            </a:r>
            <a:r>
              <a:rPr lang="en-US" dirty="0">
                <a:effectLst/>
              </a:rPr>
              <a:t>. Al final de la </a:t>
            </a:r>
            <a:r>
              <a:rPr lang="en-US" dirty="0" err="1">
                <a:effectLst/>
              </a:rPr>
              <a:t>charla</a:t>
            </a:r>
            <a:r>
              <a:rPr lang="en-US" dirty="0">
                <a:effectLst/>
              </a:rPr>
              <a:t> les </a:t>
            </a:r>
            <a:r>
              <a:rPr lang="en-US" dirty="0" err="1">
                <a:effectLst/>
              </a:rPr>
              <a:t>comparto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link — de </a:t>
            </a:r>
            <a:r>
              <a:rPr lang="en-US" dirty="0" err="1">
                <a:effectLst/>
              </a:rPr>
              <a:t>hecho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slide."</a:t>
            </a:r>
          </a:p>
          <a:p>
            <a:pPr algn="l"/>
            <a:endParaRPr lang="en-US" b="1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1: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estructura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del repo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"Primero, 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estructura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tenemos</a:t>
            </a:r>
            <a:r>
              <a:rPr lang="en-US" dirty="0">
                <a:effectLst/>
              </a:rPr>
              <a:t>:"</a:t>
            </a: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openapi.yaml</a:t>
            </a:r>
            <a:r>
              <a:rPr lang="en-US" dirty="0">
                <a:effectLst/>
              </a:rPr>
              <a:t> — </a:t>
            </a:r>
            <a:r>
              <a:rPr lang="en-US" dirty="0" err="1">
                <a:effectLst/>
              </a:rPr>
              <a:t>nuestro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contrato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La </a:t>
            </a:r>
            <a:r>
              <a:rPr lang="en-US" dirty="0" err="1">
                <a:effectLst/>
              </a:rPr>
              <a:t>carpeta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src</a:t>
            </a:r>
            <a:r>
              <a:rPr lang="en-US" dirty="0">
                <a:effectLst/>
              </a:rPr>
              <a:t>/ con la API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Node.js. La </a:t>
            </a:r>
            <a:r>
              <a:rPr lang="en-US" dirty="0" err="1">
                <a:effectLst/>
              </a:rPr>
              <a:t>carpeta</a:t>
            </a:r>
            <a:r>
              <a:rPr lang="en-US" dirty="0">
                <a:effectLst/>
              </a:rPr>
              <a:t> .</a:t>
            </a:r>
            <a:r>
              <a:rPr lang="en-US" dirty="0" err="1">
                <a:effectLst/>
              </a:rPr>
              <a:t>github</a:t>
            </a:r>
            <a:r>
              <a:rPr lang="en-US" dirty="0">
                <a:effectLst/>
              </a:rPr>
              <a:t>/workflows/ con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de CI/CD y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Y algo que me </a:t>
            </a:r>
            <a:r>
              <a:rPr lang="en-US" dirty="0" err="1">
                <a:effectLst/>
              </a:rPr>
              <a:t>gusta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mucho</a:t>
            </a:r>
            <a:r>
              <a:rPr lang="en-US" dirty="0">
                <a:effectLst/>
              </a:rPr>
              <a:t>: un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SECURITY.md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hablar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propio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dar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ejemplo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2: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Explorar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la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OpenAPI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Spec (3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la spec. Esta es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API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simplificada</a:t>
            </a:r>
            <a:r>
              <a:rPr lang="en-US" dirty="0">
                <a:effectLst/>
              </a:rPr>
              <a:t>. Tiene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 endpoints:"</a:t>
            </a:r>
          </a:p>
          <a:p>
            <a:r>
              <a:rPr lang="en-US" dirty="0">
                <a:effectLst/>
              </a:rPr>
              <a:t>"GET /accounts/{id}/balance — consulta de </a:t>
            </a:r>
            <a:r>
              <a:rPr lang="en-US" dirty="0" err="1">
                <a:effectLst/>
              </a:rPr>
              <a:t>saldo</a:t>
            </a:r>
            <a:r>
              <a:rPr lang="en-US" dirty="0">
                <a:effectLst/>
              </a:rPr>
              <a:t>. POST /transfers —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transferencia</a:t>
            </a:r>
            <a:r>
              <a:rPr lang="en-US" dirty="0">
                <a:effectLst/>
              </a:rPr>
              <a:t>. GET /accounts/{id}/transactions — </a:t>
            </a:r>
            <a:r>
              <a:rPr lang="en-US" dirty="0" err="1">
                <a:effectLst/>
              </a:rPr>
              <a:t>historial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"Noten algo </a:t>
            </a:r>
            <a:r>
              <a:rPr lang="en-US" dirty="0" err="1">
                <a:effectLst/>
              </a:rPr>
              <a:t>importante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endpoint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esquema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Bearer token. Y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campo sensible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marcado</a:t>
            </a:r>
            <a:r>
              <a:rPr lang="en-US" dirty="0">
                <a:effectLst/>
              </a:rPr>
              <a:t>. El </a:t>
            </a:r>
            <a:r>
              <a:rPr lang="en-US" dirty="0" err="1">
                <a:effectLst/>
              </a:rPr>
              <a:t>número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cuenta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monto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saldo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formato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restricciones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"Este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 es la </a:t>
            </a:r>
            <a:r>
              <a:rPr lang="en-US" dirty="0" err="1">
                <a:effectLst/>
              </a:rPr>
              <a:t>fuente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verdad</a:t>
            </a:r>
            <a:r>
              <a:rPr lang="en-US" dirty="0">
                <a:effectLst/>
              </a:rPr>
              <a:t>. Si algo no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no </a:t>
            </a:r>
            <a:r>
              <a:rPr lang="en-US" dirty="0" err="1">
                <a:effectLst/>
              </a:rPr>
              <a:t>existe</a:t>
            </a:r>
            <a:r>
              <a:rPr lang="en-US" dirty="0">
                <a:effectLst/>
              </a:rPr>
              <a:t>. Si algo no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lo </a:t>
            </a:r>
            <a:r>
              <a:rPr lang="en-US" dirty="0" err="1">
                <a:effectLst/>
              </a:rPr>
              <a:t>va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atrapar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3: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Introducir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una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vulnerabilidad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Conspirativo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divertido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viene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divertido</a:t>
            </a:r>
            <a:r>
              <a:rPr lang="en-US" dirty="0">
                <a:effectLst/>
              </a:rPr>
              <a:t>. Voy a ser un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prisa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sido</a:t>
            </a:r>
            <a:r>
              <a:rPr lang="en-US" dirty="0">
                <a:effectLst/>
              </a:rPr>
              <a:t> ese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alguna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— y </a:t>
            </a:r>
            <a:r>
              <a:rPr lang="en-US" dirty="0" err="1">
                <a:effectLst/>
              </a:rPr>
              <a:t>voy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agregar</a:t>
            </a:r>
            <a:r>
              <a:rPr lang="en-US" dirty="0">
                <a:effectLst/>
              </a:rPr>
              <a:t> un endpoint nuevo. Uno que </a:t>
            </a:r>
            <a:r>
              <a:rPr lang="en-US" dirty="0" err="1">
                <a:effectLst/>
              </a:rPr>
              <a:t>expone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información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cliente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"Pero 'se me </a:t>
            </a:r>
            <a:r>
              <a:rPr lang="en-US" dirty="0" err="1">
                <a:effectLst/>
              </a:rPr>
              <a:t>va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olvidar</a:t>
            </a:r>
            <a:r>
              <a:rPr lang="en-US" dirty="0">
                <a:effectLst/>
              </a:rPr>
              <a:t>' </a:t>
            </a:r>
            <a:r>
              <a:rPr lang="en-US" dirty="0" err="1">
                <a:effectLst/>
              </a:rPr>
              <a:t>ponerle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 Un </a:t>
            </a:r>
            <a:r>
              <a:rPr lang="en-US" dirty="0" err="1">
                <a:effectLst/>
              </a:rPr>
              <a:t>descuido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inocente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Pasa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días."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cambio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vivo: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agregar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endpoint sin security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la spec y sin auth middleware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código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Listo</a:t>
            </a:r>
            <a:r>
              <a:rPr lang="en-US" dirty="0">
                <a:effectLst/>
              </a:rPr>
              <a:t>. Un endpoint GET /customers/{id}/profile sin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 Lo </a:t>
            </a:r>
            <a:r>
              <a:rPr lang="en-US" dirty="0" err="1">
                <a:effectLst/>
              </a:rPr>
              <a:t>commiteamos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hacemos</a:t>
            </a:r>
            <a:r>
              <a:rPr lang="en-US" dirty="0">
                <a:effectLst/>
              </a:rPr>
              <a:t> un pull request."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4: Ver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pipeline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acción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(5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Narrar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un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relato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suspenso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esperamos</a:t>
            </a:r>
            <a:r>
              <a:rPr lang="en-US" dirty="0">
                <a:effectLst/>
              </a:rPr>
              <a:t> a que GitHub </a:t>
            </a:r>
            <a:r>
              <a:rPr lang="en-US" dirty="0" err="1">
                <a:effectLst/>
              </a:rPr>
              <a:t>haga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suyo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workflows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ejecutándose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. Ya se </a:t>
            </a:r>
            <a:r>
              <a:rPr lang="en-US" dirty="0" err="1">
                <a:effectLst/>
              </a:rPr>
              <a:t>dispararon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6 checks. Spectral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analizando</a:t>
            </a:r>
            <a:r>
              <a:rPr lang="en-US" dirty="0">
                <a:effectLst/>
              </a:rPr>
              <a:t> la spec..."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Mientras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esperamos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donde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normalmente</a:t>
            </a:r>
            <a:r>
              <a:rPr lang="en-US" dirty="0">
                <a:effectLst/>
              </a:rPr>
              <a:t> uno se </a:t>
            </a:r>
            <a:r>
              <a:rPr lang="en-US" dirty="0" err="1">
                <a:effectLst/>
              </a:rPr>
              <a:t>toma</a:t>
            </a:r>
            <a:r>
              <a:rPr lang="en-US" dirty="0">
                <a:effectLst/>
              </a:rPr>
              <a:t> un café. Pero hoy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ver</a:t>
            </a:r>
            <a:r>
              <a:rPr lang="en-US" dirty="0">
                <a:effectLst/>
              </a:rPr>
              <a:t> algo </a:t>
            </a:r>
            <a:r>
              <a:rPr lang="en-US" dirty="0" err="1">
                <a:effectLst/>
              </a:rPr>
              <a:t>emocionante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"¡</a:t>
            </a:r>
            <a:r>
              <a:rPr lang="en-US" dirty="0" err="1">
                <a:effectLst/>
              </a:rPr>
              <a:t>Ahí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! Spectral </a:t>
            </a:r>
            <a:r>
              <a:rPr lang="en-US" dirty="0" err="1">
                <a:effectLst/>
              </a:rPr>
              <a:t>falló</a:t>
            </a:r>
            <a:r>
              <a:rPr lang="en-US" dirty="0">
                <a:effectLst/>
              </a:rPr>
              <a:t>. ¿Por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?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detectó</a:t>
            </a:r>
            <a:r>
              <a:rPr lang="en-US" dirty="0">
                <a:effectLst/>
              </a:rPr>
              <a:t> un endpoint que no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esquema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nuestro</a:t>
            </a:r>
            <a:r>
              <a:rPr lang="en-US" dirty="0">
                <a:effectLst/>
              </a:rPr>
              <a:t> endpoint nuevo."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también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falló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Encontró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handler del endpoint no </a:t>
            </a:r>
            <a:r>
              <a:rPr lang="en-US" dirty="0" err="1">
                <a:effectLst/>
              </a:rPr>
              <a:t>valida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"Y ZAP... ZAP </a:t>
            </a:r>
            <a:r>
              <a:rPr lang="en-US" dirty="0" err="1">
                <a:effectLst/>
              </a:rPr>
              <a:t>hizo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suyo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Atacó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endpoint sin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reportó</a:t>
            </a:r>
            <a:r>
              <a:rPr lang="en-US" dirty="0">
                <a:effectLst/>
              </a:rPr>
              <a:t>: 'Broken Authentication. Severity: High.'"</a:t>
            </a:r>
          </a:p>
          <a:p>
            <a:r>
              <a:rPr lang="en-US" dirty="0">
                <a:effectLst/>
              </a:rPr>
              <a:t>"El pull request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3 checks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rojo.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merge. El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inseguro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llegó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3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Satisfecho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"0.3 </a:t>
            </a:r>
            <a:r>
              <a:rPr lang="en-US" dirty="0" err="1">
                <a:effectLst/>
              </a:rPr>
              <a:t>segundos</a:t>
            </a:r>
            <a:r>
              <a:rPr lang="en-US" dirty="0">
                <a:effectLst/>
              </a:rPr>
              <a:t> versus 5.8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víctimas</a:t>
            </a:r>
            <a:r>
              <a:rPr lang="en-US" dirty="0">
                <a:effectLst/>
              </a:rPr>
              <a:t>. ¿</a:t>
            </a:r>
            <a:r>
              <a:rPr lang="en-US" dirty="0" err="1">
                <a:effectLst/>
              </a:rPr>
              <a:t>Recuerdan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historia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inicio</a:t>
            </a:r>
            <a:r>
              <a:rPr lang="en-US" dirty="0">
                <a:effectLst/>
              </a:rPr>
              <a:t>?"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5: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reporte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reporte</a:t>
            </a:r>
            <a:r>
              <a:rPr lang="en-US" dirty="0">
                <a:effectLst/>
              </a:rPr>
              <a:t> que se </a:t>
            </a:r>
            <a:r>
              <a:rPr lang="en-US" dirty="0" err="1">
                <a:effectLst/>
              </a:rPr>
              <a:t>generó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comentario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PR."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comentario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bot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PR]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limpio</a:t>
            </a:r>
            <a:r>
              <a:rPr lang="en-US" dirty="0">
                <a:effectLst/>
              </a:rPr>
              <a:t>: un </a:t>
            </a:r>
            <a:r>
              <a:rPr lang="en-US" dirty="0" err="1">
                <a:effectLst/>
              </a:rPr>
              <a:t>resumen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semáforo</a:t>
            </a:r>
            <a:r>
              <a:rPr lang="en-US" dirty="0">
                <a:effectLst/>
              </a:rPr>
              <a:t>.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Spectral,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SAST,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DAST. Y para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hallazgo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encontró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línea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corregirlo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lo que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reviewer.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lo que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un auditor de SUGEF."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6: Fix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rápido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(3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hagamos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fix. </a:t>
            </a:r>
            <a:r>
              <a:rPr lang="en-US" dirty="0" err="1">
                <a:effectLst/>
              </a:rPr>
              <a:t>Agrego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definición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spec... </a:t>
            </a:r>
            <a:r>
              <a:rPr lang="en-US" dirty="0" err="1">
                <a:effectLst/>
              </a:rPr>
              <a:t>agrego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middleware de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... commit, push."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cambios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vivo]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vemos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workflows se </a:t>
            </a:r>
            <a:r>
              <a:rPr lang="en-US" dirty="0" err="1">
                <a:effectLst/>
              </a:rPr>
              <a:t>vuelven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ejecutar</a:t>
            </a:r>
            <a:r>
              <a:rPr lang="en-US" dirty="0">
                <a:effectLst/>
              </a:rPr>
              <a:t>..."</a:t>
            </a:r>
          </a:p>
          <a:p>
            <a:r>
              <a:rPr lang="en-US" dirty="0">
                <a:effectLst/>
              </a:rPr>
              <a:t>"Spectral: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ZAP: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Dependencias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Secretos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Compliance: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"Pull request </a:t>
            </a:r>
            <a:r>
              <a:rPr lang="en-US" dirty="0" err="1">
                <a:effectLst/>
              </a:rPr>
              <a:t>listo</a:t>
            </a:r>
            <a:r>
              <a:rPr lang="en-US" dirty="0">
                <a:effectLst/>
              </a:rPr>
              <a:t> para merge. Todo </a:t>
            </a:r>
            <a:r>
              <a:rPr lang="en-US" dirty="0" err="1">
                <a:effectLst/>
              </a:rPr>
              <a:t>documentado</a:t>
            </a:r>
            <a:r>
              <a:rPr lang="en-US" dirty="0">
                <a:effectLst/>
              </a:rPr>
              <a:t>. Todo auditable."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Dirigido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tomadores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decisión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"Para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están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pensando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compliance: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uno de </a:t>
            </a:r>
            <a:r>
              <a:rPr lang="en-US" dirty="0" err="1">
                <a:effectLst/>
              </a:rPr>
              <a:t>estos</a:t>
            </a:r>
            <a:r>
              <a:rPr lang="en-US" dirty="0">
                <a:effectLst/>
              </a:rPr>
              <a:t> checks es un </a:t>
            </a:r>
            <a:r>
              <a:rPr lang="en-US" dirty="0" err="1">
                <a:effectLst/>
              </a:rPr>
              <a:t>registro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verificable</a:t>
            </a:r>
            <a:r>
              <a:rPr lang="en-US" dirty="0">
                <a:effectLst/>
              </a:rPr>
              <a:t>. Con timestamp. En un </a:t>
            </a:r>
            <a:r>
              <a:rPr lang="en-US" dirty="0" err="1">
                <a:effectLst/>
              </a:rPr>
              <a:t>sistema</a:t>
            </a:r>
            <a:r>
              <a:rPr lang="en-US" dirty="0">
                <a:effectLst/>
              </a:rPr>
              <a:t> que no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manipular </a:t>
            </a:r>
            <a:r>
              <a:rPr lang="en-US" dirty="0" err="1">
                <a:effectLst/>
              </a:rPr>
              <a:t>retroactivamente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lo que SUGEF </a:t>
            </a:r>
            <a:r>
              <a:rPr lang="en-US" dirty="0" err="1">
                <a:effectLst/>
              </a:rPr>
              <a:t>quiere</a:t>
            </a:r>
            <a:r>
              <a:rPr lang="en-US" dirty="0">
                <a:effectLst/>
              </a:rPr>
              <a:t> ver."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[MOVER: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Alejarse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la laptop,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volver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centro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escenario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PLAN B (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algo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falla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la demo):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Si GitHub Actions </a:t>
            </a:r>
            <a:r>
              <a:rPr lang="en-US" dirty="0" err="1">
                <a:effectLst/>
              </a:rPr>
              <a:t>tarda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mucho</a:t>
            </a:r>
            <a:r>
              <a:rPr lang="en-US" dirty="0">
                <a:effectLst/>
              </a:rPr>
              <a:t>: "La </a:t>
            </a:r>
            <a:r>
              <a:rPr lang="en-US" dirty="0" err="1">
                <a:effectLst/>
              </a:rPr>
              <a:t>nube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sus </a:t>
            </a:r>
            <a:r>
              <a:rPr lang="en-US" dirty="0" err="1">
                <a:effectLst/>
              </a:rPr>
              <a:t>tiempos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automatizamos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Mientras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esperamos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déjenme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mostrarles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deberíamos</a:t>
            </a:r>
            <a:r>
              <a:rPr lang="en-US" dirty="0">
                <a:effectLst/>
              </a:rPr>
              <a:t> ver..." [</a:t>
            </a:r>
            <a:r>
              <a:rPr lang="en-US" dirty="0" err="1">
                <a:effectLst/>
              </a:rPr>
              <a:t>Cambiar</a:t>
            </a:r>
            <a:r>
              <a:rPr lang="en-US" dirty="0">
                <a:effectLst/>
              </a:rPr>
              <a:t> a screenshots/GIFs pre-</a:t>
            </a:r>
            <a:r>
              <a:rPr lang="en-US" dirty="0" err="1">
                <a:effectLst/>
              </a:rPr>
              <a:t>grabados</a:t>
            </a:r>
            <a:r>
              <a:rPr lang="en-US" dirty="0">
                <a:effectLst/>
              </a:rPr>
              <a:t>]</a:t>
            </a:r>
          </a:p>
          <a:p>
            <a:r>
              <a:rPr lang="en-US" dirty="0">
                <a:effectLst/>
              </a:rPr>
              <a:t>Si algo no </a:t>
            </a:r>
            <a:r>
              <a:rPr lang="en-US" dirty="0" err="1">
                <a:effectLst/>
              </a:rPr>
              <a:t>funciona</a:t>
            </a:r>
            <a:r>
              <a:rPr lang="en-US" dirty="0">
                <a:effectLst/>
              </a:rPr>
              <a:t>: 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, Murphy's Law </a:t>
            </a:r>
            <a:r>
              <a:rPr lang="en-US" dirty="0" err="1">
                <a:effectLst/>
              </a:rPr>
              <a:t>existe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incluso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DevOps. Y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EXACTAMENTE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necesitamos</a:t>
            </a:r>
            <a:r>
              <a:rPr lang="en-US" dirty="0">
                <a:effectLst/>
              </a:rPr>
              <a:t> pipelines </a:t>
            </a:r>
            <a:r>
              <a:rPr lang="en-US" dirty="0" err="1">
                <a:effectLst/>
              </a:rPr>
              <a:t>automatizados</a:t>
            </a:r>
            <a:r>
              <a:rPr lang="en-US" dirty="0">
                <a:effectLst/>
              </a:rPr>
              <a:t>: para que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errores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detecten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y no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Déjenme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mostrarles</a:t>
            </a:r>
            <a:r>
              <a:rPr lang="en-US" dirty="0">
                <a:effectLst/>
              </a:rPr>
              <a:t> la corrida que </a:t>
            </a:r>
            <a:r>
              <a:rPr lang="en-US" dirty="0" err="1">
                <a:effectLst/>
              </a:rPr>
              <a:t>hice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anoche</a:t>
            </a:r>
            <a:r>
              <a:rPr lang="en-US" dirty="0">
                <a:effectLst/>
              </a:rPr>
              <a:t>..." [Video de backup]</a:t>
            </a:r>
          </a:p>
          <a:p>
            <a:endParaRPr lang="en-C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5891C-13C0-2493-F8B0-427469AC0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20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531168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2FA44-A2B9-2CE7-3A7C-B9A072F08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0349A-3D8A-C271-6EFB-5F1B07968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32CF3A-E140-79D7-F819-0DF03BE73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SECCIÓN 5: DEMO EN VIVO (20:00–37:00)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18 — "DEMO: spec-driven-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devsecops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 con URL del repo]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Relajado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pero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enfocado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Narrar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cada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acción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20:00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"Vamos al repo. Este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se llama spec-driven-</a:t>
            </a:r>
            <a:r>
              <a:rPr lang="en-US" dirty="0" err="1">
                <a:effectLst/>
              </a:rPr>
              <a:t>devsecops</a:t>
            </a:r>
            <a:r>
              <a:rPr lang="en-US" dirty="0">
                <a:effectLst/>
              </a:rPr>
              <a:t> y es </a:t>
            </a:r>
            <a:r>
              <a:rPr lang="en-US" dirty="0" err="1">
                <a:effectLst/>
              </a:rPr>
              <a:t>público</a:t>
            </a:r>
            <a:r>
              <a:rPr lang="en-US" dirty="0">
                <a:effectLst/>
              </a:rPr>
              <a:t>. Al final de la </a:t>
            </a:r>
            <a:r>
              <a:rPr lang="en-US" dirty="0" err="1">
                <a:effectLst/>
              </a:rPr>
              <a:t>charla</a:t>
            </a:r>
            <a:r>
              <a:rPr lang="en-US" dirty="0">
                <a:effectLst/>
              </a:rPr>
              <a:t> les </a:t>
            </a:r>
            <a:r>
              <a:rPr lang="en-US" dirty="0" err="1">
                <a:effectLst/>
              </a:rPr>
              <a:t>comparto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link — de </a:t>
            </a:r>
            <a:r>
              <a:rPr lang="en-US" dirty="0" err="1">
                <a:effectLst/>
              </a:rPr>
              <a:t>hecho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slide."</a:t>
            </a:r>
          </a:p>
          <a:p>
            <a:pPr algn="l"/>
            <a:endParaRPr lang="en-US" b="1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1: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estructura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del repo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"Primero, 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estructura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tenemos</a:t>
            </a:r>
            <a:r>
              <a:rPr lang="en-US" dirty="0">
                <a:effectLst/>
              </a:rPr>
              <a:t>:"</a:t>
            </a: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openapi.yaml</a:t>
            </a:r>
            <a:r>
              <a:rPr lang="en-US" dirty="0">
                <a:effectLst/>
              </a:rPr>
              <a:t> — </a:t>
            </a:r>
            <a:r>
              <a:rPr lang="en-US" dirty="0" err="1">
                <a:effectLst/>
              </a:rPr>
              <a:t>nuestro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contrato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La </a:t>
            </a:r>
            <a:r>
              <a:rPr lang="en-US" dirty="0" err="1">
                <a:effectLst/>
              </a:rPr>
              <a:t>carpeta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src</a:t>
            </a:r>
            <a:r>
              <a:rPr lang="en-US" dirty="0">
                <a:effectLst/>
              </a:rPr>
              <a:t>/ con la API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Node.js. La </a:t>
            </a:r>
            <a:r>
              <a:rPr lang="en-US" dirty="0" err="1">
                <a:effectLst/>
              </a:rPr>
              <a:t>carpeta</a:t>
            </a:r>
            <a:r>
              <a:rPr lang="en-US" dirty="0">
                <a:effectLst/>
              </a:rPr>
              <a:t> .</a:t>
            </a:r>
            <a:r>
              <a:rPr lang="en-US" dirty="0" err="1">
                <a:effectLst/>
              </a:rPr>
              <a:t>github</a:t>
            </a:r>
            <a:r>
              <a:rPr lang="en-US" dirty="0">
                <a:effectLst/>
              </a:rPr>
              <a:t>/workflows/ con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de CI/CD y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Y algo que me </a:t>
            </a:r>
            <a:r>
              <a:rPr lang="en-US" dirty="0" err="1">
                <a:effectLst/>
              </a:rPr>
              <a:t>gusta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mucho</a:t>
            </a:r>
            <a:r>
              <a:rPr lang="en-US" dirty="0">
                <a:effectLst/>
              </a:rPr>
              <a:t>: un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SECURITY.md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hablar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propio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dar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ejemplo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2: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Explorar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la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OpenAPI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Spec (3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la spec. Esta es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API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simplificada</a:t>
            </a:r>
            <a:r>
              <a:rPr lang="en-US" dirty="0">
                <a:effectLst/>
              </a:rPr>
              <a:t>. Tiene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 endpoints:"</a:t>
            </a:r>
          </a:p>
          <a:p>
            <a:r>
              <a:rPr lang="en-US" dirty="0">
                <a:effectLst/>
              </a:rPr>
              <a:t>"GET /accounts/{id}/balance — consulta de </a:t>
            </a:r>
            <a:r>
              <a:rPr lang="en-US" dirty="0" err="1">
                <a:effectLst/>
              </a:rPr>
              <a:t>saldo</a:t>
            </a:r>
            <a:r>
              <a:rPr lang="en-US" dirty="0">
                <a:effectLst/>
              </a:rPr>
              <a:t>. POST /transfers —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transferencia</a:t>
            </a:r>
            <a:r>
              <a:rPr lang="en-US" dirty="0">
                <a:effectLst/>
              </a:rPr>
              <a:t>. GET /accounts/{id}/transactions — </a:t>
            </a:r>
            <a:r>
              <a:rPr lang="en-US" dirty="0" err="1">
                <a:effectLst/>
              </a:rPr>
              <a:t>historial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"Noten algo </a:t>
            </a:r>
            <a:r>
              <a:rPr lang="en-US" dirty="0" err="1">
                <a:effectLst/>
              </a:rPr>
              <a:t>importante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endpoint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esquema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Bearer token. Y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campo sensible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marcado</a:t>
            </a:r>
            <a:r>
              <a:rPr lang="en-US" dirty="0">
                <a:effectLst/>
              </a:rPr>
              <a:t>. El </a:t>
            </a:r>
            <a:r>
              <a:rPr lang="en-US" dirty="0" err="1">
                <a:effectLst/>
              </a:rPr>
              <a:t>número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cuenta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monto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saldo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formato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restricciones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"Este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 es la </a:t>
            </a:r>
            <a:r>
              <a:rPr lang="en-US" dirty="0" err="1">
                <a:effectLst/>
              </a:rPr>
              <a:t>fuente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verdad</a:t>
            </a:r>
            <a:r>
              <a:rPr lang="en-US" dirty="0">
                <a:effectLst/>
              </a:rPr>
              <a:t>. Si algo no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no </a:t>
            </a:r>
            <a:r>
              <a:rPr lang="en-US" dirty="0" err="1">
                <a:effectLst/>
              </a:rPr>
              <a:t>existe</a:t>
            </a:r>
            <a:r>
              <a:rPr lang="en-US" dirty="0">
                <a:effectLst/>
              </a:rPr>
              <a:t>. Si algo no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lo </a:t>
            </a:r>
            <a:r>
              <a:rPr lang="en-US" dirty="0" err="1">
                <a:effectLst/>
              </a:rPr>
              <a:t>va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atrapar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3: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Introducir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una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vulnerabilidad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Conspirativo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divertido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viene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divertido</a:t>
            </a:r>
            <a:r>
              <a:rPr lang="en-US" dirty="0">
                <a:effectLst/>
              </a:rPr>
              <a:t>. Voy a ser un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prisa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sido</a:t>
            </a:r>
            <a:r>
              <a:rPr lang="en-US" dirty="0">
                <a:effectLst/>
              </a:rPr>
              <a:t> ese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alguna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— y </a:t>
            </a:r>
            <a:r>
              <a:rPr lang="en-US" dirty="0" err="1">
                <a:effectLst/>
              </a:rPr>
              <a:t>voy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agregar</a:t>
            </a:r>
            <a:r>
              <a:rPr lang="en-US" dirty="0">
                <a:effectLst/>
              </a:rPr>
              <a:t> un endpoint nuevo. Uno que </a:t>
            </a:r>
            <a:r>
              <a:rPr lang="en-US" dirty="0" err="1">
                <a:effectLst/>
              </a:rPr>
              <a:t>expone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información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cliente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"Pero 'se me </a:t>
            </a:r>
            <a:r>
              <a:rPr lang="en-US" dirty="0" err="1">
                <a:effectLst/>
              </a:rPr>
              <a:t>va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olvidar</a:t>
            </a:r>
            <a:r>
              <a:rPr lang="en-US" dirty="0">
                <a:effectLst/>
              </a:rPr>
              <a:t>' </a:t>
            </a:r>
            <a:r>
              <a:rPr lang="en-US" dirty="0" err="1">
                <a:effectLst/>
              </a:rPr>
              <a:t>ponerle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 Un </a:t>
            </a:r>
            <a:r>
              <a:rPr lang="en-US" dirty="0" err="1">
                <a:effectLst/>
              </a:rPr>
              <a:t>descuido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inocente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Pasa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días."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cambio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vivo: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agregar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endpoint sin security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la spec y sin auth middleware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código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Listo</a:t>
            </a:r>
            <a:r>
              <a:rPr lang="en-US" dirty="0">
                <a:effectLst/>
              </a:rPr>
              <a:t>. Un endpoint GET /customers/{id}/profile sin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 Lo </a:t>
            </a:r>
            <a:r>
              <a:rPr lang="en-US" dirty="0" err="1">
                <a:effectLst/>
              </a:rPr>
              <a:t>commiteamos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hacemos</a:t>
            </a:r>
            <a:r>
              <a:rPr lang="en-US" dirty="0">
                <a:effectLst/>
              </a:rPr>
              <a:t> un pull request."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4: Ver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pipeline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acción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(5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Narrar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un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relato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suspenso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esperamos</a:t>
            </a:r>
            <a:r>
              <a:rPr lang="en-US" dirty="0">
                <a:effectLst/>
              </a:rPr>
              <a:t> a que GitHub </a:t>
            </a:r>
            <a:r>
              <a:rPr lang="en-US" dirty="0" err="1">
                <a:effectLst/>
              </a:rPr>
              <a:t>haga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suyo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workflows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ejecutándose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. Ya se </a:t>
            </a:r>
            <a:r>
              <a:rPr lang="en-US" dirty="0" err="1">
                <a:effectLst/>
              </a:rPr>
              <a:t>dispararon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6 checks. Spectral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analizando</a:t>
            </a:r>
            <a:r>
              <a:rPr lang="en-US" dirty="0">
                <a:effectLst/>
              </a:rPr>
              <a:t> la spec..."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Mientras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esperamos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donde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normalmente</a:t>
            </a:r>
            <a:r>
              <a:rPr lang="en-US" dirty="0">
                <a:effectLst/>
              </a:rPr>
              <a:t> uno se </a:t>
            </a:r>
            <a:r>
              <a:rPr lang="en-US" dirty="0" err="1">
                <a:effectLst/>
              </a:rPr>
              <a:t>toma</a:t>
            </a:r>
            <a:r>
              <a:rPr lang="en-US" dirty="0">
                <a:effectLst/>
              </a:rPr>
              <a:t> un café. Pero hoy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ver</a:t>
            </a:r>
            <a:r>
              <a:rPr lang="en-US" dirty="0">
                <a:effectLst/>
              </a:rPr>
              <a:t> algo </a:t>
            </a:r>
            <a:r>
              <a:rPr lang="en-US" dirty="0" err="1">
                <a:effectLst/>
              </a:rPr>
              <a:t>emocionante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"¡</a:t>
            </a:r>
            <a:r>
              <a:rPr lang="en-US" dirty="0" err="1">
                <a:effectLst/>
              </a:rPr>
              <a:t>Ahí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! Spectral </a:t>
            </a:r>
            <a:r>
              <a:rPr lang="en-US" dirty="0" err="1">
                <a:effectLst/>
              </a:rPr>
              <a:t>falló</a:t>
            </a:r>
            <a:r>
              <a:rPr lang="en-US" dirty="0">
                <a:effectLst/>
              </a:rPr>
              <a:t>. ¿Por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?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detectó</a:t>
            </a:r>
            <a:r>
              <a:rPr lang="en-US" dirty="0">
                <a:effectLst/>
              </a:rPr>
              <a:t> un endpoint que no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esquema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nuestro</a:t>
            </a:r>
            <a:r>
              <a:rPr lang="en-US" dirty="0">
                <a:effectLst/>
              </a:rPr>
              <a:t> endpoint nuevo."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también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falló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Encontró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handler del endpoint no </a:t>
            </a:r>
            <a:r>
              <a:rPr lang="en-US" dirty="0" err="1">
                <a:effectLst/>
              </a:rPr>
              <a:t>valida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"Y ZAP... ZAP </a:t>
            </a:r>
            <a:r>
              <a:rPr lang="en-US" dirty="0" err="1">
                <a:effectLst/>
              </a:rPr>
              <a:t>hizo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suyo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Atacó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endpoint sin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reportó</a:t>
            </a:r>
            <a:r>
              <a:rPr lang="en-US" dirty="0">
                <a:effectLst/>
              </a:rPr>
              <a:t>: 'Broken Authentication. Severity: High.'"</a:t>
            </a:r>
          </a:p>
          <a:p>
            <a:r>
              <a:rPr lang="en-US" dirty="0">
                <a:effectLst/>
              </a:rPr>
              <a:t>"El pull request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3 checks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rojo.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merge. El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inseguro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llegó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3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Satisfecho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"0.3 </a:t>
            </a:r>
            <a:r>
              <a:rPr lang="en-US" dirty="0" err="1">
                <a:effectLst/>
              </a:rPr>
              <a:t>segundos</a:t>
            </a:r>
            <a:r>
              <a:rPr lang="en-US" dirty="0">
                <a:effectLst/>
              </a:rPr>
              <a:t> versus 5.8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víctimas</a:t>
            </a:r>
            <a:r>
              <a:rPr lang="en-US" dirty="0">
                <a:effectLst/>
              </a:rPr>
              <a:t>. ¿</a:t>
            </a:r>
            <a:r>
              <a:rPr lang="en-US" dirty="0" err="1">
                <a:effectLst/>
              </a:rPr>
              <a:t>Recuerdan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historia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inicio</a:t>
            </a:r>
            <a:r>
              <a:rPr lang="en-US" dirty="0">
                <a:effectLst/>
              </a:rPr>
              <a:t>?"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5: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reporte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reporte</a:t>
            </a:r>
            <a:r>
              <a:rPr lang="en-US" dirty="0">
                <a:effectLst/>
              </a:rPr>
              <a:t> que se </a:t>
            </a:r>
            <a:r>
              <a:rPr lang="en-US" dirty="0" err="1">
                <a:effectLst/>
              </a:rPr>
              <a:t>generó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comentario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PR."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comentario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bot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PR]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limpio</a:t>
            </a:r>
            <a:r>
              <a:rPr lang="en-US" dirty="0">
                <a:effectLst/>
              </a:rPr>
              <a:t>: un </a:t>
            </a:r>
            <a:r>
              <a:rPr lang="en-US" dirty="0" err="1">
                <a:effectLst/>
              </a:rPr>
              <a:t>resumen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semáforo</a:t>
            </a:r>
            <a:r>
              <a:rPr lang="en-US" dirty="0">
                <a:effectLst/>
              </a:rPr>
              <a:t>.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Spectral,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SAST,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DAST. Y para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hallazgo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encontró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línea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corregirlo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lo que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reviewer.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lo que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un auditor de SUGEF."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6: Fix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rápido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(3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hagamos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fix. </a:t>
            </a:r>
            <a:r>
              <a:rPr lang="en-US" dirty="0" err="1">
                <a:effectLst/>
              </a:rPr>
              <a:t>Agrego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definición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spec... </a:t>
            </a:r>
            <a:r>
              <a:rPr lang="en-US" dirty="0" err="1">
                <a:effectLst/>
              </a:rPr>
              <a:t>agrego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middleware de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... commit, push."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cambios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vivo]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vemos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workflows se </a:t>
            </a:r>
            <a:r>
              <a:rPr lang="en-US" dirty="0" err="1">
                <a:effectLst/>
              </a:rPr>
              <a:t>vuelven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ejecutar</a:t>
            </a:r>
            <a:r>
              <a:rPr lang="en-US" dirty="0">
                <a:effectLst/>
              </a:rPr>
              <a:t>..."</a:t>
            </a:r>
          </a:p>
          <a:p>
            <a:r>
              <a:rPr lang="en-US" dirty="0">
                <a:effectLst/>
              </a:rPr>
              <a:t>"Spectral: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ZAP: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Dependencias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Secretos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Compliance: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"Pull request </a:t>
            </a:r>
            <a:r>
              <a:rPr lang="en-US" dirty="0" err="1">
                <a:effectLst/>
              </a:rPr>
              <a:t>listo</a:t>
            </a:r>
            <a:r>
              <a:rPr lang="en-US" dirty="0">
                <a:effectLst/>
              </a:rPr>
              <a:t> para merge. Todo </a:t>
            </a:r>
            <a:r>
              <a:rPr lang="en-US" dirty="0" err="1">
                <a:effectLst/>
              </a:rPr>
              <a:t>documentado</a:t>
            </a:r>
            <a:r>
              <a:rPr lang="en-US" dirty="0">
                <a:effectLst/>
              </a:rPr>
              <a:t>. Todo auditable."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Dirigido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tomadores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decisión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"Para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están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pensando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compliance: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uno de </a:t>
            </a:r>
            <a:r>
              <a:rPr lang="en-US" dirty="0" err="1">
                <a:effectLst/>
              </a:rPr>
              <a:t>estos</a:t>
            </a:r>
            <a:r>
              <a:rPr lang="en-US" dirty="0">
                <a:effectLst/>
              </a:rPr>
              <a:t> checks es un </a:t>
            </a:r>
            <a:r>
              <a:rPr lang="en-US" dirty="0" err="1">
                <a:effectLst/>
              </a:rPr>
              <a:t>registro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verificable</a:t>
            </a:r>
            <a:r>
              <a:rPr lang="en-US" dirty="0">
                <a:effectLst/>
              </a:rPr>
              <a:t>. Con timestamp. En un </a:t>
            </a:r>
            <a:r>
              <a:rPr lang="en-US" dirty="0" err="1">
                <a:effectLst/>
              </a:rPr>
              <a:t>sistema</a:t>
            </a:r>
            <a:r>
              <a:rPr lang="en-US" dirty="0">
                <a:effectLst/>
              </a:rPr>
              <a:t> que no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manipular </a:t>
            </a:r>
            <a:r>
              <a:rPr lang="en-US" dirty="0" err="1">
                <a:effectLst/>
              </a:rPr>
              <a:t>retroactivamente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lo que SUGEF </a:t>
            </a:r>
            <a:r>
              <a:rPr lang="en-US" dirty="0" err="1">
                <a:effectLst/>
              </a:rPr>
              <a:t>quiere</a:t>
            </a:r>
            <a:r>
              <a:rPr lang="en-US" dirty="0">
                <a:effectLst/>
              </a:rPr>
              <a:t> ver."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[MOVER: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Alejarse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la laptop,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volver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centro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escenario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PLAN B (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algo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falla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la demo):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Si GitHub Actions </a:t>
            </a:r>
            <a:r>
              <a:rPr lang="en-US" dirty="0" err="1">
                <a:effectLst/>
              </a:rPr>
              <a:t>tarda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mucho</a:t>
            </a:r>
            <a:r>
              <a:rPr lang="en-US" dirty="0">
                <a:effectLst/>
              </a:rPr>
              <a:t>: "La </a:t>
            </a:r>
            <a:r>
              <a:rPr lang="en-US" dirty="0" err="1">
                <a:effectLst/>
              </a:rPr>
              <a:t>nube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sus </a:t>
            </a:r>
            <a:r>
              <a:rPr lang="en-US" dirty="0" err="1">
                <a:effectLst/>
              </a:rPr>
              <a:t>tiempos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automatizamos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Mientras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esperamos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déjenme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mostrarles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deberíamos</a:t>
            </a:r>
            <a:r>
              <a:rPr lang="en-US" dirty="0">
                <a:effectLst/>
              </a:rPr>
              <a:t> ver..." [</a:t>
            </a:r>
            <a:r>
              <a:rPr lang="en-US" dirty="0" err="1">
                <a:effectLst/>
              </a:rPr>
              <a:t>Cambiar</a:t>
            </a:r>
            <a:r>
              <a:rPr lang="en-US" dirty="0">
                <a:effectLst/>
              </a:rPr>
              <a:t> a screenshots/GIFs pre-</a:t>
            </a:r>
            <a:r>
              <a:rPr lang="en-US" dirty="0" err="1">
                <a:effectLst/>
              </a:rPr>
              <a:t>grabados</a:t>
            </a:r>
            <a:r>
              <a:rPr lang="en-US" dirty="0">
                <a:effectLst/>
              </a:rPr>
              <a:t>]</a:t>
            </a:r>
          </a:p>
          <a:p>
            <a:r>
              <a:rPr lang="en-US" dirty="0">
                <a:effectLst/>
              </a:rPr>
              <a:t>Si algo no </a:t>
            </a:r>
            <a:r>
              <a:rPr lang="en-US" dirty="0" err="1">
                <a:effectLst/>
              </a:rPr>
              <a:t>funciona</a:t>
            </a:r>
            <a:r>
              <a:rPr lang="en-US" dirty="0">
                <a:effectLst/>
              </a:rPr>
              <a:t>: 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, Murphy's Law </a:t>
            </a:r>
            <a:r>
              <a:rPr lang="en-US" dirty="0" err="1">
                <a:effectLst/>
              </a:rPr>
              <a:t>existe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incluso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DevOps. Y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EXACTAMENTE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necesitamos</a:t>
            </a:r>
            <a:r>
              <a:rPr lang="en-US" dirty="0">
                <a:effectLst/>
              </a:rPr>
              <a:t> pipelines </a:t>
            </a:r>
            <a:r>
              <a:rPr lang="en-US" dirty="0" err="1">
                <a:effectLst/>
              </a:rPr>
              <a:t>automatizados</a:t>
            </a:r>
            <a:r>
              <a:rPr lang="en-US" dirty="0">
                <a:effectLst/>
              </a:rPr>
              <a:t>: para que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errores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detecten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y no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Déjenme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mostrarles</a:t>
            </a:r>
            <a:r>
              <a:rPr lang="en-US" dirty="0">
                <a:effectLst/>
              </a:rPr>
              <a:t> la corrida que </a:t>
            </a:r>
            <a:r>
              <a:rPr lang="en-US" dirty="0" err="1">
                <a:effectLst/>
              </a:rPr>
              <a:t>hice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anoche</a:t>
            </a:r>
            <a:r>
              <a:rPr lang="en-US" dirty="0">
                <a:effectLst/>
              </a:rPr>
              <a:t>..." [Video de backup]</a:t>
            </a:r>
          </a:p>
          <a:p>
            <a:endParaRPr lang="en-C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A5290-30DB-1984-827C-E1F372EE3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23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8931117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 NUEVA A — "GitHub Advanced Security"]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Conectando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con la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realidad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enterprise]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39:00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lo que les </a:t>
            </a:r>
            <a:r>
              <a:rPr lang="en-US" dirty="0" err="1">
                <a:effectLst/>
              </a:rPr>
              <a:t>mostré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open source. Spectral,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, ZAP, </a:t>
            </a:r>
            <a:r>
              <a:rPr lang="en-US" dirty="0" err="1">
                <a:effectLst/>
              </a:rPr>
              <a:t>Gitleaks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Gratuitas</a:t>
            </a:r>
            <a:r>
              <a:rPr lang="en-US" dirty="0">
                <a:effectLst/>
              </a:rPr>
              <a:t>. Pero </a:t>
            </a:r>
            <a:r>
              <a:rPr lang="en-US" dirty="0" err="1">
                <a:effectLst/>
              </a:rPr>
              <a:t>quiero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hablarles</a:t>
            </a:r>
            <a:r>
              <a:rPr lang="en-US" dirty="0">
                <a:effectLst/>
              </a:rPr>
              <a:t> de algo que GitHub </a:t>
            </a:r>
            <a:r>
              <a:rPr lang="en-US" dirty="0" err="1">
                <a:effectLst/>
              </a:rPr>
              <a:t>ofrece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nativamente</a:t>
            </a:r>
            <a:r>
              <a:rPr lang="en-US" dirty="0">
                <a:effectLst/>
              </a:rPr>
              <a:t> y que para un banco es un game changer: GitHub Advanced Security."</a:t>
            </a:r>
          </a:p>
          <a:p>
            <a:r>
              <a:rPr lang="en-US" dirty="0">
                <a:effectLst/>
              </a:rPr>
              <a:t>"GHAS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componentes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complementan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nuestro</a:t>
            </a:r>
            <a:r>
              <a:rPr lang="en-US" dirty="0">
                <a:effectLst/>
              </a:rPr>
              <a:t> pipeline:"</a:t>
            </a:r>
          </a:p>
          <a:p>
            <a:r>
              <a:rPr lang="en-US" dirty="0">
                <a:effectLst/>
              </a:rPr>
              <a:t>"Primero: </a:t>
            </a:r>
            <a:r>
              <a:rPr lang="en-US" dirty="0" err="1">
                <a:effectLst/>
              </a:rPr>
              <a:t>CodeQL</a:t>
            </a:r>
            <a:r>
              <a:rPr lang="en-US" dirty="0">
                <a:effectLst/>
              </a:rPr>
              <a:t>. 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motor de </a:t>
            </a:r>
            <a:r>
              <a:rPr lang="en-US" dirty="0" err="1">
                <a:effectLst/>
              </a:rPr>
              <a:t>análisis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estático</a:t>
            </a:r>
            <a:r>
              <a:rPr lang="en-US" dirty="0">
                <a:effectLst/>
              </a:rPr>
              <a:t> de GitHub. A </a:t>
            </a:r>
            <a:r>
              <a:rPr lang="en-US" dirty="0" err="1">
                <a:effectLst/>
              </a:rPr>
              <a:t>diferencia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CodeQL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entiende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flujo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aplicación</a:t>
            </a:r>
            <a:r>
              <a:rPr lang="en-US" dirty="0">
                <a:effectLst/>
              </a:rPr>
              <a:t>. No solo </a:t>
            </a:r>
            <a:r>
              <a:rPr lang="en-US" dirty="0" err="1">
                <a:effectLst/>
              </a:rPr>
              <a:t>busca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patrones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entiende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viajan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desde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input del </a:t>
            </a:r>
            <a:r>
              <a:rPr lang="en-US" dirty="0" err="1">
                <a:effectLst/>
              </a:rPr>
              <a:t>usuario</a:t>
            </a:r>
            <a:r>
              <a:rPr lang="en-US" dirty="0">
                <a:effectLst/>
              </a:rPr>
              <a:t> hasta la base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. Y lo </a:t>
            </a:r>
            <a:r>
              <a:rPr lang="en-US" dirty="0" err="1">
                <a:effectLst/>
              </a:rPr>
              <a:t>mejor</a:t>
            </a:r>
            <a:r>
              <a:rPr lang="en-US" dirty="0">
                <a:effectLst/>
              </a:rPr>
              <a:t>: se </a:t>
            </a:r>
            <a:r>
              <a:rPr lang="en-US" dirty="0" err="1">
                <a:effectLst/>
              </a:rPr>
              <a:t>configura</a:t>
            </a:r>
            <a:r>
              <a:rPr lang="en-US" dirty="0">
                <a:effectLst/>
              </a:rPr>
              <a:t> con dos clicks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pestaña</a:t>
            </a:r>
            <a:r>
              <a:rPr lang="en-US" dirty="0">
                <a:effectLst/>
              </a:rPr>
              <a:t> Security del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, o con un workflow de GitHub Actions."</a:t>
            </a:r>
          </a:p>
          <a:p>
            <a:r>
              <a:rPr lang="en-US" dirty="0">
                <a:effectLst/>
              </a:rPr>
              <a:t>"Segundo: Secret Scanning con Push Protection.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clave para banca. En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detectar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secreto</a:t>
            </a:r>
            <a:r>
              <a:rPr lang="en-US" dirty="0">
                <a:effectLst/>
              </a:rPr>
              <a:t> DESPUÉS del push —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Gitleaks</a:t>
            </a:r>
            <a:r>
              <a:rPr lang="en-US" dirty="0">
                <a:effectLst/>
              </a:rPr>
              <a:t> — GitHub lo </a:t>
            </a:r>
            <a:r>
              <a:rPr lang="en-US" dirty="0" err="1">
                <a:effectLst/>
              </a:rPr>
              <a:t>bloquea</a:t>
            </a:r>
            <a:r>
              <a:rPr lang="en-US" dirty="0">
                <a:effectLst/>
              </a:rPr>
              <a:t> ANTES de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push </a:t>
            </a:r>
            <a:r>
              <a:rPr lang="en-US" dirty="0" err="1">
                <a:effectLst/>
              </a:rPr>
              <a:t>llegue</a:t>
            </a:r>
            <a:r>
              <a:rPr lang="en-US" dirty="0">
                <a:effectLst/>
              </a:rPr>
              <a:t> al repo. El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intenta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push con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API key y GitHub le dice: 'No.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no sale de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máquina</a:t>
            </a:r>
            <a:r>
              <a:rPr lang="en-US" dirty="0">
                <a:effectLst/>
              </a:rPr>
              <a:t>.' </a:t>
            </a:r>
            <a:r>
              <a:rPr lang="en-US" dirty="0" err="1">
                <a:effectLst/>
              </a:rPr>
              <a:t>Prevención</a:t>
            </a:r>
            <a:r>
              <a:rPr lang="en-US" dirty="0">
                <a:effectLst/>
              </a:rPr>
              <a:t>, no solo </a:t>
            </a:r>
            <a:r>
              <a:rPr lang="en-US" dirty="0" err="1">
                <a:effectLst/>
              </a:rPr>
              <a:t>detección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tercero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Dependabot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Monitorea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dependencias</a:t>
            </a:r>
            <a:r>
              <a:rPr lang="en-US" dirty="0">
                <a:effectLst/>
              </a:rPr>
              <a:t> 24/7 y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crea</a:t>
            </a:r>
            <a:r>
              <a:rPr lang="en-US" dirty="0">
                <a:effectLst/>
              </a:rPr>
              <a:t> pull requests </a:t>
            </a:r>
            <a:r>
              <a:rPr lang="en-US" dirty="0" err="1">
                <a:effectLst/>
              </a:rPr>
              <a:t>cuando</a:t>
            </a:r>
            <a:r>
              <a:rPr lang="en-US" dirty="0">
                <a:effectLst/>
              </a:rPr>
              <a:t> hay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vulnerabilidad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publicada</a:t>
            </a:r>
            <a:r>
              <a:rPr lang="en-US" dirty="0">
                <a:effectLst/>
              </a:rPr>
              <a:t>. No </a:t>
            </a:r>
            <a:r>
              <a:rPr lang="en-US" dirty="0" err="1">
                <a:effectLst/>
              </a:rPr>
              <a:t>tenés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esperar</a:t>
            </a:r>
            <a:r>
              <a:rPr lang="en-US" dirty="0">
                <a:effectLst/>
              </a:rPr>
              <a:t> a que </a:t>
            </a:r>
            <a:r>
              <a:rPr lang="en-US" dirty="0" err="1">
                <a:effectLst/>
              </a:rPr>
              <a:t>alguien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corra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npm</a:t>
            </a:r>
            <a:r>
              <a:rPr lang="en-US" dirty="0">
                <a:effectLst/>
              </a:rPr>
              <a:t> audit."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25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6674799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 NUEVA B — "Open Source + GHAS: 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modelo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híbrido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41:00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"Lo que </a:t>
            </a:r>
            <a:r>
              <a:rPr lang="en-US" dirty="0" err="1">
                <a:effectLst/>
              </a:rPr>
              <a:t>yo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recomiendo</a:t>
            </a:r>
            <a:r>
              <a:rPr lang="en-US" dirty="0">
                <a:effectLst/>
              </a:rPr>
              <a:t> para un banco es un </a:t>
            </a:r>
            <a:r>
              <a:rPr lang="en-US" dirty="0" err="1">
                <a:effectLst/>
              </a:rPr>
              <a:t>modelo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híbrido</a:t>
            </a:r>
            <a:r>
              <a:rPr lang="en-US" dirty="0">
                <a:effectLst/>
              </a:rPr>
              <a:t>. Las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open source del pipeline que </a:t>
            </a:r>
            <a:r>
              <a:rPr lang="en-US" dirty="0" err="1">
                <a:effectLst/>
              </a:rPr>
              <a:t>vimos</a:t>
            </a:r>
            <a:r>
              <a:rPr lang="en-US" dirty="0">
                <a:effectLst/>
              </a:rPr>
              <a:t> — Spectral, ZAP — </a:t>
            </a:r>
            <a:r>
              <a:rPr lang="en-US" dirty="0" err="1">
                <a:effectLst/>
              </a:rPr>
              <a:t>siguen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siendo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core para 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spec-driven. Pero GHAS </a:t>
            </a:r>
            <a:r>
              <a:rPr lang="en-US" dirty="0" err="1">
                <a:effectLst/>
              </a:rPr>
              <a:t>agrega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capa</a:t>
            </a:r>
            <a:r>
              <a:rPr lang="en-US" dirty="0">
                <a:effectLst/>
              </a:rPr>
              <a:t> enterprise: </a:t>
            </a:r>
            <a:r>
              <a:rPr lang="en-US" dirty="0" err="1">
                <a:effectLst/>
              </a:rPr>
              <a:t>CodeQL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análisis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profundo, Push Protection para </a:t>
            </a:r>
            <a:r>
              <a:rPr lang="en-US" dirty="0" err="1">
                <a:effectLst/>
              </a:rPr>
              <a:t>prevención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secretos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Dependabot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monitoreo</a:t>
            </a:r>
            <a:r>
              <a:rPr lang="en-US" dirty="0">
                <a:effectLst/>
              </a:rPr>
              <a:t> continuo."</a:t>
            </a:r>
          </a:p>
          <a:p>
            <a:r>
              <a:rPr lang="en-US" dirty="0">
                <a:effectLst/>
              </a:rPr>
              <a:t>"¿</a:t>
            </a:r>
            <a:r>
              <a:rPr lang="en-US" dirty="0" err="1">
                <a:effectLst/>
              </a:rPr>
              <a:t>Cuánto</a:t>
            </a:r>
            <a:r>
              <a:rPr lang="en-US" dirty="0">
                <a:effectLst/>
              </a:rPr>
              <a:t> cuesta? GitHub Secret Protection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$19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committer al </a:t>
            </a:r>
            <a:r>
              <a:rPr lang="en-US" dirty="0" err="1">
                <a:effectLst/>
              </a:rPr>
              <a:t>mes</a:t>
            </a:r>
            <a:r>
              <a:rPr lang="en-US" dirty="0">
                <a:effectLst/>
              </a:rPr>
              <a:t>, y Code Security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$30. Para repos </a:t>
            </a:r>
            <a:r>
              <a:rPr lang="en-US" dirty="0" err="1">
                <a:effectLst/>
              </a:rPr>
              <a:t>públicos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muchas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estas</a:t>
            </a:r>
            <a:r>
              <a:rPr lang="en-US" dirty="0">
                <a:effectLst/>
              </a:rPr>
              <a:t> features son </a:t>
            </a:r>
            <a:r>
              <a:rPr lang="en-US" dirty="0" err="1">
                <a:effectLst/>
              </a:rPr>
              <a:t>gratuitas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26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8424499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 NUEVA C — "De 1 repo a 200: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estandarización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Dirigido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directamente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tomadores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decisión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42:00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"Pero la </a:t>
            </a:r>
            <a:r>
              <a:rPr lang="en-US" dirty="0" err="1">
                <a:effectLst/>
              </a:rPr>
              <a:t>pregunta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gerencia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siempre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es: '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funciona</a:t>
            </a:r>
            <a:r>
              <a:rPr lang="en-US" dirty="0">
                <a:effectLst/>
              </a:rPr>
              <a:t> para un repo. ¿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aplico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200 </a:t>
            </a:r>
            <a:r>
              <a:rPr lang="en-US" dirty="0" err="1">
                <a:effectLst/>
              </a:rPr>
              <a:t>repositorios</a:t>
            </a:r>
            <a:r>
              <a:rPr lang="en-US" dirty="0">
                <a:effectLst/>
              </a:rPr>
              <a:t> del banco?'"</a:t>
            </a:r>
          </a:p>
          <a:p>
            <a:r>
              <a:rPr lang="en-US" dirty="0">
                <a:effectLst/>
              </a:rPr>
              <a:t>"GitHub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mecanismos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:"</a:t>
            </a:r>
          </a:p>
          <a:p>
            <a:r>
              <a:rPr lang="en-US" dirty="0">
                <a:effectLst/>
              </a:rPr>
              <a:t>"Uno: Reusable Workflows. </a:t>
            </a:r>
            <a:r>
              <a:rPr lang="en-US" dirty="0" err="1">
                <a:effectLst/>
              </a:rPr>
              <a:t>Definís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UNA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central, y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equipos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invocan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sola </a:t>
            </a:r>
            <a:r>
              <a:rPr lang="en-US" dirty="0" err="1">
                <a:effectLst/>
              </a:rPr>
              <a:t>línea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workflow. Si </a:t>
            </a:r>
            <a:r>
              <a:rPr lang="en-US" dirty="0" err="1">
                <a:effectLst/>
              </a:rPr>
              <a:t>actualizás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regla</a:t>
            </a:r>
            <a:r>
              <a:rPr lang="en-US" dirty="0">
                <a:effectLst/>
              </a:rPr>
              <a:t> de Spectral o </a:t>
            </a:r>
            <a:r>
              <a:rPr lang="en-US" dirty="0" err="1">
                <a:effectLst/>
              </a:rPr>
              <a:t>agregás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nueva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etapa</a:t>
            </a:r>
            <a:r>
              <a:rPr lang="en-US" dirty="0">
                <a:effectLst/>
              </a:rPr>
              <a:t>, se </a:t>
            </a:r>
            <a:r>
              <a:rPr lang="en-US" dirty="0" err="1">
                <a:effectLst/>
              </a:rPr>
              <a:t>propaga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repos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"Dos: Organization Rulesets. </a:t>
            </a:r>
            <a:r>
              <a:rPr lang="en-US" dirty="0" err="1">
                <a:effectLst/>
              </a:rPr>
              <a:t>Desde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configuración</a:t>
            </a:r>
            <a:r>
              <a:rPr lang="en-US" dirty="0">
                <a:effectLst/>
              </a:rPr>
              <a:t> de la </a:t>
            </a:r>
            <a:r>
              <a:rPr lang="en-US" dirty="0" err="1">
                <a:effectLst/>
              </a:rPr>
              <a:t>organización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GitHub, </a:t>
            </a:r>
            <a:r>
              <a:rPr lang="en-US" dirty="0" err="1">
                <a:effectLst/>
              </a:rPr>
              <a:t>podés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crear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apliquen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repositorios</a:t>
            </a:r>
            <a:r>
              <a:rPr lang="en-US" dirty="0">
                <a:effectLst/>
              </a:rPr>
              <a:t> o a </a:t>
            </a:r>
            <a:r>
              <a:rPr lang="en-US" dirty="0" err="1">
                <a:effectLst/>
              </a:rPr>
              <a:t>grupos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específicos</a:t>
            </a:r>
            <a:r>
              <a:rPr lang="en-US" dirty="0">
                <a:effectLst/>
              </a:rPr>
              <a:t>. Por </a:t>
            </a:r>
            <a:r>
              <a:rPr lang="en-US" dirty="0" err="1">
                <a:effectLst/>
              </a:rPr>
              <a:t>ejemplo</a:t>
            </a:r>
            <a:r>
              <a:rPr lang="en-US" dirty="0">
                <a:effectLst/>
              </a:rPr>
              <a:t>: '</a:t>
            </a:r>
            <a:r>
              <a:rPr lang="en-US" dirty="0" err="1">
                <a:effectLst/>
              </a:rPr>
              <a:t>Ningún</a:t>
            </a:r>
            <a:r>
              <a:rPr lang="en-US" dirty="0">
                <a:effectLst/>
              </a:rPr>
              <a:t> PR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mergear</a:t>
            </a:r>
            <a:r>
              <a:rPr lang="en-US" dirty="0">
                <a:effectLst/>
              </a:rPr>
              <a:t> a main sin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workflow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exitosamente</a:t>
            </a:r>
            <a:r>
              <a:rPr lang="en-US" dirty="0">
                <a:effectLst/>
              </a:rPr>
              <a:t>.'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obligatorio</a:t>
            </a:r>
            <a:r>
              <a:rPr lang="en-US" dirty="0">
                <a:effectLst/>
              </a:rPr>
              <a:t>, no </a:t>
            </a:r>
            <a:r>
              <a:rPr lang="en-US" dirty="0" err="1">
                <a:effectLst/>
              </a:rPr>
              <a:t>opcional</a:t>
            </a:r>
            <a:r>
              <a:rPr lang="en-US" dirty="0">
                <a:effectLst/>
              </a:rPr>
              <a:t>. Ni </a:t>
            </a:r>
            <a:r>
              <a:rPr lang="en-US" dirty="0" err="1">
                <a:effectLst/>
              </a:rPr>
              <a:t>siquiera</a:t>
            </a:r>
            <a:r>
              <a:rPr lang="en-US" dirty="0">
                <a:effectLst/>
              </a:rPr>
              <a:t> un admin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saltárselo</a:t>
            </a:r>
            <a:r>
              <a:rPr lang="en-US" dirty="0">
                <a:effectLst/>
              </a:rPr>
              <a:t> sin </a:t>
            </a:r>
            <a:r>
              <a:rPr lang="en-US" dirty="0" err="1">
                <a:effectLst/>
              </a:rPr>
              <a:t>quedar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registrado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: Custom Properties. </a:t>
            </a:r>
            <a:r>
              <a:rPr lang="en-US" dirty="0" err="1">
                <a:effectLst/>
              </a:rPr>
              <a:t>Podés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clasificar</a:t>
            </a:r>
            <a:r>
              <a:rPr lang="en-US" dirty="0">
                <a:effectLst/>
              </a:rPr>
              <a:t> repos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nivel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riesgo</a:t>
            </a:r>
            <a:r>
              <a:rPr lang="en-US" dirty="0">
                <a:effectLst/>
              </a:rPr>
              <a:t> — alto, medio, bajo — y </a:t>
            </a:r>
            <a:r>
              <a:rPr lang="en-US" dirty="0" err="1">
                <a:effectLst/>
              </a:rPr>
              <a:t>aplicar</a:t>
            </a:r>
            <a:r>
              <a:rPr lang="en-US" dirty="0">
                <a:effectLst/>
              </a:rPr>
              <a:t> rulesets </a:t>
            </a:r>
            <a:r>
              <a:rPr lang="en-US" dirty="0" err="1">
                <a:effectLst/>
              </a:rPr>
              <a:t>progresivamente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estrictos</a:t>
            </a:r>
            <a:r>
              <a:rPr lang="en-US" dirty="0">
                <a:effectLst/>
              </a:rPr>
              <a:t>. Los repos que </a:t>
            </a:r>
            <a:r>
              <a:rPr lang="en-US" dirty="0" err="1">
                <a:effectLst/>
              </a:rPr>
              <a:t>manejan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clientes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las 6 </a:t>
            </a:r>
            <a:r>
              <a:rPr lang="en-US" dirty="0" err="1">
                <a:effectLst/>
              </a:rPr>
              <a:t>etapas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obligatorias</a:t>
            </a:r>
            <a:r>
              <a:rPr lang="en-US" dirty="0">
                <a:effectLst/>
              </a:rPr>
              <a:t>. Los repos </a:t>
            </a:r>
            <a:r>
              <a:rPr lang="en-US" dirty="0" err="1">
                <a:effectLst/>
              </a:rPr>
              <a:t>internos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pueden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tener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subconjunto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resultado</a:t>
            </a:r>
            <a:r>
              <a:rPr lang="en-US" dirty="0">
                <a:effectLst/>
              </a:rPr>
              <a:t>: un </a:t>
            </a:r>
            <a:r>
              <a:rPr lang="en-US" dirty="0" err="1">
                <a:effectLst/>
              </a:rPr>
              <a:t>estándar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organizacional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aplicado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auditado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GitHub.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lo que SUGEF y la </a:t>
            </a:r>
            <a:r>
              <a:rPr lang="en-US" dirty="0" err="1">
                <a:effectLst/>
              </a:rPr>
              <a:t>nueva</a:t>
            </a:r>
            <a:r>
              <a:rPr lang="en-US" dirty="0">
                <a:effectLst/>
              </a:rPr>
              <a:t> ley de </a:t>
            </a:r>
            <a:r>
              <a:rPr lang="en-US" dirty="0" err="1">
                <a:effectLst/>
              </a:rPr>
              <a:t>responsabilidad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necesitan</a:t>
            </a:r>
            <a:r>
              <a:rPr lang="en-US" dirty="0">
                <a:effectLst/>
              </a:rPr>
              <a:t> ver."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27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2317688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effectLst/>
                <a:latin typeface="Helvetica" pitchFamily="2" charset="0"/>
              </a:rPr>
              <a:t>Si </a:t>
            </a:r>
            <a:r>
              <a:rPr lang="en-US" i="1" dirty="0" err="1">
                <a:effectLst/>
                <a:latin typeface="Helvetica" pitchFamily="2" charset="0"/>
              </a:rPr>
              <a:t>gana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Prevención</a:t>
            </a:r>
            <a:r>
              <a:rPr lang="en-US" i="1" dirty="0">
                <a:effectLst/>
                <a:latin typeface="Helvetica" pitchFamily="2" charset="0"/>
              </a:rPr>
              <a:t>: "</a:t>
            </a:r>
            <a:r>
              <a:rPr lang="en-US" i="1" dirty="0" err="1">
                <a:effectLst/>
                <a:latin typeface="Helvetica" pitchFamily="2" charset="0"/>
              </a:rPr>
              <a:t>Entonces</a:t>
            </a:r>
            <a:r>
              <a:rPr lang="en-US" i="1" dirty="0">
                <a:effectLst/>
                <a:latin typeface="Helvetica" pitchFamily="2" charset="0"/>
              </a:rPr>
              <a:t> Push Protection es </a:t>
            </a:r>
            <a:r>
              <a:rPr lang="en-US" i="1" dirty="0" err="1">
                <a:effectLst/>
                <a:latin typeface="Helvetica" pitchFamily="2" charset="0"/>
              </a:rPr>
              <a:t>su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inversión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número</a:t>
            </a:r>
            <a:r>
              <a:rPr lang="en-US" i="1" dirty="0">
                <a:effectLst/>
                <a:latin typeface="Helvetica" pitchFamily="2" charset="0"/>
              </a:rPr>
              <a:t> uno. Es la </a:t>
            </a:r>
            <a:r>
              <a:rPr lang="en-US" i="1" dirty="0" err="1">
                <a:effectLst/>
                <a:latin typeface="Helvetica" pitchFamily="2" charset="0"/>
              </a:rPr>
              <a:t>única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herramienta</a:t>
            </a:r>
            <a:r>
              <a:rPr lang="en-US" i="1" dirty="0">
                <a:effectLst/>
                <a:latin typeface="Helvetica" pitchFamily="2" charset="0"/>
              </a:rPr>
              <a:t> que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bloquea</a:t>
            </a:r>
            <a:r>
              <a:rPr lang="en-US" i="1" dirty="0">
                <a:effectLst/>
                <a:latin typeface="Helvetica" pitchFamily="2" charset="0"/>
              </a:rPr>
              <a:t> ANTES de que </a:t>
            </a:r>
            <a:r>
              <a:rPr lang="en-US" i="1" dirty="0" err="1">
                <a:effectLst/>
                <a:latin typeface="Helvetica" pitchFamily="2" charset="0"/>
              </a:rPr>
              <a:t>el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problema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exista</a:t>
            </a:r>
            <a:r>
              <a:rPr lang="en-US" i="1" dirty="0">
                <a:effectLst/>
                <a:latin typeface="Helvetica" pitchFamily="2" charset="0"/>
              </a:rPr>
              <a:t>.”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Si </a:t>
            </a:r>
            <a:r>
              <a:rPr lang="en-US" i="1" dirty="0" err="1">
                <a:effectLst/>
                <a:latin typeface="Helvetica" pitchFamily="2" charset="0"/>
              </a:rPr>
              <a:t>gana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Detección</a:t>
            </a:r>
            <a:r>
              <a:rPr lang="en-US" i="1" dirty="0">
                <a:effectLst/>
                <a:latin typeface="Helvetica" pitchFamily="2" charset="0"/>
              </a:rPr>
              <a:t>: "</a:t>
            </a:r>
            <a:r>
              <a:rPr lang="en-US" i="1" dirty="0" err="1">
                <a:effectLst/>
                <a:latin typeface="Helvetica" pitchFamily="2" charset="0"/>
              </a:rPr>
              <a:t>CodeQL</a:t>
            </a:r>
            <a:r>
              <a:rPr lang="en-US" i="1" dirty="0">
                <a:effectLst/>
                <a:latin typeface="Helvetica" pitchFamily="2" charset="0"/>
              </a:rPr>
              <a:t> es </a:t>
            </a:r>
            <a:r>
              <a:rPr lang="en-US" i="1" dirty="0" err="1">
                <a:effectLst/>
                <a:latin typeface="Helvetica" pitchFamily="2" charset="0"/>
              </a:rPr>
              <a:t>donde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empiezan</a:t>
            </a:r>
            <a:r>
              <a:rPr lang="en-US" i="1" dirty="0">
                <a:effectLst/>
                <a:latin typeface="Helvetica" pitchFamily="2" charset="0"/>
              </a:rPr>
              <a:t>. </a:t>
            </a:r>
            <a:r>
              <a:rPr lang="en-US" i="1" dirty="0" err="1">
                <a:effectLst/>
                <a:latin typeface="Helvetica" pitchFamily="2" charset="0"/>
              </a:rPr>
              <a:t>Análisis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semántico</a:t>
            </a:r>
            <a:r>
              <a:rPr lang="en-US" i="1" dirty="0">
                <a:effectLst/>
                <a:latin typeface="Helvetica" pitchFamily="2" charset="0"/>
              </a:rPr>
              <a:t> profundo, </a:t>
            </a:r>
            <a:r>
              <a:rPr lang="en-US" i="1" dirty="0" err="1">
                <a:effectLst/>
                <a:latin typeface="Helvetica" pitchFamily="2" charset="0"/>
              </a:rPr>
              <a:t>integrado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cada</a:t>
            </a:r>
            <a:r>
              <a:rPr lang="en-US" i="1" dirty="0">
                <a:effectLst/>
                <a:latin typeface="Helvetica" pitchFamily="2" charset="0"/>
              </a:rPr>
              <a:t> PR, con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visibilidad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toda</a:t>
            </a:r>
            <a:r>
              <a:rPr lang="en-US" i="1" dirty="0">
                <a:effectLst/>
                <a:latin typeface="Helvetica" pitchFamily="2" charset="0"/>
              </a:rPr>
              <a:t> la </a:t>
            </a:r>
            <a:r>
              <a:rPr lang="en-US" i="1" dirty="0" err="1">
                <a:effectLst/>
                <a:latin typeface="Helvetica" pitchFamily="2" charset="0"/>
              </a:rPr>
              <a:t>organización</a:t>
            </a:r>
            <a:r>
              <a:rPr lang="en-US" i="1" dirty="0">
                <a:effectLst/>
                <a:latin typeface="Helvetica" pitchFamily="2" charset="0"/>
              </a:rPr>
              <a:t>.”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Si </a:t>
            </a:r>
            <a:r>
              <a:rPr lang="en-US" i="1" dirty="0" err="1">
                <a:effectLst/>
                <a:latin typeface="Helvetica" pitchFamily="2" charset="0"/>
              </a:rPr>
              <a:t>gana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Cumplimiento</a:t>
            </a:r>
            <a:r>
              <a:rPr lang="en-US" i="1" dirty="0">
                <a:effectLst/>
                <a:latin typeface="Helvetica" pitchFamily="2" charset="0"/>
              </a:rPr>
              <a:t>: "Para </a:t>
            </a:r>
            <a:r>
              <a:rPr lang="en-US" i="1" dirty="0" err="1">
                <a:effectLst/>
                <a:latin typeface="Helvetica" pitchFamily="2" charset="0"/>
              </a:rPr>
              <a:t>eso</a:t>
            </a:r>
            <a:r>
              <a:rPr lang="en-US" i="1" dirty="0">
                <a:effectLst/>
                <a:latin typeface="Helvetica" pitchFamily="2" charset="0"/>
              </a:rPr>
              <a:t> la </a:t>
            </a:r>
            <a:r>
              <a:rPr lang="en-US" i="1" dirty="0" err="1">
                <a:effectLst/>
                <a:latin typeface="Helvetica" pitchFamily="2" charset="0"/>
              </a:rPr>
              <a:t>combinación</a:t>
            </a:r>
            <a:r>
              <a:rPr lang="en-US" i="1" dirty="0">
                <a:effectLst/>
                <a:latin typeface="Helvetica" pitchFamily="2" charset="0"/>
              </a:rPr>
              <a:t> open source + GHAS es perfecta. </a:t>
            </a:r>
            <a:r>
              <a:rPr lang="en-US" i="1" dirty="0" err="1">
                <a:effectLst/>
                <a:latin typeface="Helvetica" pitchFamily="2" charset="0"/>
              </a:rPr>
              <a:t>Cada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ejecución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queda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registrada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en</a:t>
            </a:r>
            <a:r>
              <a:rPr lang="en-US" i="1" dirty="0">
                <a:effectLst/>
                <a:latin typeface="Helvetica" pitchFamily="2" charset="0"/>
              </a:rPr>
              <a:t> GitHub. </a:t>
            </a:r>
            <a:r>
              <a:rPr lang="en-US" i="1" dirty="0" err="1">
                <a:effectLst/>
                <a:latin typeface="Helvetica" pitchFamily="2" charset="0"/>
              </a:rPr>
              <a:t>Cada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política</a:t>
            </a:r>
            <a:r>
              <a:rPr lang="en-US" i="1" dirty="0">
                <a:effectLst/>
                <a:latin typeface="Helvetica" pitchFamily="2" charset="0"/>
              </a:rPr>
              <a:t> es </a:t>
            </a:r>
            <a:r>
              <a:rPr lang="en-US" i="1" dirty="0" err="1">
                <a:effectLst/>
                <a:latin typeface="Helvetica" pitchFamily="2" charset="0"/>
              </a:rPr>
              <a:t>código</a:t>
            </a:r>
            <a:r>
              <a:rPr lang="en-US" i="1" dirty="0">
                <a:effectLst/>
                <a:latin typeface="Helvetica" pitchFamily="2" charset="0"/>
              </a:rPr>
              <a:t>. SUGEF </a:t>
            </a:r>
            <a:r>
              <a:rPr lang="en-US" i="1" dirty="0" err="1">
                <a:effectLst/>
                <a:latin typeface="Helvetica" pitchFamily="2" charset="0"/>
              </a:rPr>
              <a:t>puede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auditar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el</a:t>
            </a:r>
            <a:r>
              <a:rPr lang="en-US" i="1" dirty="0">
                <a:effectLst/>
                <a:latin typeface="Helvetica" pitchFamily="2" charset="0"/>
              </a:rPr>
              <a:t> repo </a:t>
            </a:r>
            <a:r>
              <a:rPr lang="en-US" i="1" dirty="0" err="1">
                <a:effectLst/>
                <a:latin typeface="Helvetica" pitchFamily="2" charset="0"/>
              </a:rPr>
              <a:t>directamente</a:t>
            </a:r>
            <a:r>
              <a:rPr lang="en-US" i="1" dirty="0">
                <a:effectLst/>
                <a:latin typeface="Helvetica" pitchFamily="2" charset="0"/>
              </a:rPr>
              <a:t>.”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Si </a:t>
            </a:r>
            <a:r>
              <a:rPr lang="en-US" i="1" dirty="0" err="1">
                <a:effectLst/>
                <a:latin typeface="Helvetica" pitchFamily="2" charset="0"/>
              </a:rPr>
              <a:t>gana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Auditoría</a:t>
            </a:r>
            <a:r>
              <a:rPr lang="en-US" i="1" dirty="0">
                <a:effectLst/>
                <a:latin typeface="Helvetica" pitchFamily="2" charset="0"/>
              </a:rPr>
              <a:t>: "Organization Rulesets + Custom Properties. </a:t>
            </a:r>
            <a:r>
              <a:rPr lang="en-US" i="1" dirty="0" err="1">
                <a:effectLst/>
                <a:latin typeface="Helvetica" pitchFamily="2" charset="0"/>
              </a:rPr>
              <a:t>Desde</a:t>
            </a:r>
            <a:r>
              <a:rPr lang="en-US" i="1" dirty="0">
                <a:effectLst/>
                <a:latin typeface="Helvetica" pitchFamily="2" charset="0"/>
              </a:rPr>
              <a:t> un solo </a:t>
            </a:r>
            <a:r>
              <a:rPr lang="en-US" i="1" dirty="0" err="1">
                <a:effectLst/>
                <a:latin typeface="Helvetica" pitchFamily="2" charset="0"/>
              </a:rPr>
              <a:t>lugar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ven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qué</a:t>
            </a:r>
            <a:r>
              <a:rPr lang="en-US" i="1" dirty="0">
                <a:effectLst/>
                <a:latin typeface="Helvetica" pitchFamily="2" charset="0"/>
              </a:rPr>
              <a:t> repos </a:t>
            </a:r>
            <a:r>
              <a:rPr lang="en-US" i="1" dirty="0" err="1">
                <a:effectLst/>
                <a:latin typeface="Helvetica" pitchFamily="2" charset="0"/>
              </a:rPr>
              <a:t>cumplen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qué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política</a:t>
            </a:r>
            <a:r>
              <a:rPr lang="en-US" i="1" dirty="0">
                <a:effectLst/>
                <a:latin typeface="Helvetica" pitchFamily="2" charset="0"/>
              </a:rPr>
              <a:t>, y </a:t>
            </a:r>
            <a:r>
              <a:rPr lang="en-US" i="1" dirty="0" err="1">
                <a:effectLst/>
                <a:latin typeface="Helvetica" pitchFamily="2" charset="0"/>
              </a:rPr>
              <a:t>qué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excepciones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existen</a:t>
            </a:r>
            <a:r>
              <a:rPr lang="en-US" i="1" dirty="0">
                <a:effectLst/>
                <a:latin typeface="Helvetica" pitchFamily="2" charset="0"/>
              </a:rPr>
              <a:t>. </a:t>
            </a:r>
            <a:r>
              <a:rPr lang="en-US" i="1" dirty="0" err="1">
                <a:effectLst/>
                <a:latin typeface="Helvetica" pitchFamily="2" charset="0"/>
              </a:rPr>
              <a:t>Evidencia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instantánea</a:t>
            </a:r>
            <a:r>
              <a:rPr lang="en-US" i="1" dirty="0">
                <a:effectLst/>
                <a:latin typeface="Helvetica" pitchFamily="2" charset="0"/>
              </a:rPr>
              <a:t>."</a:t>
            </a:r>
            <a:endParaRPr lang="en-US" dirty="0">
              <a:effectLst/>
              <a:latin typeface="Helvetica" pitchFamily="2" charset="0"/>
            </a:endParaRP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28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9256054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R" dirty="0"/>
              <a:t>Transición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29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1499636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21 — "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Resultados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Antes vs.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Después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 [TONO: Datos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concretos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impactantes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37:00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Hablemos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números</a:t>
            </a:r>
            <a:r>
              <a:rPr lang="en-US" dirty="0">
                <a:effectLst/>
              </a:rPr>
              <a:t>. ¿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cambia </a:t>
            </a:r>
            <a:r>
              <a:rPr lang="en-US" dirty="0" err="1">
                <a:effectLst/>
              </a:rPr>
              <a:t>cuando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implementas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?"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detección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vulnerabilidades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pasa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semanas</a:t>
            </a:r>
            <a:r>
              <a:rPr lang="en-US" dirty="0">
                <a:effectLst/>
              </a:rPr>
              <a:t> o meses — </a:t>
            </a:r>
            <a:r>
              <a:rPr lang="en-US" dirty="0" err="1">
                <a:effectLst/>
              </a:rPr>
              <a:t>cuando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llega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auditoría</a:t>
            </a:r>
            <a:r>
              <a:rPr lang="en-US" dirty="0">
                <a:effectLst/>
              </a:rPr>
              <a:t> — a </a:t>
            </a:r>
            <a:r>
              <a:rPr lang="en-US" dirty="0" err="1">
                <a:effectLst/>
              </a:rPr>
              <a:t>minutos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Literalmente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momento</a:t>
            </a:r>
            <a:r>
              <a:rPr lang="en-US" dirty="0">
                <a:effectLst/>
              </a:rPr>
              <a:t> del pull request."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Cobertura</a:t>
            </a:r>
            <a:r>
              <a:rPr lang="en-US" dirty="0">
                <a:effectLst/>
              </a:rPr>
              <a:t>: un penetration test manual </a:t>
            </a:r>
            <a:r>
              <a:rPr lang="en-US" dirty="0" err="1">
                <a:effectLst/>
              </a:rPr>
              <a:t>típico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cubre</a:t>
            </a:r>
            <a:r>
              <a:rPr lang="en-US" dirty="0">
                <a:effectLst/>
              </a:rPr>
              <a:t> entre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60% y 70% de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superficie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ataque</a:t>
            </a:r>
            <a:r>
              <a:rPr lang="en-US" dirty="0">
                <a:effectLst/>
              </a:rPr>
              <a:t>. Un pipeline spec-driven </a:t>
            </a:r>
            <a:r>
              <a:rPr lang="en-US" dirty="0" err="1">
                <a:effectLst/>
              </a:rPr>
              <a:t>cubre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100% de lo que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 </a:t>
            </a:r>
            <a:r>
              <a:rPr lang="en-US" dirty="0" err="1">
                <a:effectLst/>
              </a:rPr>
              <a:t>Siempre</a:t>
            </a:r>
            <a:r>
              <a:rPr lang="en-US" dirty="0">
                <a:effectLst/>
              </a:rPr>
              <a:t>. Sin </a:t>
            </a:r>
            <a:r>
              <a:rPr lang="en-US" dirty="0" err="1">
                <a:effectLst/>
              </a:rPr>
              <a:t>excepción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30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0950260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22 — "El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costo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NO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hacerlo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costo</a:t>
            </a:r>
            <a:r>
              <a:rPr lang="en-US" dirty="0">
                <a:effectLst/>
              </a:rPr>
              <a:t> de no </a:t>
            </a:r>
            <a:r>
              <a:rPr lang="en-US" dirty="0" err="1">
                <a:effectLst/>
              </a:rPr>
              <a:t>hacerlo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2024,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promedio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brecha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sector </a:t>
            </a:r>
            <a:r>
              <a:rPr lang="en-US" dirty="0" err="1">
                <a:effectLst/>
              </a:rPr>
              <a:t>financiero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Estados</a:t>
            </a:r>
            <a:r>
              <a:rPr lang="en-US" dirty="0">
                <a:effectLst/>
              </a:rPr>
              <a:t> Unidos </a:t>
            </a:r>
            <a:r>
              <a:rPr lang="en-US" dirty="0" err="1">
                <a:effectLst/>
              </a:rPr>
              <a:t>fue</a:t>
            </a:r>
            <a:r>
              <a:rPr lang="en-US" dirty="0">
                <a:effectLst/>
              </a:rPr>
              <a:t> de 9.36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dólares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Implementar</a:t>
            </a:r>
            <a:r>
              <a:rPr lang="en-US" dirty="0">
                <a:effectLst/>
              </a:rPr>
              <a:t> un pipeline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vimos</a:t>
            </a:r>
            <a:r>
              <a:rPr lang="en-US" dirty="0">
                <a:effectLst/>
              </a:rPr>
              <a:t> hoy cuesta... 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open source. Y un poco de </a:t>
            </a:r>
            <a:r>
              <a:rPr lang="en-US" dirty="0" err="1">
                <a:effectLst/>
              </a:rPr>
              <a:t>voluntad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31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9460098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23 — "Compliance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automatizado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39:00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"Pero para </a:t>
            </a:r>
            <a:r>
              <a:rPr lang="en-US" dirty="0" err="1">
                <a:effectLst/>
              </a:rPr>
              <a:t>mí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beneficio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grande</a:t>
            </a:r>
            <a:r>
              <a:rPr lang="en-US" dirty="0">
                <a:effectLst/>
              </a:rPr>
              <a:t> para banca es </a:t>
            </a:r>
            <a:r>
              <a:rPr lang="en-US" dirty="0" err="1">
                <a:effectLst/>
              </a:rPr>
              <a:t>este</a:t>
            </a:r>
            <a:r>
              <a:rPr lang="en-US" dirty="0">
                <a:effectLst/>
              </a:rPr>
              <a:t>: compliance </a:t>
            </a:r>
            <a:r>
              <a:rPr lang="en-US" dirty="0" err="1">
                <a:effectLst/>
              </a:rPr>
              <a:t>automatizado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pull request genera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merge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trazabilidad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Cuando</a:t>
            </a:r>
            <a:r>
              <a:rPr lang="en-US" dirty="0">
                <a:effectLst/>
              </a:rPr>
              <a:t> SUGEF </a:t>
            </a:r>
            <a:r>
              <a:rPr lang="en-US" dirty="0" err="1">
                <a:effectLst/>
              </a:rPr>
              <a:t>llegue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auditar</a:t>
            </a:r>
            <a:r>
              <a:rPr lang="en-US" dirty="0">
                <a:effectLst/>
              </a:rPr>
              <a:t>, no hay que </a:t>
            </a:r>
            <a:r>
              <a:rPr lang="en-US" dirty="0" err="1">
                <a:effectLst/>
              </a:rPr>
              <a:t>preparar</a:t>
            </a:r>
            <a:r>
              <a:rPr lang="en-US" dirty="0">
                <a:effectLst/>
              </a:rPr>
              <a:t> nada. La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existe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GitHub. Con </a:t>
            </a:r>
            <a:r>
              <a:rPr lang="en-US" dirty="0" err="1">
                <a:effectLst/>
              </a:rPr>
              <a:t>fecha</a:t>
            </a:r>
            <a:r>
              <a:rPr lang="en-US" dirty="0">
                <a:effectLst/>
              </a:rPr>
              <a:t>, hora, </a:t>
            </a:r>
            <a:r>
              <a:rPr lang="en-US" dirty="0" err="1">
                <a:effectLst/>
              </a:rPr>
              <a:t>autor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resultado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validación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Directo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tomadores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decisión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transforma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de un </a:t>
            </a:r>
            <a:r>
              <a:rPr lang="en-US" dirty="0" err="1">
                <a:effectLst/>
              </a:rPr>
              <a:t>costo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reactivo</a:t>
            </a:r>
            <a:r>
              <a:rPr lang="en-US" dirty="0">
                <a:effectLst/>
              </a:rPr>
              <a:t>... a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inversión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proactiva</a:t>
            </a:r>
            <a:r>
              <a:rPr lang="en-US" dirty="0">
                <a:effectLst/>
              </a:rPr>
              <a:t> que se </a:t>
            </a:r>
            <a:r>
              <a:rPr lang="en-US" dirty="0" err="1">
                <a:effectLst/>
              </a:rPr>
              <a:t>paga</a:t>
            </a:r>
            <a:r>
              <a:rPr lang="en-US" dirty="0">
                <a:effectLst/>
              </a:rPr>
              <a:t> sola."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32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4336106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############################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"Todo lo que </a:t>
            </a:r>
            <a:r>
              <a:rPr lang="en-US" dirty="0" err="1">
                <a:effectLst/>
              </a:rPr>
              <a:t>vimos</a:t>
            </a:r>
            <a:r>
              <a:rPr lang="en-US" dirty="0">
                <a:effectLst/>
              </a:rPr>
              <a:t> hoy —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repo, las slides,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links a </a:t>
            </a:r>
            <a:r>
              <a:rPr lang="en-US" dirty="0" err="1">
                <a:effectLst/>
              </a:rPr>
              <a:t>documentación</a:t>
            </a:r>
            <a:r>
              <a:rPr lang="en-US" dirty="0">
                <a:effectLst/>
              </a:rPr>
              <a:t>, las </a:t>
            </a:r>
            <a:r>
              <a:rPr lang="en-US" dirty="0" err="1">
                <a:effectLst/>
              </a:rPr>
              <a:t>guías</a:t>
            </a:r>
            <a:r>
              <a:rPr lang="en-US" dirty="0">
                <a:effectLst/>
              </a:rPr>
              <a:t> paso a paso —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disponible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ardops.dev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Ahí</a:t>
            </a:r>
            <a:r>
              <a:rPr lang="en-US" dirty="0">
                <a:effectLst/>
              </a:rPr>
              <a:t> van a </a:t>
            </a:r>
            <a:r>
              <a:rPr lang="en-US" dirty="0" err="1">
                <a:effectLst/>
              </a:rPr>
              <a:t>encontrar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artículo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completo</a:t>
            </a:r>
            <a:r>
              <a:rPr lang="en-US" dirty="0">
                <a:effectLst/>
              </a:rPr>
              <a:t> con la </a:t>
            </a:r>
            <a:r>
              <a:rPr lang="en-US" dirty="0" err="1">
                <a:effectLst/>
              </a:rPr>
              <a:t>guía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implementación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link al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público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recursos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adicionales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profundizar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33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9740307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############################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este</a:t>
            </a:r>
            <a:r>
              <a:rPr lang="en-US" dirty="0">
                <a:effectLst/>
              </a:rPr>
              <a:t> QR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lleva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directamente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Sáquenle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foto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. No se lo </a:t>
            </a:r>
            <a:r>
              <a:rPr lang="en-US" dirty="0" err="1">
                <a:effectLst/>
              </a:rPr>
              <a:t>pierdan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10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para que la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gente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escanee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"Si les </a:t>
            </a:r>
            <a:r>
              <a:rPr lang="en-US" dirty="0" err="1">
                <a:effectLst/>
              </a:rPr>
              <a:t>sirve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compártanlo</a:t>
            </a:r>
            <a:r>
              <a:rPr lang="en-US" dirty="0">
                <a:effectLst/>
              </a:rPr>
              <a:t> con sus </a:t>
            </a:r>
            <a:r>
              <a:rPr lang="en-US" dirty="0" err="1">
                <a:effectLst/>
              </a:rPr>
              <a:t>equipos</a:t>
            </a:r>
            <a:r>
              <a:rPr lang="en-US" dirty="0">
                <a:effectLst/>
              </a:rPr>
              <a:t>. La idea es que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no se </a:t>
            </a:r>
            <a:r>
              <a:rPr lang="en-US" dirty="0" err="1">
                <a:effectLst/>
              </a:rPr>
              <a:t>quede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esta</a:t>
            </a:r>
            <a:r>
              <a:rPr lang="en-US" dirty="0">
                <a:effectLst/>
              </a:rPr>
              <a:t> sala."</a:t>
            </a:r>
          </a:p>
          <a:p>
            <a:endParaRPr lang="en-US" dirty="0">
              <a:effectLst/>
            </a:endParaRPr>
          </a:p>
          <a:p>
            <a:br>
              <a:rPr lang="en-US" dirty="0"/>
            </a:br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34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8673889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26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Fondo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oscuro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solo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texto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"La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seguridad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no es un gate. Es un guardrail."] [MOVER: Centro del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escenario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contacto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visual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directo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Pausado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con peso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cada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palabra]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44:00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Quiero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cerrar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idea que </a:t>
            </a:r>
            <a:r>
              <a:rPr lang="en-US" dirty="0" err="1">
                <a:effectLst/>
              </a:rPr>
              <a:t>espero</a:t>
            </a:r>
            <a:r>
              <a:rPr lang="en-US" dirty="0">
                <a:effectLst/>
              </a:rPr>
              <a:t> que se </a:t>
            </a:r>
            <a:r>
              <a:rPr lang="en-US" dirty="0" err="1">
                <a:effectLst/>
              </a:rPr>
              <a:t>lleven</a:t>
            </a:r>
            <a:r>
              <a:rPr lang="en-US" dirty="0">
                <a:effectLst/>
              </a:rPr>
              <a:t> hoy.”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no es un gate. No es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barrera que pones al final para </a:t>
            </a:r>
            <a:r>
              <a:rPr lang="en-US" dirty="0" err="1">
                <a:effectLst/>
              </a:rPr>
              <a:t>decir</a:t>
            </a:r>
            <a:r>
              <a:rPr lang="en-US" dirty="0">
                <a:effectLst/>
              </a:rPr>
              <a:t> '</a:t>
            </a:r>
            <a:r>
              <a:rPr lang="en-US" dirty="0" err="1">
                <a:effectLst/>
              </a:rPr>
              <a:t>pasaste</a:t>
            </a:r>
            <a:r>
              <a:rPr lang="en-US" dirty="0">
                <a:effectLst/>
              </a:rPr>
              <a:t>' o 'no </a:t>
            </a:r>
            <a:r>
              <a:rPr lang="en-US" dirty="0" err="1">
                <a:effectLst/>
              </a:rPr>
              <a:t>pasaste</a:t>
            </a:r>
            <a:r>
              <a:rPr lang="en-US" dirty="0">
                <a:effectLst/>
              </a:rPr>
              <a:t>'.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frena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frustra.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no </a:t>
            </a:r>
            <a:r>
              <a:rPr lang="en-US" dirty="0" err="1">
                <a:effectLst/>
              </a:rPr>
              <a:t>escala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es un guardrail. Es algo que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ahí</a:t>
            </a:r>
            <a:r>
              <a:rPr lang="en-US" dirty="0">
                <a:effectLst/>
              </a:rPr>
              <a:t> MIENTRAS </a:t>
            </a:r>
            <a:r>
              <a:rPr lang="en-US" dirty="0" err="1">
                <a:effectLst/>
              </a:rPr>
              <a:t>construyes</a:t>
            </a:r>
            <a:r>
              <a:rPr lang="en-US" dirty="0">
                <a:effectLst/>
              </a:rPr>
              <a:t>. Que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guía</a:t>
            </a:r>
            <a:r>
              <a:rPr lang="en-US" dirty="0">
                <a:effectLst/>
              </a:rPr>
              <a:t>. Que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protege sin </a:t>
            </a:r>
            <a:r>
              <a:rPr lang="en-US" dirty="0" err="1">
                <a:effectLst/>
              </a:rPr>
              <a:t>frenarte</a:t>
            </a:r>
            <a:r>
              <a:rPr lang="en-US" dirty="0">
                <a:effectLst/>
              </a:rPr>
              <a:t>. Que </a:t>
            </a:r>
            <a:r>
              <a:rPr lang="en-US" dirty="0" err="1">
                <a:effectLst/>
              </a:rPr>
              <a:t>trabaja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contigo</a:t>
            </a:r>
            <a:r>
              <a:rPr lang="en-US" dirty="0">
                <a:effectLst/>
              </a:rPr>
              <a:t>, no contra </a:t>
            </a:r>
            <a:r>
              <a:rPr lang="en-US" dirty="0" err="1">
                <a:effectLst/>
              </a:rPr>
              <a:t>ti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3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la </a:t>
            </a:r>
            <a:r>
              <a:rPr lang="en-US" dirty="0" err="1">
                <a:effectLst/>
              </a:rPr>
              <a:t>mejor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parte</a:t>
            </a:r>
            <a:r>
              <a:rPr lang="en-US" dirty="0">
                <a:effectLst/>
              </a:rPr>
              <a:t> es que hoy, con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open source, con GitHub, con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spec bien </a:t>
            </a:r>
            <a:r>
              <a:rPr lang="en-US" dirty="0" err="1">
                <a:effectLst/>
              </a:rPr>
              <a:t>hecha</a:t>
            </a:r>
            <a:r>
              <a:rPr lang="en-US" dirty="0">
                <a:effectLst/>
              </a:rPr>
              <a:t>... ese guardrail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construir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</a:t>
            </a:r>
            <a:r>
              <a:rPr lang="en-US" dirty="0">
                <a:effectLst/>
              </a:rPr>
              <a:t>. No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año</a:t>
            </a:r>
            <a:r>
              <a:rPr lang="en-US" dirty="0">
                <a:effectLst/>
              </a:rPr>
              <a:t>. No con un </a:t>
            </a:r>
            <a:r>
              <a:rPr lang="en-US" dirty="0" err="1">
                <a:effectLst/>
              </a:rPr>
              <a:t>presupuesto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. En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</a:t>
            </a:r>
            <a:r>
              <a:rPr lang="en-US" dirty="0">
                <a:effectLst/>
              </a:rPr>
              <a:t>."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Con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energía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creciente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Así</a:t>
            </a:r>
            <a:r>
              <a:rPr lang="en-US" dirty="0">
                <a:effectLst/>
              </a:rPr>
              <a:t> que mi </a:t>
            </a:r>
            <a:r>
              <a:rPr lang="en-US" dirty="0" err="1">
                <a:effectLst/>
              </a:rPr>
              <a:t>reto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uno de </a:t>
            </a:r>
            <a:r>
              <a:rPr lang="en-US" dirty="0" err="1">
                <a:effectLst/>
              </a:rPr>
              <a:t>ustedes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este</a:t>
            </a:r>
            <a:r>
              <a:rPr lang="en-US" dirty="0">
                <a:effectLst/>
              </a:rPr>
              <a:t>: la </a:t>
            </a:r>
            <a:r>
              <a:rPr lang="en-US" dirty="0" err="1">
                <a:effectLst/>
              </a:rPr>
              <a:t>próxima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hagan</a:t>
            </a:r>
            <a:r>
              <a:rPr lang="en-US" dirty="0">
                <a:effectLst/>
              </a:rPr>
              <a:t> un pull request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banco,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empresa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proyecto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pregúntense</a:t>
            </a:r>
            <a:r>
              <a:rPr lang="en-US" dirty="0">
                <a:effectLst/>
              </a:rPr>
              <a:t>: '¿</a:t>
            </a:r>
            <a:r>
              <a:rPr lang="en-US" dirty="0" err="1">
                <a:effectLst/>
              </a:rPr>
              <a:t>Cuántos</a:t>
            </a:r>
            <a:r>
              <a:rPr lang="en-US" dirty="0">
                <a:effectLst/>
              </a:rPr>
              <a:t> checks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ejecutaron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?' Si la </a:t>
            </a:r>
            <a:r>
              <a:rPr lang="en-US" dirty="0" err="1">
                <a:effectLst/>
              </a:rPr>
              <a:t>respuesta</a:t>
            </a:r>
            <a:r>
              <a:rPr lang="en-US" dirty="0">
                <a:effectLst/>
              </a:rPr>
              <a:t> es cero...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saben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dónde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empezar</a:t>
            </a:r>
            <a:r>
              <a:rPr lang="en-US" dirty="0">
                <a:effectLst/>
              </a:rPr>
              <a:t>."</a:t>
            </a:r>
          </a:p>
          <a:p>
            <a:br>
              <a:rPr lang="en-US" dirty="0"/>
            </a:br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35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2731099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"Gracias. El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público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ardops.dev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Estoy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preguntas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[MOVER: No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ir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directo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podio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Quedarse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centro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 Tomar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agua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tranquilamente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mientras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público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procesa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.]</a:t>
            </a:r>
            <a:b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</a:br>
            <a:b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</a:br>
            <a:b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</a:b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preguntas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</a:t>
            </a:r>
            <a:b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</a:br>
            <a:b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</a:b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Si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nadie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pregunta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inmediato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primeros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10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son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normales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):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Mientras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piensan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pregunta</a:t>
            </a:r>
            <a:r>
              <a:rPr lang="en-US" dirty="0">
                <a:effectLst/>
              </a:rPr>
              <a:t> que me </a:t>
            </a:r>
            <a:r>
              <a:rPr lang="en-US" dirty="0" err="1">
                <a:effectLst/>
              </a:rPr>
              <a:t>hacen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siempre</a:t>
            </a:r>
            <a:r>
              <a:rPr lang="en-US" dirty="0">
                <a:effectLst/>
              </a:rPr>
              <a:t> es: '¿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no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lento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de </a:t>
            </a:r>
            <a:r>
              <a:rPr lang="en-US" dirty="0" err="1">
                <a:effectLst/>
              </a:rPr>
              <a:t>desarrollo</a:t>
            </a:r>
            <a:r>
              <a:rPr lang="en-US" dirty="0">
                <a:effectLst/>
              </a:rPr>
              <a:t>?' </a:t>
            </a:r>
            <a:r>
              <a:rPr lang="en-US" dirty="0" err="1">
                <a:effectLst/>
              </a:rPr>
              <a:t>Déjenme</a:t>
            </a:r>
            <a:r>
              <a:rPr lang="en-US" dirty="0">
                <a:effectLst/>
              </a:rPr>
              <a:t> responder </a:t>
            </a:r>
            <a:r>
              <a:rPr lang="en-US" dirty="0" err="1">
                <a:effectLst/>
              </a:rPr>
              <a:t>esa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..."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[Dar la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respuesta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preparada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ver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sección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5.2]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Planted questions (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pedir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a un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colega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que las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haga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hay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silencio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):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"¿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Cómo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se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maneja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cuando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tienes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APIs legacy que no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tienen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spec?"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"¿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reemplaza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equipo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seguridad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"¿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Cuánto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tiempo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toma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implementar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desde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cero?"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36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1830326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5DA5C-9688-5188-DF1A-15AF61CB6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62AF5-42AF-6306-374E-DE7B37AC6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AE26E-33F7-D818-111D-86D2168DC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700Credit (2025)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API sin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validación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IDs, 5.8M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registros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expuestos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Capital One (2019)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SSRF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AWS, 100M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registros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Optus Australia (2022)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API sin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autenticación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expuso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10M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registros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T-Mobile (2023)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API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explotada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37M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cuentas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CR" dirty="0"/>
          </a:p>
          <a:p>
            <a:pPr algn="l"/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Preguntas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sobre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viabilidad</a:t>
            </a:r>
            <a:endParaRPr lang="en-US" b="1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no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hace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más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lento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desarrollo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"Al </a:t>
            </a:r>
            <a:r>
              <a:rPr lang="en-US" dirty="0" err="1">
                <a:effectLst/>
              </a:rPr>
              <a:t>contrario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Detectar</a:t>
            </a:r>
            <a:r>
              <a:rPr lang="en-US" dirty="0">
                <a:effectLst/>
              </a:rPr>
              <a:t> un bug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un PR </a:t>
            </a:r>
            <a:r>
              <a:rPr lang="en-US" dirty="0" err="1">
                <a:effectLst/>
              </a:rPr>
              <a:t>toma</a:t>
            </a:r>
            <a:r>
              <a:rPr lang="en-US" dirty="0">
                <a:effectLst/>
              </a:rPr>
              <a:t> 5 </a:t>
            </a:r>
            <a:r>
              <a:rPr lang="en-US" dirty="0" err="1">
                <a:effectLst/>
              </a:rPr>
              <a:t>minutos</a:t>
            </a:r>
            <a:r>
              <a:rPr lang="en-US" dirty="0">
                <a:effectLst/>
              </a:rPr>
              <a:t> de fix. </a:t>
            </a:r>
            <a:r>
              <a:rPr lang="en-US" dirty="0" err="1">
                <a:effectLst/>
              </a:rPr>
              <a:t>Detectarlo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semanas</a:t>
            </a:r>
            <a:r>
              <a:rPr lang="en-US" dirty="0">
                <a:effectLst/>
              </a:rPr>
              <a:t> de incident response, patches de </a:t>
            </a:r>
            <a:r>
              <a:rPr lang="en-US" dirty="0" err="1">
                <a:effectLst/>
              </a:rPr>
              <a:t>emergencia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potencialmente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daños</a:t>
            </a:r>
            <a:r>
              <a:rPr lang="en-US" dirty="0">
                <a:effectLst/>
              </a:rPr>
              <a:t>. El pipeline </a:t>
            </a:r>
            <a:r>
              <a:rPr lang="en-US" dirty="0" err="1">
                <a:effectLst/>
              </a:rPr>
              <a:t>agrega</a:t>
            </a:r>
            <a:r>
              <a:rPr lang="en-US" dirty="0">
                <a:effectLst/>
              </a:rPr>
              <a:t> entre 3 y 5 </a:t>
            </a:r>
            <a:r>
              <a:rPr lang="en-US" dirty="0" err="1">
                <a:effectLst/>
              </a:rPr>
              <a:t>minutos</a:t>
            </a:r>
            <a:r>
              <a:rPr lang="en-US" dirty="0">
                <a:effectLst/>
              </a:rPr>
              <a:t> al CI.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nada </a:t>
            </a:r>
            <a:r>
              <a:rPr lang="en-US" dirty="0" err="1">
                <a:effectLst/>
              </a:rPr>
              <a:t>comparado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costo</a:t>
            </a:r>
            <a:r>
              <a:rPr lang="en-US" dirty="0">
                <a:effectLst/>
              </a:rPr>
              <a:t> de un breach."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P2: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Cómo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convenzo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a mi jefe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invertir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"Tres </a:t>
            </a:r>
            <a:r>
              <a:rPr lang="en-US" dirty="0" err="1">
                <a:effectLst/>
              </a:rPr>
              <a:t>argumentos</a:t>
            </a:r>
            <a:r>
              <a:rPr lang="en-US" dirty="0">
                <a:effectLst/>
              </a:rPr>
              <a:t>. Uno: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promedio</a:t>
            </a:r>
            <a:r>
              <a:rPr lang="en-US" dirty="0">
                <a:effectLst/>
              </a:rPr>
              <a:t> de un breach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banca es $9.36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. Dos: las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usamos</a:t>
            </a:r>
            <a:r>
              <a:rPr lang="en-US" dirty="0">
                <a:effectLst/>
              </a:rPr>
              <a:t> son open source —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costo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implementación</a:t>
            </a:r>
            <a:r>
              <a:rPr lang="en-US" dirty="0">
                <a:effectLst/>
              </a:rPr>
              <a:t>, no </a:t>
            </a:r>
            <a:r>
              <a:rPr lang="en-US" dirty="0" err="1">
                <a:effectLst/>
              </a:rPr>
              <a:t>licencias</a:t>
            </a:r>
            <a:r>
              <a:rPr lang="en-US" dirty="0">
                <a:effectLst/>
              </a:rPr>
              <a:t>. Y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: con la </a:t>
            </a:r>
            <a:r>
              <a:rPr lang="en-US" dirty="0" err="1">
                <a:effectLst/>
              </a:rPr>
              <a:t>nueva</a:t>
            </a:r>
            <a:r>
              <a:rPr lang="en-US" dirty="0">
                <a:effectLst/>
              </a:rPr>
              <a:t> ley de </a:t>
            </a:r>
            <a:r>
              <a:rPr lang="en-US" dirty="0" err="1">
                <a:effectLst/>
              </a:rPr>
              <a:t>responsabilidad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Costa Rica, no </a:t>
            </a:r>
            <a:r>
              <a:rPr lang="en-US" dirty="0" err="1">
                <a:effectLst/>
              </a:rPr>
              <a:t>implementar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un </a:t>
            </a:r>
            <a:r>
              <a:rPr lang="en-US" dirty="0" err="1">
                <a:effectLst/>
              </a:rPr>
              <a:t>riesgo</a:t>
            </a:r>
            <a:r>
              <a:rPr lang="en-US" dirty="0">
                <a:effectLst/>
              </a:rPr>
              <a:t> legal </a:t>
            </a:r>
            <a:r>
              <a:rPr lang="en-US" dirty="0" err="1">
                <a:effectLst/>
              </a:rPr>
              <a:t>directo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P3: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Cuánto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tiempo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toma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implementar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desde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cero?"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"Un pipeline </a:t>
            </a:r>
            <a:r>
              <a:rPr lang="en-US" dirty="0" err="1">
                <a:effectLst/>
              </a:rPr>
              <a:t>básico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mostré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funcionando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</a:t>
            </a:r>
            <a:r>
              <a:rPr lang="en-US" dirty="0">
                <a:effectLst/>
              </a:rPr>
              <a:t>. Spectral y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configuran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un día. ZAP </a:t>
            </a:r>
            <a:r>
              <a:rPr lang="en-US" dirty="0" err="1">
                <a:effectLst/>
              </a:rPr>
              <a:t>toma</a:t>
            </a:r>
            <a:r>
              <a:rPr lang="en-US" dirty="0">
                <a:effectLst/>
              </a:rPr>
              <a:t> un poco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. El </a:t>
            </a:r>
            <a:r>
              <a:rPr lang="en-US" dirty="0" err="1">
                <a:effectLst/>
              </a:rPr>
              <a:t>refinamiento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custom y la </a:t>
            </a:r>
            <a:r>
              <a:rPr lang="en-US" dirty="0" err="1">
                <a:effectLst/>
              </a:rPr>
              <a:t>eliminación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falsos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positivos</a:t>
            </a:r>
            <a:r>
              <a:rPr lang="en-US" dirty="0">
                <a:effectLst/>
              </a:rPr>
              <a:t> es un </a:t>
            </a:r>
            <a:r>
              <a:rPr lang="en-US" dirty="0" err="1">
                <a:effectLst/>
              </a:rPr>
              <a:t>proceso</a:t>
            </a:r>
            <a:r>
              <a:rPr lang="en-US" dirty="0">
                <a:effectLst/>
              </a:rPr>
              <a:t> continuo, </a:t>
            </a:r>
            <a:r>
              <a:rPr lang="en-US" dirty="0" err="1">
                <a:effectLst/>
              </a:rPr>
              <a:t>pero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primer valor se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días."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P4: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Cuánto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cuesta?"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"Las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core son </a:t>
            </a:r>
            <a:r>
              <a:rPr lang="en-US" dirty="0" err="1">
                <a:effectLst/>
              </a:rPr>
              <a:t>gratuitas</a:t>
            </a:r>
            <a:r>
              <a:rPr lang="en-US" dirty="0">
                <a:effectLst/>
              </a:rPr>
              <a:t>: Spectral,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Gitleaks</a:t>
            </a:r>
            <a:r>
              <a:rPr lang="en-US" dirty="0">
                <a:effectLst/>
              </a:rPr>
              <a:t>, OWASP ZAP, </a:t>
            </a:r>
            <a:r>
              <a:rPr lang="en-US" dirty="0" err="1">
                <a:effectLst/>
              </a:rPr>
              <a:t>npm</a:t>
            </a:r>
            <a:r>
              <a:rPr lang="en-US" dirty="0">
                <a:effectLst/>
              </a:rPr>
              <a:t> audit. GitHub Actions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2,000 </a:t>
            </a:r>
            <a:r>
              <a:rPr lang="en-US" dirty="0" err="1">
                <a:effectLst/>
              </a:rPr>
              <a:t>minutos</a:t>
            </a:r>
            <a:r>
              <a:rPr lang="en-US" dirty="0">
                <a:effectLst/>
              </a:rPr>
              <a:t> gratis al </a:t>
            </a:r>
            <a:r>
              <a:rPr lang="en-US" dirty="0" err="1">
                <a:effectLst/>
              </a:rPr>
              <a:t>mes</a:t>
            </a:r>
            <a:r>
              <a:rPr lang="en-US" dirty="0">
                <a:effectLst/>
              </a:rPr>
              <a:t> para repos </a:t>
            </a:r>
            <a:r>
              <a:rPr lang="en-US" dirty="0" err="1">
                <a:effectLst/>
              </a:rPr>
              <a:t>públicos</a:t>
            </a:r>
            <a:r>
              <a:rPr lang="en-US" dirty="0">
                <a:effectLst/>
              </a:rPr>
              <a:t>. Lo </a:t>
            </a:r>
            <a:r>
              <a:rPr lang="en-US" dirty="0" err="1">
                <a:effectLst/>
              </a:rPr>
              <a:t>único</a:t>
            </a:r>
            <a:r>
              <a:rPr lang="en-US" dirty="0">
                <a:effectLst/>
              </a:rPr>
              <a:t> que cuesta 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equipo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configurarlo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Preguntas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técnicas</a:t>
            </a:r>
            <a:endParaRPr lang="en-US" b="1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P5: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pasa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con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falsos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positivos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Existen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especialmente</a:t>
            </a:r>
            <a:r>
              <a:rPr lang="en-US" dirty="0">
                <a:effectLst/>
              </a:rPr>
              <a:t> con ZAP. La clave es dos </a:t>
            </a:r>
            <a:r>
              <a:rPr lang="en-US" dirty="0" err="1">
                <a:effectLst/>
              </a:rPr>
              <a:t>cosas</a:t>
            </a:r>
            <a:r>
              <a:rPr lang="en-US" dirty="0">
                <a:effectLst/>
              </a:rPr>
              <a:t>: primero, </a:t>
            </a:r>
            <a:r>
              <a:rPr lang="en-US" dirty="0" err="1">
                <a:effectLst/>
              </a:rPr>
              <a:t>configurar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archivos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ignorar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verificaste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manualmente</a:t>
            </a:r>
            <a:r>
              <a:rPr lang="en-US" dirty="0">
                <a:effectLst/>
              </a:rPr>
              <a:t>. Segundo, </a:t>
            </a:r>
            <a:r>
              <a:rPr lang="en-US" dirty="0" err="1">
                <a:effectLst/>
              </a:rPr>
              <a:t>empezar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severidad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alta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crítica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solamente</a:t>
            </a:r>
            <a:r>
              <a:rPr lang="en-US" dirty="0">
                <a:effectLst/>
              </a:rPr>
              <a:t>. Los warnings se van </a:t>
            </a:r>
            <a:r>
              <a:rPr lang="en-US" dirty="0" err="1">
                <a:effectLst/>
              </a:rPr>
              <a:t>afinando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. Es </a:t>
            </a:r>
            <a:r>
              <a:rPr lang="en-US" dirty="0" err="1">
                <a:effectLst/>
              </a:rPr>
              <a:t>mejor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algunos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falsos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positivos</a:t>
            </a:r>
            <a:r>
              <a:rPr lang="en-US" dirty="0">
                <a:effectLst/>
              </a:rPr>
              <a:t> que cero </a:t>
            </a:r>
            <a:r>
              <a:rPr lang="en-US" dirty="0" err="1">
                <a:effectLst/>
              </a:rPr>
              <a:t>cobertura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P6: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reemplaza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al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equipo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seguridad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"No.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automatiza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80% de las </a:t>
            </a:r>
            <a:r>
              <a:rPr lang="en-US" dirty="0" err="1">
                <a:effectLst/>
              </a:rPr>
              <a:t>verificaciones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repetitivas</a:t>
            </a:r>
            <a:r>
              <a:rPr lang="en-US" dirty="0">
                <a:effectLst/>
              </a:rPr>
              <a:t>. El </a:t>
            </a:r>
            <a:r>
              <a:rPr lang="en-US" dirty="0" err="1">
                <a:effectLst/>
              </a:rPr>
              <a:t>equipo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se libera para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realmente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importa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modelado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amenazas</a:t>
            </a:r>
            <a:r>
              <a:rPr lang="en-US" dirty="0">
                <a:effectLst/>
              </a:rPr>
              <a:t>, penetration testing de </a:t>
            </a:r>
            <a:r>
              <a:rPr lang="en-US" dirty="0" err="1">
                <a:effectLst/>
              </a:rPr>
              <a:t>lógica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negocio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arquitectura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Cosas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ningún</a:t>
            </a:r>
            <a:r>
              <a:rPr lang="en-US" dirty="0">
                <a:effectLst/>
              </a:rPr>
              <a:t> pipeline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P7: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Cómo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escala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microservicios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microservicio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propia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spec y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propio</a:t>
            </a:r>
            <a:r>
              <a:rPr lang="en-US" dirty="0">
                <a:effectLst/>
              </a:rPr>
              <a:t> pipeline. 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mismo</a:t>
            </a:r>
            <a:r>
              <a:rPr lang="en-US" dirty="0">
                <a:effectLst/>
              </a:rPr>
              <a:t> workflow </a:t>
            </a:r>
            <a:r>
              <a:rPr lang="en-US" dirty="0" err="1">
                <a:effectLst/>
              </a:rPr>
              <a:t>replicado</a:t>
            </a:r>
            <a:r>
              <a:rPr lang="en-US" dirty="0">
                <a:effectLst/>
              </a:rPr>
              <a:t> N </a:t>
            </a:r>
            <a:r>
              <a:rPr lang="en-US" dirty="0" err="1">
                <a:effectLst/>
              </a:rPr>
              <a:t>veces</a:t>
            </a:r>
            <a:r>
              <a:rPr lang="en-US" dirty="0">
                <a:effectLst/>
              </a:rPr>
              <a:t>. De </a:t>
            </a:r>
            <a:r>
              <a:rPr lang="en-US" dirty="0" err="1">
                <a:effectLst/>
              </a:rPr>
              <a:t>hecho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enfoque</a:t>
            </a:r>
            <a:r>
              <a:rPr lang="en-US" dirty="0">
                <a:effectLst/>
              </a:rPr>
              <a:t> spec-driven </a:t>
            </a:r>
            <a:r>
              <a:rPr lang="en-US" dirty="0" err="1">
                <a:effectLst/>
              </a:rPr>
              <a:t>escala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mejor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manual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servicio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autocontiene</a:t>
            </a:r>
            <a:r>
              <a:rPr lang="en-US" dirty="0">
                <a:effectLst/>
              </a:rPr>
              <a:t>.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crear</a:t>
            </a:r>
            <a:r>
              <a:rPr lang="en-US" dirty="0">
                <a:effectLst/>
              </a:rPr>
              <a:t> un template de GitHub Actions </a:t>
            </a:r>
            <a:r>
              <a:rPr lang="en-US" dirty="0" err="1">
                <a:effectLst/>
              </a:rPr>
              <a:t>reutilizable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P8: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pasa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con APIs legacy que no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tienen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spec?"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problema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común</a:t>
            </a:r>
            <a:r>
              <a:rPr lang="en-US" dirty="0">
                <a:effectLst/>
              </a:rPr>
              <a:t>. Hay dos </a:t>
            </a:r>
            <a:r>
              <a:rPr lang="en-US" dirty="0" err="1">
                <a:effectLst/>
              </a:rPr>
              <a:t>caminos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generar</a:t>
            </a:r>
            <a:r>
              <a:rPr lang="en-US" dirty="0">
                <a:effectLst/>
              </a:rPr>
              <a:t> la spec </a:t>
            </a:r>
            <a:r>
              <a:rPr lang="en-US" dirty="0" err="1">
                <a:effectLst/>
              </a:rPr>
              <a:t>retrospectivamente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desde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StackHawk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usan</a:t>
            </a:r>
            <a:r>
              <a:rPr lang="en-US" dirty="0">
                <a:effectLst/>
              </a:rPr>
              <a:t> LLMs para </a:t>
            </a:r>
            <a:r>
              <a:rPr lang="en-US" dirty="0" err="1">
                <a:effectLst/>
              </a:rPr>
              <a:t>generar</a:t>
            </a:r>
            <a:r>
              <a:rPr lang="en-US" dirty="0">
                <a:effectLst/>
              </a:rPr>
              <a:t> specs </a:t>
            </a:r>
            <a:r>
              <a:rPr lang="en-US" dirty="0" err="1">
                <a:effectLst/>
              </a:rPr>
              <a:t>desde</a:t>
            </a:r>
            <a:r>
              <a:rPr lang="en-US" dirty="0">
                <a:effectLst/>
              </a:rPr>
              <a:t> source code. O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enfoque</a:t>
            </a:r>
            <a:r>
              <a:rPr lang="en-US" dirty="0">
                <a:effectLst/>
              </a:rPr>
              <a:t> incremental: </a:t>
            </a:r>
            <a:r>
              <a:rPr lang="en-US" dirty="0" err="1">
                <a:effectLst/>
              </a:rPr>
              <a:t>empezar</a:t>
            </a:r>
            <a:r>
              <a:rPr lang="en-US" dirty="0">
                <a:effectLst/>
              </a:rPr>
              <a:t> con las APIs </a:t>
            </a:r>
            <a:r>
              <a:rPr lang="en-US" dirty="0" err="1">
                <a:effectLst/>
              </a:rPr>
              <a:t>nuevas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migrar</a:t>
            </a:r>
            <a:r>
              <a:rPr lang="en-US" dirty="0">
                <a:effectLst/>
              </a:rPr>
              <a:t> las legacy </a:t>
            </a:r>
            <a:r>
              <a:rPr lang="en-US" dirty="0" err="1">
                <a:effectLst/>
              </a:rPr>
              <a:t>gradualmente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P9: "¿ZAP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puede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probar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lógica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negocio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"No </a:t>
            </a:r>
            <a:r>
              <a:rPr lang="en-US" dirty="0" err="1">
                <a:effectLst/>
              </a:rPr>
              <a:t>completamente</a:t>
            </a:r>
            <a:r>
              <a:rPr lang="en-US" dirty="0">
                <a:effectLst/>
              </a:rPr>
              <a:t>. ZAP es </a:t>
            </a:r>
            <a:r>
              <a:rPr lang="en-US" dirty="0" err="1">
                <a:effectLst/>
              </a:rPr>
              <a:t>excelente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vulnerabilidades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técnicas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inyección</a:t>
            </a:r>
            <a:r>
              <a:rPr lang="en-US" dirty="0">
                <a:effectLst/>
              </a:rPr>
              <a:t>, auth </a:t>
            </a:r>
            <a:r>
              <a:rPr lang="en-US" dirty="0" err="1">
                <a:effectLst/>
              </a:rPr>
              <a:t>rota</a:t>
            </a:r>
            <a:r>
              <a:rPr lang="en-US" dirty="0">
                <a:effectLst/>
              </a:rPr>
              <a:t>, headers. Pero la </a:t>
            </a:r>
            <a:r>
              <a:rPr lang="en-US" dirty="0" err="1">
                <a:effectLst/>
              </a:rPr>
              <a:t>lógica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negocio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ejemplo</a:t>
            </a:r>
            <a:r>
              <a:rPr lang="en-US" dirty="0">
                <a:effectLst/>
              </a:rPr>
              <a:t>, ¿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usuario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transferir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límite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diario</a:t>
            </a:r>
            <a:r>
              <a:rPr lang="en-US" dirty="0">
                <a:effectLst/>
              </a:rPr>
              <a:t>? — </a:t>
            </a:r>
            <a:r>
              <a:rPr lang="en-US" dirty="0" err="1">
                <a:effectLst/>
              </a:rPr>
              <a:t>requiere</a:t>
            </a:r>
            <a:r>
              <a:rPr lang="en-US" dirty="0">
                <a:effectLst/>
              </a:rPr>
              <a:t> tests </a:t>
            </a:r>
            <a:r>
              <a:rPr lang="en-US" dirty="0" err="1">
                <a:effectLst/>
              </a:rPr>
              <a:t>funcionales</a:t>
            </a:r>
            <a:r>
              <a:rPr lang="en-US" dirty="0">
                <a:effectLst/>
              </a:rPr>
              <a:t> custom. El pipeline no </a:t>
            </a:r>
            <a:r>
              <a:rPr lang="en-US" dirty="0" err="1">
                <a:effectLst/>
              </a:rPr>
              <a:t>reemplaza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esos</a:t>
            </a:r>
            <a:r>
              <a:rPr lang="en-US" dirty="0">
                <a:effectLst/>
              </a:rPr>
              <a:t> tests,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complementa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P10: "¿Por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GitHub y no GitLab/Azure DevOps?"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concepto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aplica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igual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cualquier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plataforma</a:t>
            </a:r>
            <a:r>
              <a:rPr lang="en-US" dirty="0">
                <a:effectLst/>
              </a:rPr>
              <a:t> CI/CD. </a:t>
            </a:r>
            <a:r>
              <a:rPr lang="en-US" dirty="0" err="1">
                <a:effectLst/>
              </a:rPr>
              <a:t>Usé</a:t>
            </a:r>
            <a:r>
              <a:rPr lang="en-US" dirty="0">
                <a:effectLst/>
              </a:rPr>
              <a:t> GitHub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popular y las Actions son </a:t>
            </a:r>
            <a:r>
              <a:rPr lang="en-US" dirty="0" err="1">
                <a:effectLst/>
              </a:rPr>
              <a:t>muy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accesibles</a:t>
            </a:r>
            <a:r>
              <a:rPr lang="en-US" dirty="0">
                <a:effectLst/>
              </a:rPr>
              <a:t>. Pero Spectral,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, ZAP y </a:t>
            </a:r>
            <a:r>
              <a:rPr lang="en-US" dirty="0" err="1">
                <a:effectLst/>
              </a:rPr>
              <a:t>Gitleaks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funcionan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igual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GitLab CI, Azure Pipelines, o Jenkins."</a:t>
            </a:r>
          </a:p>
          <a:p>
            <a:pPr algn="l"/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Preguntas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sobre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contexto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bancario</a:t>
            </a:r>
            <a:endParaRPr lang="en-US" b="1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P11: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Cómo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manejo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datos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producción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tests?"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Nunca</a:t>
            </a:r>
            <a:r>
              <a:rPr lang="en-US" dirty="0">
                <a:effectLst/>
              </a:rPr>
              <a:t>. Los tests </a:t>
            </a:r>
            <a:r>
              <a:rPr lang="en-US" dirty="0" err="1">
                <a:effectLst/>
              </a:rPr>
              <a:t>usan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mock o </a:t>
            </a:r>
            <a:r>
              <a:rPr lang="en-US" dirty="0" err="1">
                <a:effectLst/>
              </a:rPr>
              <a:t>sintéticos</a:t>
            </a:r>
            <a:r>
              <a:rPr lang="en-US" dirty="0">
                <a:effectLst/>
              </a:rPr>
              <a:t>. El pipeline </a:t>
            </a:r>
            <a:r>
              <a:rPr lang="en-US" dirty="0" err="1">
                <a:effectLst/>
              </a:rPr>
              <a:t>corre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entorno</a:t>
            </a:r>
            <a:r>
              <a:rPr lang="en-US" dirty="0">
                <a:effectLst/>
              </a:rPr>
              <a:t> de CI, </a:t>
            </a:r>
            <a:r>
              <a:rPr lang="en-US" dirty="0" err="1">
                <a:effectLst/>
              </a:rPr>
              <a:t>nunca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 ZAP </a:t>
            </a:r>
            <a:r>
              <a:rPr lang="en-US" dirty="0" err="1">
                <a:effectLst/>
              </a:rPr>
              <a:t>ataca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instancia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efímera</a:t>
            </a:r>
            <a:r>
              <a:rPr lang="en-US" dirty="0">
                <a:effectLst/>
              </a:rPr>
              <a:t> de la API con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ficticios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compatible con las </a:t>
            </a:r>
            <a:r>
              <a:rPr lang="en-US" dirty="0" err="1">
                <a:effectLst/>
              </a:rPr>
              <a:t>regulaciones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protección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P12: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cumple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con PCI-DSS?"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Ayuda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significativamente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requisitos</a:t>
            </a:r>
            <a:r>
              <a:rPr lang="en-US" dirty="0">
                <a:effectLst/>
              </a:rPr>
              <a:t> 6 y 11 de PCI-DSS 4.0: </a:t>
            </a:r>
            <a:r>
              <a:rPr lang="en-US" dirty="0" err="1">
                <a:effectLst/>
              </a:rPr>
              <a:t>desarrollo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seguro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pruebas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regulares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PR se </a:t>
            </a:r>
            <a:r>
              <a:rPr lang="en-US" dirty="0" err="1">
                <a:effectLst/>
              </a:rPr>
              <a:t>convierte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 de que se </a:t>
            </a:r>
            <a:r>
              <a:rPr lang="en-US" dirty="0" err="1">
                <a:effectLst/>
              </a:rPr>
              <a:t>ejecutaron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controles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No es compliance </a:t>
            </a:r>
            <a:r>
              <a:rPr lang="en-US" dirty="0" err="1">
                <a:effectLst/>
              </a:rPr>
              <a:t>completo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sí</a:t>
            </a:r>
            <a:r>
              <a:rPr lang="en-US" dirty="0">
                <a:effectLst/>
              </a:rPr>
              <a:t> solo, </a:t>
            </a:r>
            <a:r>
              <a:rPr lang="en-US" dirty="0" err="1">
                <a:effectLst/>
              </a:rPr>
              <a:t>pero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pieza</a:t>
            </a:r>
            <a:r>
              <a:rPr lang="en-US" dirty="0">
                <a:effectLst/>
              </a:rPr>
              <a:t> fundamental."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P13: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pasa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un auditor de SUGEF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pide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evidencia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"Le </a:t>
            </a:r>
            <a:r>
              <a:rPr lang="en-US" dirty="0" err="1">
                <a:effectLst/>
              </a:rPr>
              <a:t>muestro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pull request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6 checks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ejecutados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reportes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generados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quién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aprobó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merge, y la </a:t>
            </a:r>
            <a:r>
              <a:rPr lang="en-US" dirty="0" err="1">
                <a:effectLst/>
              </a:rPr>
              <a:t>fecha</a:t>
            </a:r>
            <a:r>
              <a:rPr lang="en-US" dirty="0">
                <a:effectLst/>
              </a:rPr>
              <a:t> exacta. Es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 de la que </a:t>
            </a:r>
            <a:r>
              <a:rPr lang="en-US" dirty="0" err="1">
                <a:effectLst/>
              </a:rPr>
              <a:t>cualquier</a:t>
            </a:r>
            <a:r>
              <a:rPr lang="en-US" dirty="0">
                <a:effectLst/>
              </a:rPr>
              <a:t> auditor </a:t>
            </a:r>
            <a:r>
              <a:rPr lang="en-US" dirty="0" err="1">
                <a:effectLst/>
              </a:rPr>
              <a:t>espera</a:t>
            </a:r>
            <a:r>
              <a:rPr lang="en-US" dirty="0">
                <a:effectLst/>
              </a:rPr>
              <a:t> ver."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P14: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funciona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para APIs de SINPE 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sistemas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pago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concepto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aplica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cualquier</a:t>
            </a:r>
            <a:r>
              <a:rPr lang="en-US" dirty="0">
                <a:effectLst/>
              </a:rPr>
              <a:t> API REST con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spec. Para SINPE </a:t>
            </a:r>
            <a:r>
              <a:rPr lang="en-US" dirty="0" err="1">
                <a:effectLst/>
              </a:rPr>
              <a:t>específicamente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habría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crear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Spectral custom que </a:t>
            </a:r>
            <a:r>
              <a:rPr lang="en-US" dirty="0" err="1">
                <a:effectLst/>
              </a:rPr>
              <a:t>validen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campos y </a:t>
            </a:r>
            <a:r>
              <a:rPr lang="en-US" dirty="0" err="1">
                <a:effectLst/>
              </a:rPr>
              <a:t>formatos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específicos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protocolo</a:t>
            </a:r>
            <a:r>
              <a:rPr lang="en-US" dirty="0">
                <a:effectLst/>
              </a:rPr>
              <a:t>. Pero la </a:t>
            </a:r>
            <a:r>
              <a:rPr lang="en-US" dirty="0" err="1">
                <a:effectLst/>
              </a:rPr>
              <a:t>arquitectura</a:t>
            </a:r>
            <a:r>
              <a:rPr lang="en-US" dirty="0">
                <a:effectLst/>
              </a:rPr>
              <a:t> del pipeline es la </a:t>
            </a:r>
            <a:r>
              <a:rPr lang="en-US" dirty="0" err="1">
                <a:effectLst/>
              </a:rPr>
              <a:t>misma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P15: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pasa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con APIs que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usan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SOAP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vez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REST?"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"SOAP no </a:t>
            </a:r>
            <a:r>
              <a:rPr lang="en-US" dirty="0" err="1">
                <a:effectLst/>
              </a:rPr>
              <a:t>usa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usa</a:t>
            </a:r>
            <a:r>
              <a:rPr lang="en-US" dirty="0">
                <a:effectLst/>
              </a:rPr>
              <a:t> WSDL. Spectral no </a:t>
            </a:r>
            <a:r>
              <a:rPr lang="en-US" dirty="0" err="1">
                <a:effectLst/>
              </a:rPr>
              <a:t>aplica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directamente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pero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Gitleaks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npm</a:t>
            </a:r>
            <a:r>
              <a:rPr lang="en-US" dirty="0">
                <a:effectLst/>
              </a:rPr>
              <a:t> audit </a:t>
            </a:r>
            <a:r>
              <a:rPr lang="en-US" dirty="0" err="1">
                <a:effectLst/>
              </a:rPr>
              <a:t>sí</a:t>
            </a:r>
            <a:r>
              <a:rPr lang="en-US" dirty="0">
                <a:effectLst/>
              </a:rPr>
              <a:t>. ZAP </a:t>
            </a:r>
            <a:r>
              <a:rPr lang="en-US" dirty="0" err="1">
                <a:effectLst/>
              </a:rPr>
              <a:t>también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escanea</a:t>
            </a:r>
            <a:r>
              <a:rPr lang="en-US" dirty="0">
                <a:effectLst/>
              </a:rPr>
              <a:t> SOAP. El </a:t>
            </a:r>
            <a:r>
              <a:rPr lang="en-US" dirty="0" err="1">
                <a:effectLst/>
              </a:rPr>
              <a:t>enfoque</a:t>
            </a:r>
            <a:r>
              <a:rPr lang="en-US" dirty="0">
                <a:effectLst/>
              </a:rPr>
              <a:t> spec-driven es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natural con REST/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pero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principios</a:t>
            </a:r>
            <a:r>
              <a:rPr lang="en-US" dirty="0">
                <a:effectLst/>
              </a:rPr>
              <a:t> de security-as-code </a:t>
            </a:r>
            <a:r>
              <a:rPr lang="en-US" dirty="0" err="1">
                <a:effectLst/>
              </a:rPr>
              <a:t>aplican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igual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Preguntas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provocadoras</a:t>
            </a:r>
            <a:endParaRPr lang="en-US" b="1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P16: "¿No es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security theater? 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Realmente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detecta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vulnerabilidades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serias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Acaban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ver</a:t>
            </a:r>
            <a:r>
              <a:rPr lang="en-US" dirty="0">
                <a:effectLst/>
              </a:rPr>
              <a:t> la demo: </a:t>
            </a:r>
            <a:r>
              <a:rPr lang="en-US" dirty="0" err="1">
                <a:effectLst/>
              </a:rPr>
              <a:t>detectó</a:t>
            </a:r>
            <a:r>
              <a:rPr lang="en-US" dirty="0">
                <a:effectLst/>
              </a:rPr>
              <a:t> un endpoint sin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exponía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personales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pasó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breach de 700Credit que </a:t>
            </a:r>
            <a:r>
              <a:rPr lang="en-US" dirty="0" err="1">
                <a:effectLst/>
              </a:rPr>
              <a:t>costó</a:t>
            </a:r>
            <a:r>
              <a:rPr lang="en-US" dirty="0">
                <a:effectLst/>
              </a:rPr>
              <a:t> 5.8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registros</a:t>
            </a:r>
            <a:r>
              <a:rPr lang="en-US" dirty="0">
                <a:effectLst/>
              </a:rPr>
              <a:t>. No es theater — es la </a:t>
            </a:r>
            <a:r>
              <a:rPr lang="en-US" dirty="0" err="1">
                <a:effectLst/>
              </a:rPr>
              <a:t>primera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línea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defensa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Obvio</a:t>
            </a:r>
            <a:r>
              <a:rPr lang="en-US" dirty="0">
                <a:effectLst/>
              </a:rPr>
              <a:t> no </a:t>
            </a:r>
            <a:r>
              <a:rPr lang="en-US" dirty="0" err="1">
                <a:effectLst/>
              </a:rPr>
              <a:t>atrapa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ninguna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herramienta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. Pero </a:t>
            </a:r>
            <a:r>
              <a:rPr lang="en-US" dirty="0" err="1">
                <a:effectLst/>
              </a:rPr>
              <a:t>atrapa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80% de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errores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comunes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P17: "¿Para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automatizar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puedo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contratar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un pen tester?"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"Un pen test se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al </a:t>
            </a:r>
            <a:r>
              <a:rPr lang="en-US" dirty="0" err="1">
                <a:effectLst/>
              </a:rPr>
              <a:t>trimestre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tenés</a:t>
            </a:r>
            <a:r>
              <a:rPr lang="en-US" dirty="0">
                <a:effectLst/>
              </a:rPr>
              <a:t> suerte. Tu </a:t>
            </a:r>
            <a:r>
              <a:rPr lang="en-US" dirty="0" err="1">
                <a:effectLst/>
              </a:rPr>
              <a:t>equipo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deploys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</a:t>
            </a:r>
            <a:r>
              <a:rPr lang="en-US" dirty="0">
                <a:effectLst/>
              </a:rPr>
              <a:t>. ¿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pasa</a:t>
            </a:r>
            <a:r>
              <a:rPr lang="en-US" dirty="0">
                <a:effectLst/>
              </a:rPr>
              <a:t> con las 12 </a:t>
            </a:r>
            <a:r>
              <a:rPr lang="en-US" dirty="0" err="1">
                <a:effectLst/>
              </a:rPr>
              <a:t>semanas</a:t>
            </a:r>
            <a:r>
              <a:rPr lang="en-US" dirty="0">
                <a:effectLst/>
              </a:rPr>
              <a:t> entre pen tests? El pipeline no </a:t>
            </a:r>
            <a:r>
              <a:rPr lang="en-US" dirty="0" err="1">
                <a:effectLst/>
              </a:rPr>
              <a:t>reemplaza</a:t>
            </a:r>
            <a:r>
              <a:rPr lang="en-US" dirty="0">
                <a:effectLst/>
              </a:rPr>
              <a:t> al pen tester — </a:t>
            </a:r>
            <a:r>
              <a:rPr lang="en-US" dirty="0" err="1">
                <a:effectLst/>
              </a:rPr>
              <a:t>cubre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espacio</a:t>
            </a:r>
            <a:r>
              <a:rPr lang="en-US" dirty="0">
                <a:effectLst/>
              </a:rPr>
              <a:t> entre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pen test."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P18: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no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crea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una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falsa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sensación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seguridad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"Solo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pensás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es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necesitás</a:t>
            </a:r>
            <a:r>
              <a:rPr lang="en-US" dirty="0">
                <a:effectLst/>
              </a:rPr>
              <a:t>. Es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capa</a:t>
            </a:r>
            <a:r>
              <a:rPr lang="en-US" dirty="0">
                <a:effectLst/>
              </a:rPr>
              <a:t>. Se </a:t>
            </a:r>
            <a:r>
              <a:rPr lang="en-US" dirty="0" err="1">
                <a:effectLst/>
              </a:rPr>
              <a:t>complementa</a:t>
            </a:r>
            <a:r>
              <a:rPr lang="en-US" dirty="0">
                <a:effectLst/>
              </a:rPr>
              <a:t> con pen testing manual, threat modeling, training al </a:t>
            </a:r>
            <a:r>
              <a:rPr lang="en-US" dirty="0" err="1">
                <a:effectLst/>
              </a:rPr>
              <a:t>equipo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monitoreo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runtime. Pero es la </a:t>
            </a:r>
            <a:r>
              <a:rPr lang="en-US" dirty="0" err="1">
                <a:effectLst/>
              </a:rPr>
              <a:t>capa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falta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mayoría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organizaciones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P19: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pasa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cuando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GitHub se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cae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"Buena </a:t>
            </a:r>
            <a:r>
              <a:rPr lang="en-US" dirty="0" err="1">
                <a:effectLst/>
              </a:rPr>
              <a:t>pregunta</a:t>
            </a:r>
            <a:r>
              <a:rPr lang="en-US" dirty="0">
                <a:effectLst/>
              </a:rPr>
              <a:t>. El pipeline </a:t>
            </a:r>
            <a:r>
              <a:rPr lang="en-US" dirty="0" err="1">
                <a:effectLst/>
              </a:rPr>
              <a:t>depende</a:t>
            </a:r>
            <a:r>
              <a:rPr lang="en-US" dirty="0">
                <a:effectLst/>
              </a:rPr>
              <a:t> de GitHub Actions. Si GitHub se </a:t>
            </a:r>
            <a:r>
              <a:rPr lang="en-US" dirty="0" err="1">
                <a:effectLst/>
              </a:rPr>
              <a:t>cae</a:t>
            </a:r>
            <a:r>
              <a:rPr lang="en-US" dirty="0">
                <a:effectLst/>
              </a:rPr>
              <a:t>, no </a:t>
            </a:r>
            <a:r>
              <a:rPr lang="en-US" dirty="0" err="1">
                <a:effectLst/>
              </a:rPr>
              <a:t>podés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merge — que es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comportamiento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querés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no </a:t>
            </a:r>
            <a:r>
              <a:rPr lang="en-US" dirty="0" err="1">
                <a:effectLst/>
              </a:rPr>
              <a:t>puedo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verificar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, no </a:t>
            </a:r>
            <a:r>
              <a:rPr lang="en-US" dirty="0" err="1">
                <a:effectLst/>
              </a:rPr>
              <a:t>puedo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deployar</a:t>
            </a:r>
            <a:r>
              <a:rPr lang="en-US" dirty="0">
                <a:effectLst/>
              </a:rPr>
              <a:t>. Para </a:t>
            </a:r>
            <a:r>
              <a:rPr lang="en-US" dirty="0" err="1">
                <a:effectLst/>
              </a:rPr>
              <a:t>redundancia</a:t>
            </a:r>
            <a:r>
              <a:rPr lang="en-US" dirty="0">
                <a:effectLst/>
              </a:rPr>
              <a:t>,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correr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</a:t>
            </a:r>
            <a:r>
              <a:rPr lang="en-US" dirty="0" err="1">
                <a:effectLst/>
              </a:rPr>
              <a:t>localmente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también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P20: "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Yo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no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uso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Node.js, 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sirve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para mi stack?"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"El pipeline es </a:t>
            </a:r>
            <a:r>
              <a:rPr lang="en-US" dirty="0" err="1">
                <a:effectLst/>
              </a:rPr>
              <a:t>agnóstico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lenguaje</a:t>
            </a:r>
            <a:r>
              <a:rPr lang="en-US" dirty="0">
                <a:effectLst/>
              </a:rPr>
              <a:t>. Spectral </a:t>
            </a:r>
            <a:r>
              <a:rPr lang="en-US" dirty="0" err="1">
                <a:effectLst/>
              </a:rPr>
              <a:t>analiza</a:t>
            </a:r>
            <a:r>
              <a:rPr lang="en-US" dirty="0">
                <a:effectLst/>
              </a:rPr>
              <a:t> la spec, no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 ZAP </a:t>
            </a:r>
            <a:r>
              <a:rPr lang="en-US" dirty="0" err="1">
                <a:effectLst/>
              </a:rPr>
              <a:t>ataca</a:t>
            </a:r>
            <a:r>
              <a:rPr lang="en-US" dirty="0">
                <a:effectLst/>
              </a:rPr>
              <a:t> la API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runtime, no </a:t>
            </a:r>
            <a:r>
              <a:rPr lang="en-US" dirty="0" err="1">
                <a:effectLst/>
              </a:rPr>
              <a:t>importa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es Java, Python, Go o .NET.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para 30+ </a:t>
            </a:r>
            <a:r>
              <a:rPr lang="en-US" dirty="0" err="1">
                <a:effectLst/>
              </a:rPr>
              <a:t>lenguajes</a:t>
            </a:r>
            <a:r>
              <a:rPr lang="en-US" dirty="0">
                <a:effectLst/>
              </a:rPr>
              <a:t>. Solo </a:t>
            </a:r>
            <a:r>
              <a:rPr lang="en-US" dirty="0" err="1">
                <a:effectLst/>
              </a:rPr>
              <a:t>cambian</a:t>
            </a:r>
            <a:r>
              <a:rPr lang="en-US" dirty="0">
                <a:effectLst/>
              </a:rPr>
              <a:t> las </a:t>
            </a:r>
            <a:r>
              <a:rPr lang="en-US" dirty="0" err="1">
                <a:effectLst/>
              </a:rPr>
              <a:t>dependencias</a:t>
            </a:r>
            <a:r>
              <a:rPr lang="en-US" dirty="0">
                <a:effectLst/>
              </a:rPr>
              <a:t>, no la </a:t>
            </a:r>
            <a:r>
              <a:rPr lang="en-US" dirty="0" err="1">
                <a:effectLst/>
              </a:rPr>
              <a:t>arquitectura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Preguntas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extras (bonus)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P21: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Cómo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manejas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secrets rotation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pipeline?"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"Los secrets del pipeline </a:t>
            </a:r>
            <a:r>
              <a:rPr lang="en-US" dirty="0" err="1">
                <a:effectLst/>
              </a:rPr>
              <a:t>viven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GitHub Secrets, </a:t>
            </a:r>
            <a:r>
              <a:rPr lang="en-US" dirty="0" err="1">
                <a:effectLst/>
              </a:rPr>
              <a:t>nunca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 Para rotation: GitHub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integración</a:t>
            </a:r>
            <a:r>
              <a:rPr lang="en-US" dirty="0">
                <a:effectLst/>
              </a:rPr>
              <a:t> con Azure Key Vault y AWS Secrets Manager para </a:t>
            </a:r>
            <a:r>
              <a:rPr lang="en-US" dirty="0" err="1">
                <a:effectLst/>
              </a:rPr>
              <a:t>rotar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P22: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métricas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debería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trackear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"Cuatro: 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promedio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detección</a:t>
            </a:r>
            <a:r>
              <a:rPr lang="en-US" dirty="0">
                <a:effectLst/>
              </a:rPr>
              <a:t> (MTTD), </a:t>
            </a:r>
            <a:r>
              <a:rPr lang="en-US" dirty="0" err="1">
                <a:effectLst/>
              </a:rPr>
              <a:t>porcentaje</a:t>
            </a:r>
            <a:r>
              <a:rPr lang="en-US" dirty="0">
                <a:effectLst/>
              </a:rPr>
              <a:t> de PRs que </a:t>
            </a:r>
            <a:r>
              <a:rPr lang="en-US" dirty="0" err="1">
                <a:effectLst/>
              </a:rPr>
              <a:t>fallan</a:t>
            </a:r>
            <a:r>
              <a:rPr lang="en-US" dirty="0">
                <a:effectLst/>
              </a:rPr>
              <a:t> checks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número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vulnerabilidades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detectadas</a:t>
            </a:r>
            <a:r>
              <a:rPr lang="en-US" dirty="0">
                <a:effectLst/>
              </a:rPr>
              <a:t> antes de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 vs </a:t>
            </a:r>
            <a:r>
              <a:rPr lang="en-US" dirty="0" err="1">
                <a:effectLst/>
              </a:rPr>
              <a:t>después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cobertura</a:t>
            </a:r>
            <a:r>
              <a:rPr lang="en-US" dirty="0">
                <a:effectLst/>
              </a:rPr>
              <a:t> del pipeline </a:t>
            </a:r>
            <a:r>
              <a:rPr lang="en-US" dirty="0" err="1">
                <a:effectLst/>
              </a:rPr>
              <a:t>sobre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total de repos."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P23: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sigue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después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implementar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"Runtime protection. Una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tenés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pre-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siguiente</a:t>
            </a:r>
            <a:r>
              <a:rPr lang="en-US" dirty="0">
                <a:effectLst/>
              </a:rPr>
              <a:t> paso es </a:t>
            </a:r>
            <a:r>
              <a:rPr lang="en-US" dirty="0" err="1">
                <a:effectLst/>
              </a:rPr>
              <a:t>monitoreo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: API gateways con rate limiting, WAF, </a:t>
            </a:r>
            <a:r>
              <a:rPr lang="en-US" dirty="0" err="1">
                <a:effectLst/>
              </a:rPr>
              <a:t>detección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anomalías</a:t>
            </a:r>
            <a:r>
              <a:rPr lang="en-US" dirty="0">
                <a:effectLst/>
              </a:rPr>
              <a:t>. Y </a:t>
            </a:r>
            <a:r>
              <a:rPr lang="en-US" dirty="0" err="1">
                <a:effectLst/>
              </a:rPr>
              <a:t>eventualmente</a:t>
            </a:r>
            <a:r>
              <a:rPr lang="en-US" dirty="0">
                <a:effectLst/>
              </a:rPr>
              <a:t>, chaos engineering para </a:t>
            </a:r>
            <a:r>
              <a:rPr lang="en-US" dirty="0" err="1">
                <a:effectLst/>
              </a:rPr>
              <a:t>probar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resiliencia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1A040-F9B0-90A0-8629-F60FE0EF6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37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840584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C28E0244-0E8E-5B4E-B73C-B20C175253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30829" y="2851485"/>
            <a:ext cx="3519638" cy="885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400" b="0" i="0" spc="300">
                <a:solidFill>
                  <a:schemeClr val="bg1"/>
                </a:solidFill>
                <a:latin typeface="Futura Std Medium" panose="020B0502020204020303" pitchFamily="34" charset="0"/>
              </a:defRPr>
            </a:lvl1pPr>
          </a:lstStyle>
          <a:p>
            <a:pPr lvl="0"/>
            <a:r>
              <a:rPr lang="es-ES" dirty="0"/>
              <a:t>HAGA CLIC PARA </a:t>
            </a:r>
          </a:p>
          <a:p>
            <a:pPr lvl="0"/>
            <a:r>
              <a:rPr lang="es-ES" dirty="0"/>
              <a:t>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446630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FE71A00-DC51-9948-A1C2-6867334C8D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0A298AEB-6C9C-9444-9D47-68BC4E3F42B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30829" y="2466473"/>
            <a:ext cx="3519638" cy="1412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400" b="0" i="0" spc="300">
                <a:solidFill>
                  <a:schemeClr val="bg1"/>
                </a:solidFill>
                <a:latin typeface="Futura Std Medium" panose="020B0502020204020303" pitchFamily="34" charset="0"/>
              </a:defRPr>
            </a:lvl1pPr>
          </a:lstStyle>
          <a:p>
            <a:pPr lvl="0"/>
            <a:r>
              <a:rPr lang="es-ES" dirty="0"/>
              <a:t>HAGA CLIC PARA </a:t>
            </a:r>
          </a:p>
          <a:p>
            <a:pPr lvl="0"/>
            <a:r>
              <a:rPr lang="es-ES" dirty="0"/>
              <a:t>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4120366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7B9C070-39EE-6E4A-8B04-16CA20D55A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51787E66-C9CE-2D42-A5B6-4E79A959F43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61874" y="1109312"/>
            <a:ext cx="4668252" cy="8855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sz="2400" b="0" i="0" spc="300">
                <a:solidFill>
                  <a:schemeClr val="bg1"/>
                </a:solidFill>
                <a:latin typeface="Futura Std Book" panose="020B0502020204020303" pitchFamily="34" charset="0"/>
              </a:defRPr>
            </a:lvl1pPr>
          </a:lstStyle>
          <a:p>
            <a:pPr lvl="0"/>
            <a:r>
              <a:rPr lang="es-ES" dirty="0"/>
              <a:t>HAGA CLIC PARA </a:t>
            </a:r>
          </a:p>
          <a:p>
            <a:pPr lvl="0"/>
            <a:r>
              <a:rPr lang="es-ES" dirty="0"/>
              <a:t>MODIFICAR EL TEXTO</a:t>
            </a: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CA87E82D-7580-6840-BA53-7347D1FFE61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070860" y="2367815"/>
            <a:ext cx="6050281" cy="2387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Futura Std Medium" panose="020B0502020204020303" pitchFamily="34" charset="0"/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</a:t>
            </a:r>
            <a:r>
              <a:rPr lang="es-ES" dirty="0"/>
              <a:t> </a:t>
            </a:r>
            <a:r>
              <a:rPr lang="es-ES" dirty="0" err="1"/>
              <a:t>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7748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D04EF40-0CD4-E040-AAEF-03255B58AD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5A48F38A-2F3C-D94A-B62E-29DA94D8AD7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61874" y="1109312"/>
            <a:ext cx="4668252" cy="8855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sz="2400" b="0" i="0" spc="300">
                <a:solidFill>
                  <a:schemeClr val="tx1"/>
                </a:solidFill>
                <a:latin typeface="Futura Std Book" panose="020B0502020204020303" pitchFamily="34" charset="0"/>
              </a:defRPr>
            </a:lvl1pPr>
          </a:lstStyle>
          <a:p>
            <a:pPr lvl="0"/>
            <a:r>
              <a:rPr lang="es-ES" dirty="0"/>
              <a:t>HAGA CLIC PARA </a:t>
            </a:r>
          </a:p>
          <a:p>
            <a:pPr lvl="0"/>
            <a:r>
              <a:rPr lang="es-ES" dirty="0"/>
              <a:t>MODIFICAR EL TEXTO</a:t>
            </a: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3042F44D-5D4D-F143-8BF4-8EBDCC41C31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070860" y="2367815"/>
            <a:ext cx="6050281" cy="2387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sz="1400" b="0" i="0">
                <a:solidFill>
                  <a:schemeClr val="tx1"/>
                </a:solidFill>
                <a:latin typeface="Futura Std Medium" panose="020B0502020204020303" pitchFamily="34" charset="0"/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</a:t>
            </a:r>
            <a:r>
              <a:rPr lang="es-ES" dirty="0"/>
              <a:t> </a:t>
            </a:r>
            <a:r>
              <a:rPr lang="es-ES" dirty="0" err="1"/>
              <a:t>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536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043BB30F-893B-1C44-A23F-397E7BB252D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63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1" i="0" kern="1200">
          <a:solidFill>
            <a:schemeClr val="bg1"/>
          </a:solidFill>
          <a:latin typeface="Futura" panose="020B0602020204020303" pitchFamily="34" charset="-79"/>
          <a:ea typeface="+mn-ea"/>
          <a:cs typeface="Futura" panose="020B0602020204020303" pitchFamily="34" charset="-79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0870542-4D63-D549-B420-78BDF84B0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29" y="2851485"/>
            <a:ext cx="3519638" cy="885524"/>
          </a:xfrm>
        </p:spPr>
        <p:txBody>
          <a:bodyPr/>
          <a:lstStyle/>
          <a:p>
            <a:r>
              <a:rPr lang="es-CR" b="1" dirty="0"/>
              <a:t>SEGURIDAD COMO CÓDIGO</a:t>
            </a:r>
          </a:p>
        </p:txBody>
      </p:sp>
    </p:spTree>
    <p:extLst>
      <p:ext uri="{BB962C8B-B14F-4D97-AF65-F5344CB8AC3E}">
        <p14:creationId xmlns:p14="http://schemas.microsoft.com/office/powerpoint/2010/main" val="3814283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4095" y="2502099"/>
            <a:ext cx="5223810" cy="1412507"/>
          </a:xfrm>
        </p:spPr>
        <p:txBody>
          <a:bodyPr/>
          <a:lstStyle/>
          <a:p>
            <a:r>
              <a:rPr lang="es-CR" b="1" dirty="0"/>
              <a:t>Víctor Josué Ardón Rojas</a:t>
            </a:r>
          </a:p>
          <a:p>
            <a:r>
              <a:rPr lang="es-CR" dirty="0"/>
              <a:t>DevOps Engineer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2543476"/>
            <a:ext cx="4668252" cy="885524"/>
          </a:xfrm>
        </p:spPr>
        <p:txBody>
          <a:bodyPr anchor="b">
            <a:normAutofit/>
          </a:bodyPr>
          <a:lstStyle/>
          <a:p>
            <a:r>
              <a:rPr lang="es-CR" b="1" dirty="0"/>
              <a:t>¿Qué tan segura es tu API?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19469-0424-92EE-753E-B7190E8C9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4A0AE1FD-84B5-A390-BEC2-E785C662E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673" y="900000"/>
            <a:ext cx="10224654" cy="700000"/>
          </a:xfrm>
        </p:spPr>
        <p:txBody>
          <a:bodyPr>
            <a:normAutofit/>
          </a:bodyPr>
          <a:lstStyle/>
          <a:p>
            <a:pPr algn="ctr"/>
            <a:r>
              <a:rPr lang="es-CR" sz="2400" b="1" dirty="0"/>
              <a:t>Interacción </a:t>
            </a:r>
            <a:r>
              <a:rPr lang="es-CR" sz="2400" b="1" dirty="0" err="1"/>
              <a:t>SparkUp</a:t>
            </a:r>
            <a:endParaRPr lang="es-CR" sz="2400" b="1" dirty="0"/>
          </a:p>
        </p:txBody>
      </p:sp>
      <p:sp>
        <p:nvSpPr>
          <p:cNvPr id="3" name="TextBox Pregunta"/>
          <p:cNvSpPr txBox="1"/>
          <p:nvPr/>
        </p:nvSpPr>
        <p:spPr>
          <a:xfrm>
            <a:off x="1200000" y="1900000"/>
            <a:ext cx="9700000" cy="9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s-CR" sz="3200" b="1" dirty="0">
                <a:solidFill>
                  <a:srgbClr val="1A1A1A"/>
                </a:solidFill>
              </a:rPr>
              <a:t>¿En qué etapa se revisa seguridad en tu equipo?</a:t>
            </a:r>
          </a:p>
        </p:txBody>
      </p:sp>
      <p:sp>
        <p:nvSpPr>
          <p:cNvPr id="4" name="TextBox Opciones"/>
          <p:cNvSpPr txBox="1"/>
          <p:nvPr/>
        </p:nvSpPr>
        <p:spPr>
          <a:xfrm>
            <a:off x="2000000" y="3200000"/>
            <a:ext cx="8200000" cy="28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lnSpc>
                <a:spcPct val="150000"/>
              </a:lnSpc>
              <a:buNone/>
            </a:pPr>
            <a:r>
              <a:rPr lang="es-CR" sz="2000" b="1" dirty="0">
                <a:solidFill>
                  <a:srgbClr val="2EC4B6"/>
                </a:solidFill>
              </a:rPr>
              <a:t>A.  </a:t>
            </a:r>
            <a:r>
              <a:rPr lang="es-CR" sz="2000" dirty="0">
                <a:solidFill>
                  <a:srgbClr val="1A1A1A"/>
                </a:solidFill>
              </a:rPr>
              <a:t>Antes del desarrollo</a:t>
            </a:r>
          </a:p>
          <a:p>
            <a:pPr algn="l">
              <a:lnSpc>
                <a:spcPct val="150000"/>
              </a:lnSpc>
              <a:buNone/>
            </a:pPr>
            <a:r>
              <a:rPr lang="es-CR" sz="2000" b="1" dirty="0">
                <a:solidFill>
                  <a:srgbClr val="2EC4B6"/>
                </a:solidFill>
              </a:rPr>
              <a:t>B.  </a:t>
            </a:r>
            <a:r>
              <a:rPr lang="es-CR" sz="2000" dirty="0">
                <a:solidFill>
                  <a:srgbClr val="1A1A1A"/>
                </a:solidFill>
              </a:rPr>
              <a:t>Durante CI/CD</a:t>
            </a:r>
          </a:p>
          <a:p>
            <a:pPr algn="l">
              <a:lnSpc>
                <a:spcPct val="150000"/>
              </a:lnSpc>
              <a:buNone/>
            </a:pPr>
            <a:r>
              <a:rPr lang="es-CR" sz="2000" b="1" dirty="0">
                <a:solidFill>
                  <a:srgbClr val="2EC4B6"/>
                </a:solidFill>
              </a:rPr>
              <a:t>C.  </a:t>
            </a:r>
            <a:r>
              <a:rPr lang="es-CR" sz="2000" dirty="0">
                <a:solidFill>
                  <a:srgbClr val="1A1A1A"/>
                </a:solidFill>
              </a:rPr>
              <a:t>Después (auditoría / pentest)</a:t>
            </a:r>
          </a:p>
          <a:p>
            <a:pPr algn="l">
              <a:lnSpc>
                <a:spcPct val="150000"/>
              </a:lnSpc>
              <a:buNone/>
            </a:pPr>
            <a:r>
              <a:rPr lang="es-CR" sz="2000" b="1" dirty="0">
                <a:solidFill>
                  <a:srgbClr val="2EC4B6"/>
                </a:solidFill>
              </a:rPr>
              <a:t>D.  </a:t>
            </a:r>
            <a:r>
              <a:rPr lang="es-CR" sz="2000" dirty="0">
                <a:solidFill>
                  <a:srgbClr val="1A1A1A"/>
                </a:solidFill>
              </a:rPr>
              <a:t>No se revisa</a:t>
            </a:r>
          </a:p>
        </p:txBody>
      </p:sp>
    </p:spTree>
    <p:extLst>
      <p:ext uri="{BB962C8B-B14F-4D97-AF65-F5344CB8AC3E}">
        <p14:creationId xmlns:p14="http://schemas.microsoft.com/office/powerpoint/2010/main" val="1340505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1382444"/>
            <a:ext cx="4668252" cy="885524"/>
          </a:xfrm>
        </p:spPr>
        <p:txBody>
          <a:bodyPr/>
          <a:lstStyle/>
          <a:p>
            <a:r>
              <a:rPr lang="es-CR" b="1" dirty="0"/>
              <a:t>84%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745D8-9848-FD40-BCAF-A62F77F0421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70859" y="2842828"/>
            <a:ext cx="6050281" cy="2387064"/>
          </a:xfrm>
        </p:spPr>
        <p:txBody>
          <a:bodyPr/>
          <a:lstStyle/>
          <a:p>
            <a:r>
              <a:rPr lang="es-CR" sz="1800" dirty="0"/>
              <a:t>de las empresas sufrieron un incidente de seguridad en APIs en el último año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6181" y="2387493"/>
            <a:ext cx="3519638" cy="1412507"/>
          </a:xfrm>
        </p:spPr>
        <p:txBody>
          <a:bodyPr/>
          <a:lstStyle/>
          <a:p>
            <a:r>
              <a:rPr lang="es-CR" b="1" dirty="0"/>
              <a:t>Solo el 13%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496000" y="3811771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2000" dirty="0">
                <a:solidFill>
                  <a:srgbClr val="FFFFFF"/>
                </a:solidFill>
              </a:rPr>
              <a:t>puede prevenir más de la mitad de los ataques a sus APIs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2543476"/>
            <a:ext cx="4668252" cy="885524"/>
          </a:xfrm>
        </p:spPr>
        <p:txBody>
          <a:bodyPr/>
          <a:lstStyle/>
          <a:p>
            <a:r>
              <a:rPr lang="es-CR" b="1" dirty="0"/>
              <a:t>Seguridad en el espejo retrovisor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1144938"/>
            <a:ext cx="4668252" cy="885524"/>
          </a:xfrm>
        </p:spPr>
        <p:txBody>
          <a:bodyPr/>
          <a:lstStyle/>
          <a:p>
            <a:r>
              <a:rPr lang="es-CR" b="1" dirty="0"/>
              <a:t>Costa Rica: la regulación aprieta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70859" y="3325998"/>
            <a:ext cx="6050281" cy="2387064"/>
          </a:xfrm>
        </p:spPr>
        <p:txBody>
          <a:bodyPr/>
          <a:lstStyle/>
          <a:p>
            <a:r>
              <a:rPr lang="es-CR" dirty="0"/>
              <a:t>CONASSIF reformó el Reglamento de Gestión TI en 2024. La Asamblea Legislativa aprobó en primer debate una ley que hace a los bancos responsables si no demuestran cumplimiento de ciberseguridad.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2543476"/>
            <a:ext cx="4668252" cy="885524"/>
          </a:xfrm>
        </p:spPr>
        <p:txBody>
          <a:bodyPr>
            <a:normAutofit fontScale="92500"/>
          </a:bodyPr>
          <a:lstStyle/>
          <a:p>
            <a:r>
              <a:rPr lang="es-CR" b="1" dirty="0"/>
              <a:t>¿Y si la spec fuera el contrato de seguridad?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2543476"/>
            <a:ext cx="4668252" cy="885524"/>
          </a:xfrm>
        </p:spPr>
        <p:txBody>
          <a:bodyPr/>
          <a:lstStyle/>
          <a:p>
            <a:r>
              <a:rPr lang="es-CR" b="1" dirty="0"/>
              <a:t>Seguridad como Código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La Spec genera todo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>
                <a:solidFill>
                  <a:srgbClr val="FFFFFF"/>
                </a:solidFill>
              </a:rPr>
              <a:t>OpenAPI Spec genera: Linting, Tests de auth, OWASP ZAP, Validación de dependencias, Detección de secretos, Reporte de compliance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¿Por qué Spec-Driven?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>
                <a:solidFill>
                  <a:srgbClr val="FFFFFF"/>
                </a:solidFill>
              </a:rPr>
              <a:t>1. La spec es la fuente de verdad  |  2. Es auditable: tu repo ES la evidencia  |  3. Es reproducible: corre siempre igual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2543476"/>
            <a:ext cx="4668252" cy="885524"/>
          </a:xfrm>
        </p:spPr>
        <p:txBody>
          <a:bodyPr/>
          <a:lstStyle/>
          <a:p>
            <a:r>
              <a:rPr lang="es-CR" b="1" dirty="0"/>
              <a:t>Arquitectura del Pipeline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1241" y="1109312"/>
            <a:ext cx="4668252" cy="885524"/>
          </a:xfrm>
        </p:spPr>
        <p:txBody>
          <a:bodyPr/>
          <a:lstStyle/>
          <a:p>
            <a:r>
              <a:rPr lang="es-CR" b="1" dirty="0"/>
              <a:t>El Pipeline Spec-Driven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745D8-9848-FD40-BCAF-A62F77F0421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80227" y="2811542"/>
            <a:ext cx="6050281" cy="2387064"/>
          </a:xfrm>
        </p:spPr>
        <p:txBody>
          <a:bodyPr/>
          <a:lstStyle/>
          <a:p>
            <a:r>
              <a:rPr lang="es-CR" dirty="0"/>
              <a:t>openapi.yaml → PR → 6 etapas automáticas → Aprobado o Bloqueado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505ECB-AC72-054C-A804-75FA8BD81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9" y="1109312"/>
            <a:ext cx="3102585" cy="4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Spectral + Semgrep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Spectral: linting de la spec. ¿Todos los endpoints tienen auth? ¿Se usa HTTPS?</a:t>
            </a:r>
          </a:p>
          <a:p>
            <a:r>
              <a:rPr lang="es-CR" dirty="0"/>
              <a:t>Semgrep: análisis estático. Inyección SQL, variables no sanitizadas, secrets hardcodeados.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Gitleaks + npm audit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Gitleaks: ¿Alguien dejó una API key en el código?</a:t>
            </a:r>
          </a:p>
          <a:p>
            <a:r>
              <a:rPr lang="es-CR" dirty="0"/>
              <a:t>npm audit: dependencias contra bases de datos de CVEs conocidos.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OWASP ZAP + Compliance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745D8-9848-FD40-BCAF-A62F77F0421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ZAP: levanta la API, la ataca con la spec. Inyección, auth rota, exposición de datos.</a:t>
            </a:r>
          </a:p>
          <a:p>
            <a:r>
              <a:rPr lang="es-CR" dirty="0"/>
              <a:t>Compliance: reporte automático como comentario en el PR.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6181" y="387202"/>
            <a:ext cx="3519638" cy="1412507"/>
          </a:xfrm>
        </p:spPr>
        <p:txBody>
          <a:bodyPr/>
          <a:lstStyle/>
          <a:p>
            <a:r>
              <a:rPr lang="es-CR" b="1" dirty="0"/>
              <a:t>El Pull Request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496000" y="1466473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>
                <a:solidFill>
                  <a:srgbClr val="FFFFFF"/>
                </a:solidFill>
              </a:rPr>
              <a:t>Verde = seguro. Rojo = corregir primero. El reviewer no necesita ser experto en seguridad.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C75B3B-6AB6-3654-53AA-BFACBA007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47" y="2466473"/>
            <a:ext cx="4520297" cy="41733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5394B5-D9DD-3836-8449-345264979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31944"/>
            <a:ext cx="5421086" cy="339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673" y="2200000"/>
            <a:ext cx="10224654" cy="900000"/>
          </a:xfrm>
        </p:spPr>
        <p:txBody>
          <a:bodyPr>
            <a:normAutofit/>
          </a:bodyPr>
          <a:lstStyle/>
          <a:p>
            <a:pPr algn="ctr"/>
            <a:r>
              <a:rPr lang="es-CR" b="1" dirty="0"/>
              <a:t>SIMULACIÓN GUIADA</a:t>
            </a:r>
          </a:p>
        </p:txBody>
      </p:sp>
      <p:sp>
        <p:nvSpPr>
          <p:cNvPr id="3" name="TextBox Subtitulo"/>
          <p:cNvSpPr txBox="1"/>
          <p:nvPr/>
        </p:nvSpPr>
        <p:spPr>
          <a:xfrm>
            <a:off x="1500000" y="3500000"/>
            <a:ext cx="9200000" cy="1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s-CR" sz="2000" i="1" dirty="0">
                <a:solidFill>
                  <a:srgbClr val="555555"/>
                </a:solidFill>
              </a:rPr>
              <a:t>Un PR vulnerable, paso por paso — y ustedes me dicen qué va a pasar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60577-2642-420F-0D80-892B159AC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8D63D324-849C-9FF3-F8AA-BB355314F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673" y="828400"/>
            <a:ext cx="10224654" cy="900000"/>
          </a:xfrm>
        </p:spPr>
        <p:txBody>
          <a:bodyPr>
            <a:normAutofit/>
          </a:bodyPr>
          <a:lstStyle/>
          <a:p>
            <a:pPr algn="ctr"/>
            <a:r>
              <a:rPr lang="es-CR" b="1" dirty="0" err="1"/>
              <a:t>OpenApi</a:t>
            </a:r>
            <a:endParaRPr lang="es-CR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FC0985-A52A-46D5-3700-98A7A7CA7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067" y="1835952"/>
            <a:ext cx="6191865" cy="471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07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673" y="800000"/>
            <a:ext cx="10224654" cy="700000"/>
          </a:xfrm>
        </p:spPr>
        <p:txBody>
          <a:bodyPr>
            <a:normAutofit/>
          </a:bodyPr>
          <a:lstStyle/>
          <a:p>
            <a:pPr algn="ctr"/>
            <a:r>
              <a:rPr lang="es-CR" sz="2400" b="1" dirty="0"/>
              <a:t>Interacción </a:t>
            </a:r>
            <a:r>
              <a:rPr lang="es-CR" sz="2400" b="1" dirty="0" err="1"/>
              <a:t>SparkUp</a:t>
            </a:r>
            <a:endParaRPr lang="es-CR" sz="2400" b="1" dirty="0"/>
          </a:p>
        </p:txBody>
      </p:sp>
      <p:sp>
        <p:nvSpPr>
          <p:cNvPr id="3" name="TextBox Contexto"/>
          <p:cNvSpPr txBox="1"/>
          <p:nvPr/>
        </p:nvSpPr>
        <p:spPr>
          <a:xfrm>
            <a:off x="1200000" y="1700000"/>
            <a:ext cx="9700000" cy="7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s-CR" sz="1600" i="1" dirty="0">
                <a:solidFill>
                  <a:srgbClr val="CCCCCC"/>
                </a:solidFill>
              </a:rPr>
              <a:t>PR con endpoint sin campo “security” — 6 checks corren en paralelo</a:t>
            </a:r>
          </a:p>
        </p:txBody>
      </p:sp>
      <p:sp>
        <p:nvSpPr>
          <p:cNvPr id="4" name="TextBox Pregunta"/>
          <p:cNvSpPr txBox="1"/>
          <p:nvPr/>
        </p:nvSpPr>
        <p:spPr>
          <a:xfrm>
            <a:off x="1200000" y="2500000"/>
            <a:ext cx="9700000" cy="8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s-CR" sz="2800" b="1" dirty="0">
                <a:solidFill>
                  <a:srgbClr val="FFFFFF"/>
                </a:solidFill>
              </a:rPr>
              <a:t>¿Cuál check detecta la vulnerabilidad primero?</a:t>
            </a:r>
          </a:p>
        </p:txBody>
      </p:sp>
      <p:sp>
        <p:nvSpPr>
          <p:cNvPr id="5" name="TextBox Opciones"/>
          <p:cNvSpPr txBox="1"/>
          <p:nvPr/>
        </p:nvSpPr>
        <p:spPr>
          <a:xfrm>
            <a:off x="2200000" y="3600000"/>
            <a:ext cx="7800000" cy="28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lnSpc>
                <a:spcPct val="150000"/>
              </a:lnSpc>
              <a:buNone/>
            </a:pPr>
            <a:r>
              <a:rPr lang="es-CR" sz="2000" b="1" dirty="0">
                <a:solidFill>
                  <a:srgbClr val="2EC4B6"/>
                </a:solidFill>
              </a:rPr>
              <a:t>A.  </a:t>
            </a:r>
            <a:r>
              <a:rPr lang="es-CR" sz="2000" dirty="0">
                <a:solidFill>
                  <a:srgbClr val="FFFFFF"/>
                </a:solidFill>
              </a:rPr>
              <a:t>Spectral (spec lint)</a:t>
            </a:r>
          </a:p>
          <a:p>
            <a:pPr algn="l">
              <a:lnSpc>
                <a:spcPct val="150000"/>
              </a:lnSpc>
              <a:buNone/>
            </a:pPr>
            <a:r>
              <a:rPr lang="es-CR" sz="2000" b="1" dirty="0">
                <a:solidFill>
                  <a:srgbClr val="2EC4B6"/>
                </a:solidFill>
              </a:rPr>
              <a:t>B.  </a:t>
            </a:r>
            <a:r>
              <a:rPr lang="es-CR" sz="2000" dirty="0">
                <a:solidFill>
                  <a:srgbClr val="FFFFFF"/>
                </a:solidFill>
              </a:rPr>
              <a:t>Semgrep (SAST)</a:t>
            </a:r>
          </a:p>
          <a:p>
            <a:pPr algn="l">
              <a:lnSpc>
                <a:spcPct val="150000"/>
              </a:lnSpc>
              <a:buNone/>
            </a:pPr>
            <a:r>
              <a:rPr lang="es-CR" sz="2000" b="1" dirty="0">
                <a:solidFill>
                  <a:srgbClr val="2EC4B6"/>
                </a:solidFill>
              </a:rPr>
              <a:t>C.  </a:t>
            </a:r>
            <a:r>
              <a:rPr lang="es-CR" sz="2000" dirty="0">
                <a:solidFill>
                  <a:srgbClr val="FFFFFF"/>
                </a:solidFill>
              </a:rPr>
              <a:t>OWASP ZAP (DAST)</a:t>
            </a:r>
          </a:p>
          <a:p>
            <a:pPr algn="l">
              <a:lnSpc>
                <a:spcPct val="150000"/>
              </a:lnSpc>
              <a:buNone/>
            </a:pPr>
            <a:r>
              <a:rPr lang="es-CR" sz="2000" b="1" dirty="0">
                <a:solidFill>
                  <a:srgbClr val="2EC4B6"/>
                </a:solidFill>
              </a:rPr>
              <a:t>D.  </a:t>
            </a:r>
            <a:r>
              <a:rPr lang="es-CR" sz="2000" dirty="0">
                <a:solidFill>
                  <a:srgbClr val="FFFFFF"/>
                </a:solidFill>
              </a:rPr>
              <a:t>Los tres lo detectan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62A9B-8474-498E-2D6C-91E7BCEA1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DE178DA4-ED85-B6E8-AB42-FBCD12426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673" y="800000"/>
            <a:ext cx="10224654" cy="700000"/>
          </a:xfrm>
        </p:spPr>
        <p:txBody>
          <a:bodyPr>
            <a:normAutofit/>
          </a:bodyPr>
          <a:lstStyle/>
          <a:p>
            <a:pPr algn="ctr"/>
            <a:r>
              <a:rPr lang="es-CR" sz="2400" b="1" dirty="0"/>
              <a:t>Interacción </a:t>
            </a:r>
            <a:r>
              <a:rPr lang="es-CR" sz="2400" b="1" dirty="0" err="1"/>
              <a:t>SparkUp</a:t>
            </a:r>
            <a:endParaRPr lang="es-CR" sz="2400" b="1" dirty="0"/>
          </a:p>
        </p:txBody>
      </p:sp>
      <p:sp>
        <p:nvSpPr>
          <p:cNvPr id="3" name="TextBox Contexto">
            <a:extLst>
              <a:ext uri="{FF2B5EF4-FFF2-40B4-BE49-F238E27FC236}">
                <a16:creationId xmlns:a16="http://schemas.microsoft.com/office/drawing/2014/main" id="{84D3AAAE-7CB9-4A4F-53E8-856ABBBBDBB0}"/>
              </a:ext>
            </a:extLst>
          </p:cNvPr>
          <p:cNvSpPr txBox="1"/>
          <p:nvPr/>
        </p:nvSpPr>
        <p:spPr>
          <a:xfrm>
            <a:off x="1200000" y="1700000"/>
            <a:ext cx="9700000" cy="7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s-CR" sz="1600" i="1" dirty="0">
                <a:solidFill>
                  <a:srgbClr val="CCCCCC"/>
                </a:solidFill>
              </a:rPr>
              <a:t>PR con endpoint sin campo “security” — 6 checks corren en paralelo</a:t>
            </a:r>
          </a:p>
        </p:txBody>
      </p:sp>
      <p:sp>
        <p:nvSpPr>
          <p:cNvPr id="4" name="TextBox Pregunta">
            <a:extLst>
              <a:ext uri="{FF2B5EF4-FFF2-40B4-BE49-F238E27FC236}">
                <a16:creationId xmlns:a16="http://schemas.microsoft.com/office/drawing/2014/main" id="{870577FA-5C51-A662-803B-7A511176B872}"/>
              </a:ext>
            </a:extLst>
          </p:cNvPr>
          <p:cNvSpPr txBox="1"/>
          <p:nvPr/>
        </p:nvSpPr>
        <p:spPr>
          <a:xfrm>
            <a:off x="1200000" y="2500000"/>
            <a:ext cx="9700000" cy="8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s-CR" sz="2800" b="1" dirty="0">
                <a:solidFill>
                  <a:srgbClr val="FFFFFF"/>
                </a:solidFill>
              </a:rPr>
              <a:t>¿Cuál check detecta la vulnerabilidad primero?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FCC615-5425-ECDF-86AD-C30BAA8BE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390" y="3400000"/>
            <a:ext cx="5233219" cy="320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596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87B40-EB87-DCCE-6B03-7B07CA159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48D4AE96-3033-2FB9-BEAF-19AD23599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673" y="828400"/>
            <a:ext cx="10224654" cy="900000"/>
          </a:xfrm>
        </p:spPr>
        <p:txBody>
          <a:bodyPr>
            <a:normAutofit/>
          </a:bodyPr>
          <a:lstStyle/>
          <a:p>
            <a:pPr algn="ctr"/>
            <a:r>
              <a:rPr lang="es-CR" b="1" dirty="0" err="1"/>
              <a:t>OpenApi</a:t>
            </a:r>
            <a:endParaRPr lang="es-CR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57D2C5-199E-6301-A6CA-DF5931452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313" y="1903318"/>
            <a:ext cx="6103374" cy="464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855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09181-C0F6-7977-904C-14DE6D65D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Contexto">
            <a:extLst>
              <a:ext uri="{FF2B5EF4-FFF2-40B4-BE49-F238E27FC236}">
                <a16:creationId xmlns:a16="http://schemas.microsoft.com/office/drawing/2014/main" id="{30A77FB0-C49C-010E-DEF0-71CF8E9A7491}"/>
              </a:ext>
            </a:extLst>
          </p:cNvPr>
          <p:cNvSpPr txBox="1"/>
          <p:nvPr/>
        </p:nvSpPr>
        <p:spPr>
          <a:xfrm>
            <a:off x="1245999" y="756104"/>
            <a:ext cx="9700000" cy="7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effectLst/>
              </a:rPr>
              <a:t>…Código, que se </a:t>
            </a:r>
            <a:r>
              <a:rPr lang="en-US" sz="1400" dirty="0" err="1">
                <a:solidFill>
                  <a:schemeClr val="bg1"/>
                </a:solidFill>
                <a:effectLst/>
              </a:rPr>
              <a:t>ejecuta</a:t>
            </a:r>
            <a:r>
              <a:rPr lang="en-US" sz="1400" dirty="0">
                <a:solidFill>
                  <a:schemeClr val="bg1"/>
                </a:solidFill>
                <a:effectLst/>
              </a:rPr>
              <a:t>, que se </a:t>
            </a:r>
            <a:r>
              <a:rPr lang="en-US" sz="1400" dirty="0" err="1">
                <a:solidFill>
                  <a:schemeClr val="bg1"/>
                </a:solidFill>
                <a:effectLst/>
              </a:rPr>
              <a:t>versiona</a:t>
            </a:r>
            <a:r>
              <a:rPr lang="en-US" sz="1400" dirty="0">
                <a:solidFill>
                  <a:schemeClr val="bg1"/>
                </a:solidFill>
                <a:effectLst/>
              </a:rPr>
              <a:t>, y que les dice a </a:t>
            </a:r>
            <a:r>
              <a:rPr lang="en-US" sz="1400" dirty="0" err="1">
                <a:solidFill>
                  <a:schemeClr val="bg1"/>
                </a:solidFill>
                <a:effectLst/>
              </a:rPr>
              <a:t>ustedes</a:t>
            </a:r>
            <a:r>
              <a:rPr lang="en-US" sz="1400" dirty="0">
                <a:solidFill>
                  <a:schemeClr val="bg1"/>
                </a:solidFill>
                <a:effectLst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</a:rPr>
              <a:t>en</a:t>
            </a:r>
            <a:r>
              <a:rPr lang="en-US" sz="1400" dirty="0">
                <a:solidFill>
                  <a:schemeClr val="bg1"/>
                </a:solidFill>
                <a:effectLst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</a:rPr>
              <a:t>tiempo</a:t>
            </a:r>
            <a:r>
              <a:rPr lang="en-US" sz="1400" dirty="0">
                <a:solidFill>
                  <a:schemeClr val="bg1"/>
                </a:solidFill>
                <a:effectLst/>
              </a:rPr>
              <a:t> real </a:t>
            </a:r>
            <a:r>
              <a:rPr lang="en-US" sz="1400" dirty="0" err="1">
                <a:solidFill>
                  <a:schemeClr val="bg1"/>
                </a:solidFill>
                <a:effectLst/>
              </a:rPr>
              <a:t>si</a:t>
            </a:r>
            <a:r>
              <a:rPr lang="en-US" sz="1400" dirty="0">
                <a:solidFill>
                  <a:schemeClr val="bg1"/>
                </a:solidFill>
                <a:effectLst/>
              </a:rPr>
              <a:t> </a:t>
            </a:r>
            <a:r>
              <a:rPr lang="en-US" sz="1400" dirty="0" err="1">
                <a:solidFill>
                  <a:schemeClr val="bg1"/>
                </a:solidFill>
                <a:effectLst/>
              </a:rPr>
              <a:t>su</a:t>
            </a:r>
            <a:r>
              <a:rPr lang="en-US" sz="1400" dirty="0">
                <a:solidFill>
                  <a:schemeClr val="bg1"/>
                </a:solidFill>
                <a:effectLst/>
              </a:rPr>
              <a:t> API </a:t>
            </a:r>
            <a:r>
              <a:rPr lang="en-US" sz="1400" dirty="0" err="1">
                <a:solidFill>
                  <a:schemeClr val="bg1"/>
                </a:solidFill>
                <a:effectLst/>
              </a:rPr>
              <a:t>bancaria</a:t>
            </a:r>
            <a:r>
              <a:rPr lang="en-US" sz="1400" dirty="0">
                <a:solidFill>
                  <a:schemeClr val="bg1"/>
                </a:solidFill>
                <a:effectLst/>
              </a:rPr>
              <a:t> es </a:t>
            </a:r>
            <a:r>
              <a:rPr lang="en-US" sz="1400" dirty="0" err="1">
                <a:solidFill>
                  <a:schemeClr val="bg1"/>
                </a:solidFill>
                <a:effectLst/>
              </a:rPr>
              <a:t>segura</a:t>
            </a:r>
            <a:r>
              <a:rPr lang="en-US" sz="1400" dirty="0">
                <a:solidFill>
                  <a:schemeClr val="bg1"/>
                </a:solidFill>
                <a:effectLst/>
              </a:rPr>
              <a:t> o no.</a:t>
            </a:r>
            <a:endParaRPr lang="es-CR" sz="2000" i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C4164A-5C45-406E-CBE5-9B329DBC3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061" y="1647833"/>
            <a:ext cx="6765875" cy="463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34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GitHub Advanced Security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R" dirty="0">
                <a:solidFill>
                  <a:schemeClr val="bg1"/>
                </a:solidFill>
              </a:rPr>
              <a:t>CodeQL: analisis semantico del flujo de datos, no solo patrones</a:t>
            </a:r>
          </a:p>
          <a:p>
            <a:r>
              <a:rPr lang="es-CR" dirty="0">
                <a:solidFill>
                  <a:schemeClr val="bg1"/>
                </a:solidFill>
              </a:rPr>
              <a:t>Secret Scanning + Push Protection: bloquea secretos ANTES del push</a:t>
            </a:r>
          </a:p>
          <a:p>
            <a:r>
              <a:rPr lang="es-CR" dirty="0">
                <a:solidFill>
                  <a:schemeClr val="bg1"/>
                </a:solidFill>
              </a:rPr>
              <a:t>Dependabot: monitoreo 24/7 de dependencias con PRs automaticos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Open Source + GHAS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Pipeline spec-driven (Spectral, ZAP) = core de seguridad</a:t>
            </a:r>
          </a:p>
          <a:p>
            <a:r>
              <a:rPr lang="es-CR" dirty="0"/>
              <a:t>GHAS (CodeQL, Push Protection, Dependabot) = capa enterprise</a:t>
            </a:r>
          </a:p>
          <a:p>
            <a:r>
              <a:rPr lang="es-CR" dirty="0"/>
              <a:t>Modelo hibrido: maximo valor, costo controlado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01E573-F7AA-869C-8EC9-34B79E049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742" y="3901954"/>
            <a:ext cx="5026742" cy="20563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5117C1-2B7B-9B61-8DC1-653DDA5F7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07" y="2986548"/>
            <a:ext cx="2463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De 1 repo a 200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R" dirty="0">
                <a:solidFill>
                  <a:schemeClr val="bg1"/>
                </a:solidFill>
              </a:rPr>
              <a:t>Reusable Workflows: definir UNA vez, aplicar a N repos</a:t>
            </a:r>
          </a:p>
          <a:p>
            <a:r>
              <a:rPr lang="es-CR" dirty="0">
                <a:solidFill>
                  <a:schemeClr val="bg1"/>
                </a:solidFill>
              </a:rPr>
              <a:t>Organization Rulesets: ningun PR se mergea sin pasar seguridad</a:t>
            </a:r>
          </a:p>
          <a:p>
            <a:r>
              <a:rPr lang="es-CR" dirty="0">
                <a:solidFill>
                  <a:schemeClr val="bg1"/>
                </a:solidFill>
              </a:rPr>
              <a:t>Custom Properties: clasificar repos por nivel de riesgo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19469-0424-92EE-753E-B7190E8C9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4A0AE1FD-84B5-A390-BEC2-E785C662E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673" y="900000"/>
            <a:ext cx="10224654" cy="700000"/>
          </a:xfrm>
        </p:spPr>
        <p:txBody>
          <a:bodyPr>
            <a:normAutofit/>
          </a:bodyPr>
          <a:lstStyle/>
          <a:p>
            <a:pPr algn="ctr"/>
            <a:r>
              <a:rPr lang="es-CR" sz="2400" b="1" dirty="0"/>
              <a:t>Interacción </a:t>
            </a:r>
            <a:r>
              <a:rPr lang="es-CR" sz="2400" b="1" dirty="0" err="1"/>
              <a:t>SparkUp</a:t>
            </a:r>
            <a:endParaRPr lang="es-CR" sz="2400" b="1" dirty="0"/>
          </a:p>
        </p:txBody>
      </p:sp>
      <p:sp>
        <p:nvSpPr>
          <p:cNvPr id="3" name="TextBox Pregunta"/>
          <p:cNvSpPr txBox="1"/>
          <p:nvPr/>
        </p:nvSpPr>
        <p:spPr>
          <a:xfrm>
            <a:off x="1200000" y="1900000"/>
            <a:ext cx="9700000" cy="9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s-CR" sz="3200" b="1" dirty="0">
                <a:solidFill>
                  <a:srgbClr val="1A1A1A"/>
                </a:solidFill>
              </a:rPr>
              <a:t>¿Qué es más valioso para tu organización hoy?</a:t>
            </a:r>
          </a:p>
        </p:txBody>
      </p:sp>
      <p:sp>
        <p:nvSpPr>
          <p:cNvPr id="4" name="TextBox Opciones"/>
          <p:cNvSpPr txBox="1"/>
          <p:nvPr/>
        </p:nvSpPr>
        <p:spPr>
          <a:xfrm>
            <a:off x="2000000" y="3200000"/>
            <a:ext cx="8200000" cy="28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lnSpc>
                <a:spcPct val="150000"/>
              </a:lnSpc>
              <a:buNone/>
            </a:pPr>
            <a:r>
              <a:rPr lang="es-CR" sz="2000" b="1" dirty="0">
                <a:solidFill>
                  <a:srgbClr val="2EC4B6"/>
                </a:solidFill>
              </a:rPr>
              <a:t>A.  </a:t>
            </a:r>
            <a:r>
              <a:rPr lang="es-CR" sz="2000" dirty="0">
                <a:solidFill>
                  <a:srgbClr val="1A1A1A"/>
                </a:solidFill>
              </a:rPr>
              <a:t>Prevención</a:t>
            </a:r>
          </a:p>
          <a:p>
            <a:pPr algn="l">
              <a:lnSpc>
                <a:spcPct val="150000"/>
              </a:lnSpc>
              <a:buNone/>
            </a:pPr>
            <a:r>
              <a:rPr lang="es-CR" sz="2000" b="1" dirty="0">
                <a:solidFill>
                  <a:srgbClr val="2EC4B6"/>
                </a:solidFill>
              </a:rPr>
              <a:t>B.  </a:t>
            </a:r>
            <a:r>
              <a:rPr lang="es-CR" sz="2000" dirty="0">
                <a:solidFill>
                  <a:srgbClr val="1A1A1A"/>
                </a:solidFill>
              </a:rPr>
              <a:t>Detección</a:t>
            </a:r>
          </a:p>
          <a:p>
            <a:pPr algn="l">
              <a:lnSpc>
                <a:spcPct val="150000"/>
              </a:lnSpc>
              <a:buNone/>
            </a:pPr>
            <a:r>
              <a:rPr lang="es-CR" sz="2000" b="1" dirty="0">
                <a:solidFill>
                  <a:srgbClr val="2EC4B6"/>
                </a:solidFill>
              </a:rPr>
              <a:t>C.  </a:t>
            </a:r>
            <a:r>
              <a:rPr lang="es-CR" sz="2000" dirty="0">
                <a:solidFill>
                  <a:srgbClr val="1A1A1A"/>
                </a:solidFill>
              </a:rPr>
              <a:t>Cumplimiento (compliance)</a:t>
            </a:r>
          </a:p>
          <a:p>
            <a:pPr algn="l">
              <a:lnSpc>
                <a:spcPct val="150000"/>
              </a:lnSpc>
              <a:buNone/>
            </a:pPr>
            <a:r>
              <a:rPr lang="es-CR" sz="2000" b="1" dirty="0">
                <a:solidFill>
                  <a:srgbClr val="2EC4B6"/>
                </a:solidFill>
              </a:rPr>
              <a:t>D.  </a:t>
            </a:r>
            <a:r>
              <a:rPr lang="es-CR" sz="2000" dirty="0">
                <a:solidFill>
                  <a:srgbClr val="1A1A1A"/>
                </a:solidFill>
              </a:rPr>
              <a:t>Auditoría</a:t>
            </a:r>
          </a:p>
        </p:txBody>
      </p:sp>
    </p:spTree>
    <p:extLst>
      <p:ext uri="{BB962C8B-B14F-4D97-AF65-F5344CB8AC3E}">
        <p14:creationId xmlns:p14="http://schemas.microsoft.com/office/powerpoint/2010/main" val="13405054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Resultados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Antes vs. Después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>
                <a:solidFill>
                  <a:srgbClr val="FFFFFF"/>
                </a:solidFill>
              </a:rPr>
              <a:t>Detección: semanas → minutos  |  Cobertura: 60% → 100%  |  Evidencia: PDFs perdidos → trazabilidad en cada PR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$9.36 millones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Costo promedio de una brecha de datos en banca en EE.UU. (2024). Implementar este pipeline cuesta: tiempo, herramientas open source, y voluntad.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Compliance automático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745D8-9848-FD40-BCAF-A62F77F0421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Cada PR genera evidencia. Cada merge tiene trazabilidad. Cuando SUGEF llegue a auditar, la evidencia ya existe en GitHub.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ardops.dev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>
                <a:solidFill>
                  <a:srgbClr val="FFFFFF"/>
                </a:solidFill>
              </a:rPr>
              <a:t>Repo, slides, guías, documentación, entrevistas. Todo accesible para todos.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28" y="1053309"/>
            <a:ext cx="3519638" cy="1412507"/>
          </a:xfrm>
        </p:spPr>
        <p:txBody>
          <a:bodyPr/>
          <a:lstStyle/>
          <a:p>
            <a:r>
              <a:rPr lang="es-CR" b="1" dirty="0"/>
              <a:t>ardops.dev</a:t>
            </a:r>
          </a:p>
        </p:txBody>
      </p:sp>
      <p:pic>
        <p:nvPicPr>
          <p:cNvPr id="4" name="Picture 3" descr="A qr code on a white background  Description automatically generated">
            <a:extLst>
              <a:ext uri="{FF2B5EF4-FFF2-40B4-BE49-F238E27FC236}">
                <a16:creationId xmlns:a16="http://schemas.microsoft.com/office/drawing/2014/main" id="{49BB1359-33DA-6D0A-A0B6-86C6B663F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674" y="1950027"/>
            <a:ext cx="2957945" cy="295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La seguridad no es un gate.</a:t>
            </a:r>
          </a:p>
          <a:p>
            <a:r>
              <a:rPr lang="es-CR" dirty="0"/>
              <a:t>Es un guardrail.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0870542-4D63-D549-B420-78BDF84B0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29" y="2851485"/>
            <a:ext cx="3519638" cy="885524"/>
          </a:xfrm>
        </p:spPr>
        <p:txBody>
          <a:bodyPr/>
          <a:lstStyle/>
          <a:p>
            <a:r>
              <a:rPr lang="es-CR" b="1" dirty="0"/>
              <a:t>Gracias</a:t>
            </a:r>
          </a:p>
          <a:p>
            <a:r>
              <a:rPr lang="es-CR" dirty="0"/>
              <a:t>ardops.dev</a:t>
            </a:r>
          </a:p>
        </p:txBody>
      </p:sp>
    </p:spTree>
    <p:extLst>
      <p:ext uri="{BB962C8B-B14F-4D97-AF65-F5344CB8AC3E}">
        <p14:creationId xmlns:p14="http://schemas.microsoft.com/office/powerpoint/2010/main" val="38142836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87D5E-D3F4-2823-C6C0-A54C7B343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EE053741-1DE8-ECD1-58F6-8F34E17F4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1109312"/>
            <a:ext cx="4668252" cy="885524"/>
          </a:xfrm>
        </p:spPr>
        <p:txBody>
          <a:bodyPr anchor="b">
            <a:normAutofit/>
          </a:bodyPr>
          <a:lstStyle/>
          <a:p>
            <a:r>
              <a:rPr lang="es-CR" b="1" dirty="0"/>
              <a:t>Preguntas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70997C-CC84-7E76-FEE3-F8E3E8C9D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236" y="1994836"/>
            <a:ext cx="9927528" cy="39213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791618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9077</Words>
  <Application>Microsoft Macintosh PowerPoint</Application>
  <PresentationFormat>Widescreen</PresentationFormat>
  <Paragraphs>622</Paragraphs>
  <Slides>37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Aptos</vt:lpstr>
      <vt:lpstr>Arial</vt:lpstr>
      <vt:lpstr>Futura</vt:lpstr>
      <vt:lpstr>Futura Std Book</vt:lpstr>
      <vt:lpstr>Futura Std Medium</vt:lpstr>
      <vt:lpstr>Helvetica</vt:lpstr>
      <vt:lpstr>Mona Sans VF</vt:lpstr>
      <vt:lpstr>Monaspace Neon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Gonzalo Vargas  - Aldea Estudio</dc:creator>
  <cp:lastModifiedBy>Victor Josue Ardon Rojas</cp:lastModifiedBy>
  <cp:revision>16</cp:revision>
  <dcterms:created xsi:type="dcterms:W3CDTF">2026-01-19T23:16:05Z</dcterms:created>
  <dcterms:modified xsi:type="dcterms:W3CDTF">2026-04-20T21:28:51Z</dcterms:modified>
</cp:coreProperties>
</file>