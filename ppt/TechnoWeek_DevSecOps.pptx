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84" r:id="rId33"/>
    <p:sldId id="285" r:id="rId34"/>
    <p:sldId id="286" r:id="rId35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</p:sldIdLst>
  <p:sldSz cx="12192000" cy="6858000"/>
  <p:notesSz cx="6858000" cy="9144000"/>
  <p:defaultTextStyle>
    <a:defPPr>
      <a:defRPr lang="es-C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texto 2">
            <a:extLst>
              <a:ext uri="{FF2B5EF4-FFF2-40B4-BE49-F238E27FC236}">
                <a16:creationId xmlns:a16="http://schemas.microsoft.com/office/drawing/2014/main" id="{C28E0244-0E8E-5B4E-B73C-B20C175253C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30829" y="2851485"/>
            <a:ext cx="3519638" cy="8855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algn="ctr">
              <a:defRPr sz="2400" b="0" i="0" spc="300">
                <a:solidFill>
                  <a:schemeClr val="bg1"/>
                </a:solidFill>
                <a:latin typeface="Futura Std Medium" panose="020B0502020204020303" pitchFamily="34" charset="0"/>
              </a:defRPr>
            </a:lvl1pPr>
          </a:lstStyle>
          <a:p>
            <a:pPr lvl="0"/>
            <a:r>
              <a:rPr lang="es-ES" dirty="0"/>
              <a:t xml:space="preserve">HAGA CLIC PARA </a:t>
            </a:r>
          </a:p>
          <a:p>
            <a:pPr lvl="0"/>
            <a:r>
              <a:rPr lang="es-ES" dirty="0"/>
              <a:t>MODIFICAR EL TEXTO</a:t>
            </a:r>
          </a:p>
        </p:txBody>
      </p:sp>
    </p:spTree>
    <p:extLst>
      <p:ext uri="{BB962C8B-B14F-4D97-AF65-F5344CB8AC3E}">
        <p14:creationId xmlns:p14="http://schemas.microsoft.com/office/powerpoint/2010/main" val="34466306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3FE71A00-DC51-9948-A1C2-6867334C8D4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Marcador de texto 2">
            <a:extLst>
              <a:ext uri="{FF2B5EF4-FFF2-40B4-BE49-F238E27FC236}">
                <a16:creationId xmlns:a16="http://schemas.microsoft.com/office/drawing/2014/main" id="{0A298AEB-6C9C-9444-9D47-68BC4E3F42B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30829" y="2466473"/>
            <a:ext cx="3519638" cy="14125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algn="ctr">
              <a:defRPr sz="2400" b="0" i="0" spc="300">
                <a:solidFill>
                  <a:schemeClr val="bg1"/>
                </a:solidFill>
                <a:latin typeface="Futura Std Medium" panose="020B0502020204020303" pitchFamily="34" charset="0"/>
              </a:defRPr>
            </a:lvl1pPr>
          </a:lstStyle>
          <a:p>
            <a:pPr lvl="0"/>
            <a:r>
              <a:rPr lang="es-ES" dirty="0"/>
              <a:t xml:space="preserve">HAGA CLIC PARA </a:t>
            </a:r>
          </a:p>
          <a:p>
            <a:pPr lvl="0"/>
            <a:r>
              <a:rPr lang="es-ES" dirty="0"/>
              <a:t>MODIFICAR EL TEXTO</a:t>
            </a:r>
          </a:p>
        </p:txBody>
      </p:sp>
    </p:spTree>
    <p:extLst>
      <p:ext uri="{BB962C8B-B14F-4D97-AF65-F5344CB8AC3E}">
        <p14:creationId xmlns:p14="http://schemas.microsoft.com/office/powerpoint/2010/main" val="41203668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7B9C070-39EE-6E4A-8B04-16CA20D55AD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Marcador de texto 2">
            <a:extLst>
              <a:ext uri="{FF2B5EF4-FFF2-40B4-BE49-F238E27FC236}">
                <a16:creationId xmlns:a16="http://schemas.microsoft.com/office/drawing/2014/main" id="{51787E66-C9CE-2D42-A5B6-4E79A959F43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761874" y="1109312"/>
            <a:ext cx="4668252" cy="88552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>
              <a:defRPr sz="2400" b="0" i="0" spc="300">
                <a:solidFill>
                  <a:schemeClr val="bg1"/>
                </a:solidFill>
                <a:latin typeface="Futura Std Book" panose="020B0502020204020303" pitchFamily="34" charset="0"/>
              </a:defRPr>
            </a:lvl1pPr>
          </a:lstStyle>
          <a:p>
            <a:pPr lvl="0"/>
            <a:r>
              <a:rPr lang="es-ES" dirty="0"/>
              <a:t xml:space="preserve">HAGA CLIC PARA </a:t>
            </a:r>
          </a:p>
          <a:p>
            <a:pPr lvl="0"/>
            <a:r>
              <a:rPr lang="es-ES" dirty="0"/>
              <a:t>MODIFICAR EL TEXTO</a:t>
            </a:r>
          </a:p>
        </p:txBody>
      </p:sp>
      <p:sp>
        <p:nvSpPr>
          <p:cNvPr id="9" name="Marcador de texto 2">
            <a:extLst>
              <a:ext uri="{FF2B5EF4-FFF2-40B4-BE49-F238E27FC236}">
                <a16:creationId xmlns:a16="http://schemas.microsoft.com/office/drawing/2014/main" id="{CA87E82D-7580-6840-BA53-7347D1FFE614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3070860" y="2367815"/>
            <a:ext cx="6050281" cy="23870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algn="ctr">
              <a:defRPr sz="1400" b="0" i="0">
                <a:solidFill>
                  <a:schemeClr val="bg1"/>
                </a:solidFill>
                <a:latin typeface="Futura Std Medium" panose="020B0502020204020303" pitchFamily="34" charset="0"/>
              </a:defRPr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 xml:space="preserve"> </a:t>
            </a:r>
            <a:r>
              <a:rPr lang="es-ES" dirty="0" err="1"/>
              <a:t>ipsum</a:t>
            </a:r>
            <a:r>
              <a:rPr lang="es-ES" dirty="0"/>
              <a:t xml:space="preserve"> dolor </a:t>
            </a:r>
            <a:r>
              <a:rPr lang="es-ES" dirty="0" err="1"/>
              <a:t>sit</a:t>
            </a:r>
            <a:r>
              <a:rPr lang="es-ES" dirty="0"/>
              <a:t xml:space="preserve"> </a:t>
            </a:r>
            <a:r>
              <a:rPr lang="es-ES" dirty="0" err="1"/>
              <a:t>amet</a:t>
            </a:r>
            <a:r>
              <a:rPr lang="es-ES" dirty="0"/>
              <a:t xml:space="preserve">, </a:t>
            </a:r>
            <a:r>
              <a:rPr lang="es-ES" dirty="0" err="1"/>
              <a:t>cons</a:t>
            </a:r>
            <a:r>
              <a:rPr lang="es-ES" dirty="0"/>
              <a:t xml:space="preserve"> </a:t>
            </a:r>
            <a:r>
              <a:rPr lang="es-ES" dirty="0" err="1"/>
              <a:t>ectetuer</a:t>
            </a:r>
            <a:r>
              <a:rPr lang="es-ES" dirty="0"/>
              <a:t xml:space="preserve"> </a:t>
            </a:r>
            <a:r>
              <a:rPr lang="es-ES" dirty="0" err="1"/>
              <a:t>adipiscing</a:t>
            </a:r>
            <a:r>
              <a:rPr lang="es-ES" dirty="0"/>
              <a:t xml:space="preserve"> </a:t>
            </a:r>
            <a:r>
              <a:rPr lang="es-ES" dirty="0" err="1"/>
              <a:t>elit</a:t>
            </a:r>
            <a:r>
              <a:rPr lang="es-ES" dirty="0"/>
              <a:t xml:space="preserve">, sed </a:t>
            </a:r>
            <a:r>
              <a:rPr lang="es-ES" dirty="0" err="1"/>
              <a:t>diam</a:t>
            </a:r>
            <a:r>
              <a:rPr lang="es-ES" dirty="0"/>
              <a:t xml:space="preserve"> </a:t>
            </a:r>
            <a:r>
              <a:rPr lang="es-ES" dirty="0" err="1"/>
              <a:t>nonummy</a:t>
            </a:r>
            <a:r>
              <a:rPr lang="es-ES" dirty="0"/>
              <a:t xml:space="preserve"> </a:t>
            </a:r>
            <a:r>
              <a:rPr lang="es-ES" dirty="0" err="1"/>
              <a:t>nibh</a:t>
            </a:r>
            <a:r>
              <a:rPr lang="es-ES" dirty="0"/>
              <a:t xml:space="preserve"> </a:t>
            </a:r>
            <a:r>
              <a:rPr lang="es-ES" dirty="0" err="1"/>
              <a:t>euismod</a:t>
            </a:r>
            <a:r>
              <a:rPr lang="es-ES" dirty="0"/>
              <a:t xml:space="preserve"> </a:t>
            </a:r>
            <a:r>
              <a:rPr lang="es-ES" dirty="0" err="1"/>
              <a:t>tincidunt</a:t>
            </a:r>
            <a:r>
              <a:rPr lang="es-ES" dirty="0"/>
              <a:t xml:space="preserve"> ut </a:t>
            </a:r>
            <a:r>
              <a:rPr lang="es-ES" dirty="0" err="1"/>
              <a:t>laoreet</a:t>
            </a:r>
            <a:r>
              <a:rPr lang="es-ES" dirty="0"/>
              <a:t xml:space="preserve"> </a:t>
            </a:r>
            <a:r>
              <a:rPr lang="es-ES" dirty="0" err="1"/>
              <a:t>dolore</a:t>
            </a:r>
            <a:r>
              <a:rPr lang="es-ES" dirty="0"/>
              <a:t xml:space="preserve"> magna </a:t>
            </a:r>
            <a:r>
              <a:rPr lang="es-ES" dirty="0" err="1"/>
              <a:t>aliquam</a:t>
            </a:r>
            <a:r>
              <a:rPr lang="es-ES" dirty="0"/>
              <a:t xml:space="preserve"> </a:t>
            </a:r>
            <a:r>
              <a:rPr lang="es-ES" dirty="0" err="1"/>
              <a:t>erat</a:t>
            </a:r>
            <a:r>
              <a:rPr lang="es-ES" dirty="0"/>
              <a:t xml:space="preserve"> </a:t>
            </a:r>
            <a:r>
              <a:rPr lang="es-ES" dirty="0" err="1"/>
              <a:t>volutpat</a:t>
            </a:r>
            <a:r>
              <a:rPr lang="es-ES" dirty="0"/>
              <a:t xml:space="preserve">. Ut </a:t>
            </a:r>
            <a:r>
              <a:rPr lang="es-ES" dirty="0" err="1"/>
              <a:t>wisi</a:t>
            </a:r>
            <a:r>
              <a:rPr lang="es-ES" dirty="0"/>
              <a:t xml:space="preserve"> </a:t>
            </a:r>
            <a:r>
              <a:rPr lang="es-ES" dirty="0" err="1"/>
              <a:t>enim</a:t>
            </a:r>
            <a:r>
              <a:rPr lang="es-ES" dirty="0"/>
              <a:t xml:space="preserve"> ad </a:t>
            </a:r>
            <a:r>
              <a:rPr lang="es-ES" dirty="0" err="1"/>
              <a:t>minim</a:t>
            </a:r>
            <a:r>
              <a:rPr lang="es-ES" dirty="0"/>
              <a:t xml:space="preserve"> </a:t>
            </a:r>
            <a:r>
              <a:rPr lang="es-ES" dirty="0" err="1"/>
              <a:t>veniam</a:t>
            </a:r>
            <a:r>
              <a:rPr lang="es-ES" dirty="0"/>
              <a:t xml:space="preserve">, </a:t>
            </a:r>
            <a:r>
              <a:rPr lang="es-ES" dirty="0" err="1"/>
              <a:t>quis</a:t>
            </a:r>
            <a:r>
              <a:rPr lang="es-ES" dirty="0"/>
              <a:t xml:space="preserve"> </a:t>
            </a:r>
            <a:r>
              <a:rPr lang="es-ES" dirty="0" err="1"/>
              <a:t>nostrud</a:t>
            </a:r>
            <a:r>
              <a:rPr lang="es-ES" dirty="0"/>
              <a:t xml:space="preserve"> </a:t>
            </a:r>
            <a:r>
              <a:rPr lang="es-ES" dirty="0" err="1"/>
              <a:t>exerci</a:t>
            </a:r>
            <a:r>
              <a:rPr lang="es-ES" dirty="0"/>
              <a:t xml:space="preserve"> </a:t>
            </a:r>
            <a:r>
              <a:rPr lang="es-ES" dirty="0" err="1"/>
              <a:t>tation</a:t>
            </a:r>
            <a:r>
              <a:rPr lang="es-ES" dirty="0"/>
              <a:t xml:space="preserve"> </a:t>
            </a:r>
            <a:r>
              <a:rPr lang="es-ES" dirty="0" err="1"/>
              <a:t>ullamcorper</a:t>
            </a:r>
            <a:r>
              <a:rPr lang="es-ES" dirty="0"/>
              <a:t xml:space="preserve"> </a:t>
            </a:r>
            <a:r>
              <a:rPr lang="es-ES" dirty="0" err="1"/>
              <a:t>suscipit</a:t>
            </a:r>
            <a:r>
              <a:rPr lang="es-ES" dirty="0"/>
              <a:t xml:space="preserve"> </a:t>
            </a:r>
            <a:r>
              <a:rPr lang="es-ES" dirty="0" err="1"/>
              <a:t>lobortis</a:t>
            </a:r>
            <a:r>
              <a:rPr lang="es-ES" dirty="0"/>
              <a:t xml:space="preserve"> </a:t>
            </a:r>
            <a:r>
              <a:rPr lang="es-ES" dirty="0" err="1"/>
              <a:t>nisl</a:t>
            </a:r>
            <a:r>
              <a:rPr lang="es-ES" dirty="0"/>
              <a:t xml:space="preserve"> ut </a:t>
            </a:r>
            <a:r>
              <a:rPr lang="es-ES" dirty="0" err="1"/>
              <a:t>aliquip</a:t>
            </a:r>
            <a:r>
              <a:rPr lang="es-ES" dirty="0"/>
              <a:t xml:space="preserve"> ex </a:t>
            </a:r>
            <a:r>
              <a:rPr lang="es-ES" dirty="0" err="1"/>
              <a:t>ea</a:t>
            </a:r>
            <a:r>
              <a:rPr lang="es-ES" dirty="0"/>
              <a:t xml:space="preserve"> commodo </a:t>
            </a:r>
            <a:r>
              <a:rPr lang="es-ES" dirty="0" err="1"/>
              <a:t>consequat</a:t>
            </a:r>
            <a:r>
              <a:rPr lang="es-E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57748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D04EF40-0CD4-E040-AAEF-03255B58AD2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Marcador de texto 2">
            <a:extLst>
              <a:ext uri="{FF2B5EF4-FFF2-40B4-BE49-F238E27FC236}">
                <a16:creationId xmlns:a16="http://schemas.microsoft.com/office/drawing/2014/main" id="{5A48F38A-2F3C-D94A-B62E-29DA94D8AD7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761874" y="1109312"/>
            <a:ext cx="4668252" cy="88552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>
              <a:defRPr sz="2400" b="0" i="0" spc="300">
                <a:solidFill>
                  <a:schemeClr val="tx1"/>
                </a:solidFill>
                <a:latin typeface="Futura Std Book" panose="020B0502020204020303" pitchFamily="34" charset="0"/>
              </a:defRPr>
            </a:lvl1pPr>
          </a:lstStyle>
          <a:p>
            <a:pPr lvl="0"/>
            <a:r>
              <a:rPr lang="es-ES" dirty="0"/>
              <a:t xml:space="preserve">HAGA CLIC PARA </a:t>
            </a:r>
          </a:p>
          <a:p>
            <a:pPr lvl="0"/>
            <a:r>
              <a:rPr lang="es-ES" dirty="0"/>
              <a:t>MODIFICAR EL TEXTO</a:t>
            </a:r>
          </a:p>
        </p:txBody>
      </p:sp>
      <p:sp>
        <p:nvSpPr>
          <p:cNvPr id="6" name="Marcador de texto 2">
            <a:extLst>
              <a:ext uri="{FF2B5EF4-FFF2-40B4-BE49-F238E27FC236}">
                <a16:creationId xmlns:a16="http://schemas.microsoft.com/office/drawing/2014/main" id="{3042F44D-5D4D-F143-8BF4-8EBDCC41C31D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3070860" y="2367815"/>
            <a:ext cx="6050281" cy="23870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algn="ctr">
              <a:defRPr sz="1400" b="0" i="0">
                <a:solidFill>
                  <a:schemeClr val="tx1"/>
                </a:solidFill>
                <a:latin typeface="Futura Std Medium" panose="020B0502020204020303" pitchFamily="34" charset="0"/>
              </a:defRPr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 xml:space="preserve"> </a:t>
            </a:r>
            <a:r>
              <a:rPr lang="es-ES" dirty="0" err="1"/>
              <a:t>ipsum</a:t>
            </a:r>
            <a:r>
              <a:rPr lang="es-ES" dirty="0"/>
              <a:t xml:space="preserve"> dolor </a:t>
            </a:r>
            <a:r>
              <a:rPr lang="es-ES" dirty="0" err="1"/>
              <a:t>sit</a:t>
            </a:r>
            <a:r>
              <a:rPr lang="es-ES" dirty="0"/>
              <a:t xml:space="preserve"> </a:t>
            </a:r>
            <a:r>
              <a:rPr lang="es-ES" dirty="0" err="1"/>
              <a:t>amet</a:t>
            </a:r>
            <a:r>
              <a:rPr lang="es-ES" dirty="0"/>
              <a:t xml:space="preserve">, </a:t>
            </a:r>
            <a:r>
              <a:rPr lang="es-ES" dirty="0" err="1"/>
              <a:t>cons</a:t>
            </a:r>
            <a:r>
              <a:rPr lang="es-ES" dirty="0"/>
              <a:t xml:space="preserve"> </a:t>
            </a:r>
            <a:r>
              <a:rPr lang="es-ES" dirty="0" err="1"/>
              <a:t>ectetuer</a:t>
            </a:r>
            <a:r>
              <a:rPr lang="es-ES" dirty="0"/>
              <a:t xml:space="preserve"> </a:t>
            </a:r>
            <a:r>
              <a:rPr lang="es-ES" dirty="0" err="1"/>
              <a:t>adipiscing</a:t>
            </a:r>
            <a:r>
              <a:rPr lang="es-ES" dirty="0"/>
              <a:t xml:space="preserve"> </a:t>
            </a:r>
            <a:r>
              <a:rPr lang="es-ES" dirty="0" err="1"/>
              <a:t>elit</a:t>
            </a:r>
            <a:r>
              <a:rPr lang="es-ES" dirty="0"/>
              <a:t xml:space="preserve">, sed </a:t>
            </a:r>
            <a:r>
              <a:rPr lang="es-ES" dirty="0" err="1"/>
              <a:t>diam</a:t>
            </a:r>
            <a:r>
              <a:rPr lang="es-ES" dirty="0"/>
              <a:t xml:space="preserve"> </a:t>
            </a:r>
            <a:r>
              <a:rPr lang="es-ES" dirty="0" err="1"/>
              <a:t>nonummy</a:t>
            </a:r>
            <a:r>
              <a:rPr lang="es-ES" dirty="0"/>
              <a:t xml:space="preserve"> </a:t>
            </a:r>
            <a:r>
              <a:rPr lang="es-ES" dirty="0" err="1"/>
              <a:t>nibh</a:t>
            </a:r>
            <a:r>
              <a:rPr lang="es-ES" dirty="0"/>
              <a:t xml:space="preserve"> </a:t>
            </a:r>
            <a:r>
              <a:rPr lang="es-ES" dirty="0" err="1"/>
              <a:t>euismod</a:t>
            </a:r>
            <a:r>
              <a:rPr lang="es-ES" dirty="0"/>
              <a:t xml:space="preserve"> </a:t>
            </a:r>
            <a:r>
              <a:rPr lang="es-ES" dirty="0" err="1"/>
              <a:t>tincidunt</a:t>
            </a:r>
            <a:r>
              <a:rPr lang="es-ES" dirty="0"/>
              <a:t xml:space="preserve"> ut </a:t>
            </a:r>
            <a:r>
              <a:rPr lang="es-ES" dirty="0" err="1"/>
              <a:t>laoreet</a:t>
            </a:r>
            <a:r>
              <a:rPr lang="es-ES" dirty="0"/>
              <a:t xml:space="preserve"> </a:t>
            </a:r>
            <a:r>
              <a:rPr lang="es-ES" dirty="0" err="1"/>
              <a:t>dolore</a:t>
            </a:r>
            <a:r>
              <a:rPr lang="es-ES" dirty="0"/>
              <a:t xml:space="preserve"> magna </a:t>
            </a:r>
            <a:r>
              <a:rPr lang="es-ES" dirty="0" err="1"/>
              <a:t>aliquam</a:t>
            </a:r>
            <a:r>
              <a:rPr lang="es-ES" dirty="0"/>
              <a:t xml:space="preserve"> </a:t>
            </a:r>
            <a:r>
              <a:rPr lang="es-ES" dirty="0" err="1"/>
              <a:t>erat</a:t>
            </a:r>
            <a:r>
              <a:rPr lang="es-ES" dirty="0"/>
              <a:t xml:space="preserve"> </a:t>
            </a:r>
            <a:r>
              <a:rPr lang="es-ES" dirty="0" err="1"/>
              <a:t>volutpat</a:t>
            </a:r>
            <a:r>
              <a:rPr lang="es-ES" dirty="0"/>
              <a:t xml:space="preserve">. Ut </a:t>
            </a:r>
            <a:r>
              <a:rPr lang="es-ES" dirty="0" err="1"/>
              <a:t>wisi</a:t>
            </a:r>
            <a:r>
              <a:rPr lang="es-ES" dirty="0"/>
              <a:t xml:space="preserve"> </a:t>
            </a:r>
            <a:r>
              <a:rPr lang="es-ES" dirty="0" err="1"/>
              <a:t>enim</a:t>
            </a:r>
            <a:r>
              <a:rPr lang="es-ES" dirty="0"/>
              <a:t xml:space="preserve"> ad </a:t>
            </a:r>
            <a:r>
              <a:rPr lang="es-ES" dirty="0" err="1"/>
              <a:t>minim</a:t>
            </a:r>
            <a:r>
              <a:rPr lang="es-ES" dirty="0"/>
              <a:t xml:space="preserve"> </a:t>
            </a:r>
            <a:r>
              <a:rPr lang="es-ES" dirty="0" err="1"/>
              <a:t>veniam</a:t>
            </a:r>
            <a:r>
              <a:rPr lang="es-ES" dirty="0"/>
              <a:t xml:space="preserve">, </a:t>
            </a:r>
            <a:r>
              <a:rPr lang="es-ES" dirty="0" err="1"/>
              <a:t>quis</a:t>
            </a:r>
            <a:r>
              <a:rPr lang="es-ES" dirty="0"/>
              <a:t xml:space="preserve"> </a:t>
            </a:r>
            <a:r>
              <a:rPr lang="es-ES" dirty="0" err="1"/>
              <a:t>nostrud</a:t>
            </a:r>
            <a:r>
              <a:rPr lang="es-ES" dirty="0"/>
              <a:t xml:space="preserve"> </a:t>
            </a:r>
            <a:r>
              <a:rPr lang="es-ES" dirty="0" err="1"/>
              <a:t>exerci</a:t>
            </a:r>
            <a:r>
              <a:rPr lang="es-ES" dirty="0"/>
              <a:t xml:space="preserve"> </a:t>
            </a:r>
            <a:r>
              <a:rPr lang="es-ES" dirty="0" err="1"/>
              <a:t>tation</a:t>
            </a:r>
            <a:r>
              <a:rPr lang="es-ES" dirty="0"/>
              <a:t xml:space="preserve"> </a:t>
            </a:r>
            <a:r>
              <a:rPr lang="es-ES" dirty="0" err="1"/>
              <a:t>ullamcorper</a:t>
            </a:r>
            <a:r>
              <a:rPr lang="es-ES" dirty="0"/>
              <a:t xml:space="preserve"> </a:t>
            </a:r>
            <a:r>
              <a:rPr lang="es-ES" dirty="0" err="1"/>
              <a:t>suscipit</a:t>
            </a:r>
            <a:r>
              <a:rPr lang="es-ES" dirty="0"/>
              <a:t xml:space="preserve"> </a:t>
            </a:r>
            <a:r>
              <a:rPr lang="es-ES" dirty="0" err="1"/>
              <a:t>lobortis</a:t>
            </a:r>
            <a:r>
              <a:rPr lang="es-ES" dirty="0"/>
              <a:t xml:space="preserve"> </a:t>
            </a:r>
            <a:r>
              <a:rPr lang="es-ES" dirty="0" err="1"/>
              <a:t>nisl</a:t>
            </a:r>
            <a:r>
              <a:rPr lang="es-ES" dirty="0"/>
              <a:t xml:space="preserve"> ut </a:t>
            </a:r>
            <a:r>
              <a:rPr lang="es-ES" dirty="0" err="1"/>
              <a:t>aliquip</a:t>
            </a:r>
            <a:r>
              <a:rPr lang="es-ES" dirty="0"/>
              <a:t xml:space="preserve"> ex </a:t>
            </a:r>
            <a:r>
              <a:rPr lang="es-ES" dirty="0" err="1"/>
              <a:t>ea</a:t>
            </a:r>
            <a:r>
              <a:rPr lang="es-ES" dirty="0"/>
              <a:t xml:space="preserve"> commodo </a:t>
            </a:r>
            <a:r>
              <a:rPr lang="es-ES" dirty="0" err="1"/>
              <a:t>consequat</a:t>
            </a:r>
            <a:r>
              <a:rPr lang="es-E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25366078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043BB30F-893B-1C44-A23F-397E7BB252D6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9463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ctr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b="1" i="0" kern="1200">
          <a:solidFill>
            <a:schemeClr val="bg1"/>
          </a:solidFill>
          <a:latin typeface="Futura" panose="020B0602020204020303" pitchFamily="34" charset="-79"/>
          <a:ea typeface="+mn-ea"/>
          <a:cs typeface="Futura" panose="020B0602020204020303" pitchFamily="34" charset="-79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30870542-4D63-D549-B420-78BDF84B04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0829" y="2851485"/>
            <a:ext cx="3519638" cy="885524"/>
          </a:xfrm>
        </p:spPr>
        <p:txBody>
          <a:bodyPr/>
          <a:lstStyle/>
          <a:p>
            <a:r>
              <a:rPr lang="es-CR" dirty="0" b="1"/>
              <a:t>SEGURIDAD COMO CÓDIGO</a:t>
            </a:r>
          </a:p>
        </p:txBody>
      </p:sp>
    </p:spTree>
    <p:extLst>
      <p:ext uri="{BB962C8B-B14F-4D97-AF65-F5344CB8AC3E}">
        <p14:creationId xmlns:p14="http://schemas.microsoft.com/office/powerpoint/2010/main" val="38142836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94A6004A-A135-EC49-BB41-35E781ED2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R" dirty="0" b="1"/>
              <a:t>[TU NOMBRE]</a:t>
            </a:r>
          </a:p>
          <a:p>
            <a:r>
              <a:rPr lang="es-CR" dirty="0"/>
              <a:t>DevOps Engineer</a:t>
            </a:r>
          </a:p>
        </p:txBody>
      </p:sp>
    </p:spTree>
    <p:extLst>
      <p:ext uri="{BB962C8B-B14F-4D97-AF65-F5344CB8AC3E}">
        <p14:creationId xmlns:p14="http://schemas.microsoft.com/office/powerpoint/2010/main" val="11463884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62B3DB2F-0FD5-414D-8A8E-EA29F891D1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R" dirty="0" b="1"/>
              <a:t>¿Qué tan segura es tu API?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02E555B-E59C-334E-8A3A-6EFCC09DCAC9}"/>
              </a:ext>
            </a:extLst>
          </p:cNvPr>
          <p:cNvSpPr>
            <a:spLocks noGrp="1"/>
          </p:cNvSpPr>
          <p:nvPr>
            <p:ph idx="10"/>
          </p:nvPr>
        </p:nvSpPr>
        <p:spPr/>
      </p:sp>
    </p:spTree>
    <p:extLst>
      <p:ext uri="{BB962C8B-B14F-4D97-AF65-F5344CB8AC3E}">
        <p14:creationId xmlns:p14="http://schemas.microsoft.com/office/powerpoint/2010/main" val="41227036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3E35B2C0-D1CB-EF4A-AA2B-91C53DD34E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R" dirty="0" b="1"/>
              <a:t>84%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4C745D8-9848-FD40-BCAF-A62F77F0421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s-CR" dirty="0"/>
              <a:t>de las empresas sufrieron un incidente de seguridad en APIs en el último año</a:t>
            </a:r>
          </a:p>
        </p:txBody>
      </p:sp>
    </p:spTree>
    <p:extLst>
      <p:ext uri="{BB962C8B-B14F-4D97-AF65-F5344CB8AC3E}">
        <p14:creationId xmlns:p14="http://schemas.microsoft.com/office/powerpoint/2010/main" val="42869629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94A6004A-A135-EC49-BB41-35E781ED2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R" dirty="0" b="1"/>
              <a:t>Solo el 13%</a:t>
            </a:r>
          </a:p>
        </p:txBody>
      </p:sp>
      <p:sp>
        <p:nvSpPr>
          <p:cNvPr id="4" name="TextBox 1"/>
          <p:cNvSpPr txBox="1"/>
          <p:nvPr/>
        </p:nvSpPr>
        <p:spPr>
          <a:xfrm>
            <a:off x="2500000" y="3800000"/>
            <a:ext cx="7200000" cy="200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s-CR" sz="1600" dirty="0">
                <a:solidFill>
                  <a:srgbClr val="FFFFFF"/>
                </a:solidFill>
              </a:rPr>
              <a:t>puede prevenir más de la mitad de los ataques a sus APIs</a:t>
            </a:r>
          </a:p>
        </p:txBody>
      </p:sp>
    </p:spTree>
    <p:extLst>
      <p:ext uri="{BB962C8B-B14F-4D97-AF65-F5344CB8AC3E}">
        <p14:creationId xmlns:p14="http://schemas.microsoft.com/office/powerpoint/2010/main" val="11463884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62B3DB2F-0FD5-414D-8A8E-EA29F891D1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R" dirty="0" b="1"/>
              <a:t>Seguridad en el espejo retrovisor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02E555B-E59C-334E-8A3A-6EFCC09DCAC9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41227036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62B3DB2F-0FD5-414D-8A8E-EA29F891D1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R" dirty="0" b="1"/>
              <a:t>Costa Rica: la regulación aprieta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02E555B-E59C-334E-8A3A-6EFCC09DCAC9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s-CR" dirty="0"/>
              <a:t>CONASSIF reformó el Reglamento de Gestión TI en 2024. La Asamblea Legislativa aprobó en primer debate una ley que hace a los bancos responsables si no demuestran cumplimiento de ciberseguridad.</a:t>
            </a:r>
          </a:p>
        </p:txBody>
      </p:sp>
    </p:spTree>
    <p:extLst>
      <p:ext uri="{BB962C8B-B14F-4D97-AF65-F5344CB8AC3E}">
        <p14:creationId xmlns:p14="http://schemas.microsoft.com/office/powerpoint/2010/main" val="41227036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3E35B2C0-D1CB-EF4A-AA2B-91C53DD34E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R" dirty="0" b="1"/>
              <a:t>¿Y si la spec fuera el contrato de seguridad?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4C745D8-9848-FD40-BCAF-A62F77F0421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42869629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62B3DB2F-0FD5-414D-8A8E-EA29F891D1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R" dirty="0" b="1"/>
              <a:t>Seguridad como Código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02E555B-E59C-334E-8A3A-6EFCC09DCAC9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41227036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94A6004A-A135-EC49-BB41-35E781ED2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R" dirty="0" b="1"/>
              <a:t>La Spec genera todo</a:t>
            </a:r>
          </a:p>
        </p:txBody>
      </p:sp>
      <p:sp>
        <p:nvSpPr>
          <p:cNvPr id="4" name="TextBox 1"/>
          <p:cNvSpPr txBox="1"/>
          <p:nvPr/>
        </p:nvSpPr>
        <p:spPr>
          <a:xfrm>
            <a:off x="2500000" y="3800000"/>
            <a:ext cx="7200000" cy="200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s-CR" sz="1600" dirty="0">
                <a:solidFill>
                  <a:srgbClr val="FFFFFF"/>
                </a:solidFill>
              </a:rPr>
              <a:t>OpenAPI Spec genera: Linting, Tests de auth, OWASP ZAP, Validación de dependencias, Detección de secretos, Reporte de compliance</a:t>
            </a:r>
          </a:p>
        </p:txBody>
      </p:sp>
    </p:spTree>
    <p:extLst>
      <p:ext uri="{BB962C8B-B14F-4D97-AF65-F5344CB8AC3E}">
        <p14:creationId xmlns:p14="http://schemas.microsoft.com/office/powerpoint/2010/main" val="11463884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94A6004A-A135-EC49-BB41-35E781ED2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R" dirty="0" b="1"/>
              <a:t>¿Por qué Spec-Driven?</a:t>
            </a:r>
          </a:p>
        </p:txBody>
      </p:sp>
      <p:sp>
        <p:nvSpPr>
          <p:cNvPr id="4" name="TextBox 1"/>
          <p:cNvSpPr txBox="1"/>
          <p:nvPr/>
        </p:nvSpPr>
        <p:spPr>
          <a:xfrm>
            <a:off x="2500000" y="3800000"/>
            <a:ext cx="7200000" cy="200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s-CR" sz="1600" dirty="0">
                <a:solidFill>
                  <a:srgbClr val="FFFFFF"/>
                </a:solidFill>
              </a:rPr>
              <a:t>1. La spec es la fuente de verdad  |  2. Es auditable: tu repo ES la evidencia  |  3. Es reproducible: corre siempre igual</a:t>
            </a:r>
          </a:p>
        </p:txBody>
      </p:sp>
    </p:spTree>
    <p:extLst>
      <p:ext uri="{BB962C8B-B14F-4D97-AF65-F5344CB8AC3E}">
        <p14:creationId xmlns:p14="http://schemas.microsoft.com/office/powerpoint/2010/main" val="11463884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62B3DB2F-0FD5-414D-8A8E-EA29F891D1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R" dirty="0" b="1"/>
              <a:t>Arquitectura del Pipeline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02E555B-E59C-334E-8A3A-6EFCC09DCAC9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41227036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3E35B2C0-D1CB-EF4A-AA2B-91C53DD34E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R" dirty="0" b="1"/>
              <a:t>El Pipeline Spec-Driven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4C745D8-9848-FD40-BCAF-A62F77F0421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s-CR" dirty="0"/>
              <a:t>openapi.yaml → PR → 6 etapas automáticas → Aprobado o Bloqueado</a:t>
            </a:r>
          </a:p>
        </p:txBody>
      </p:sp>
    </p:spTree>
    <p:extLst>
      <p:ext uri="{BB962C8B-B14F-4D97-AF65-F5344CB8AC3E}">
        <p14:creationId xmlns:p14="http://schemas.microsoft.com/office/powerpoint/2010/main" val="42869629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62B3DB2F-0FD5-414D-8A8E-EA29F891D1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R" dirty="0" b="1"/>
              <a:t>Spectral + Semgrep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02E555B-E59C-334E-8A3A-6EFCC09DCAC9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s-CR" dirty="0"/>
              <a:t>Spectral: linting de la spec. ¿Todos los endpoints tienen auth? ¿Se usa HTTPS?</a:t>
            </a:r>
          </a:p>
          <a:p>
            <a:r>
              <a:rPr lang="es-CR" dirty="0"/>
              <a:t>Semgrep: análisis estático. Inyección SQL, variables no sanitizadas, secrets hardcodeados.</a:t>
            </a:r>
          </a:p>
        </p:txBody>
      </p:sp>
    </p:spTree>
    <p:extLst>
      <p:ext uri="{BB962C8B-B14F-4D97-AF65-F5344CB8AC3E}">
        <p14:creationId xmlns:p14="http://schemas.microsoft.com/office/powerpoint/2010/main" val="41227036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62B3DB2F-0FD5-414D-8A8E-EA29F891D1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R" dirty="0" b="1"/>
              <a:t>Gitleaks + npm audit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02E555B-E59C-334E-8A3A-6EFCC09DCAC9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s-CR" dirty="0"/>
              <a:t>Gitleaks: ¿Alguien dejó una API key en el código?</a:t>
            </a:r>
          </a:p>
          <a:p>
            <a:r>
              <a:rPr lang="es-CR" dirty="0"/>
              <a:t>npm audit: dependencias contra bases de datos de CVEs conocidos.</a:t>
            </a:r>
          </a:p>
        </p:txBody>
      </p:sp>
    </p:spTree>
    <p:extLst>
      <p:ext uri="{BB962C8B-B14F-4D97-AF65-F5344CB8AC3E}">
        <p14:creationId xmlns:p14="http://schemas.microsoft.com/office/powerpoint/2010/main" val="41227036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3E35B2C0-D1CB-EF4A-AA2B-91C53DD34E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R" dirty="0" b="1"/>
              <a:t>OWASP ZAP + Compliance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4C745D8-9848-FD40-BCAF-A62F77F0421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s-CR" dirty="0"/>
              <a:t>ZAP: levanta la API, la ataca con la spec. Inyección, auth rota, exposición de datos.</a:t>
            </a:r>
          </a:p>
          <a:p>
            <a:r>
              <a:rPr lang="es-CR" dirty="0"/>
              <a:t>Compliance: reporte automático como comentario en el PR.</a:t>
            </a:r>
          </a:p>
        </p:txBody>
      </p:sp>
    </p:spTree>
    <p:extLst>
      <p:ext uri="{BB962C8B-B14F-4D97-AF65-F5344CB8AC3E}">
        <p14:creationId xmlns:p14="http://schemas.microsoft.com/office/powerpoint/2010/main" val="42869629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94A6004A-A135-EC49-BB41-35E781ED2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R" dirty="0" b="1"/>
              <a:t>El Pull Request</a:t>
            </a:r>
          </a:p>
        </p:txBody>
      </p:sp>
      <p:sp>
        <p:nvSpPr>
          <p:cNvPr id="4" name="TextBox 1"/>
          <p:cNvSpPr txBox="1"/>
          <p:nvPr/>
        </p:nvSpPr>
        <p:spPr>
          <a:xfrm>
            <a:off x="2500000" y="3800000"/>
            <a:ext cx="7200000" cy="200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s-CR" sz="1600" dirty="0">
                <a:solidFill>
                  <a:srgbClr val="FFFFFF"/>
                </a:solidFill>
              </a:rPr>
              <a:t>Verde = seguro. Rojo = corregir primero. El reviewer no necesita ser experto en seguridad.</a:t>
            </a:r>
          </a:p>
        </p:txBody>
      </p:sp>
    </p:spTree>
    <p:extLst>
      <p:ext uri="{BB962C8B-B14F-4D97-AF65-F5344CB8AC3E}">
        <p14:creationId xmlns:p14="http://schemas.microsoft.com/office/powerpoint/2010/main" val="11463884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3E35B2C0-D1CB-EF4A-AA2B-91C53DD34E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R" dirty="0" b="1"/>
              <a:t>DEMO EN VIVO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4C745D8-9848-FD40-BCAF-A62F77F0421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42869629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62B3DB2F-0FD5-414D-8A8E-EA29F891D1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R" dirty="0" b="1"/>
              <a:t>github.com/ardops/spec-driven-devsecops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02E555B-E59C-334E-8A3A-6EFCC09DCAC9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s-CR" dirty="0"/>
              <a:t>Clonar → npm install → npm start</a:t>
            </a:r>
          </a:p>
          <a:p>
            <a:r>
              <a:rPr lang="es-CR" dirty="0"/>
              <a:t>Todo público. Todo reproducible.</a:t>
            </a:r>
          </a:p>
        </p:txBody>
      </p:sp>
    </p:spTree>
    <p:extLst>
      <p:ext uri="{BB962C8B-B14F-4D97-AF65-F5344CB8AC3E}">
        <p14:creationId xmlns:p14="http://schemas.microsoft.com/office/powerpoint/2010/main" val="41227036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3E35B2C0-D1CB-EF4A-AA2B-91C53DD34E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R" dirty="0" b="1"/>
              <a:t>Resultados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4C745D8-9848-FD40-BCAF-A62F77F0421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42869629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94A6004A-A135-EC49-BB41-35E781ED2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R" dirty="0" b="1"/>
              <a:t>Antes vs. Después</a:t>
            </a:r>
          </a:p>
        </p:txBody>
      </p:sp>
      <p:sp>
        <p:nvSpPr>
          <p:cNvPr id="4" name="TextBox 1"/>
          <p:cNvSpPr txBox="1"/>
          <p:nvPr/>
        </p:nvSpPr>
        <p:spPr>
          <a:xfrm>
            <a:off x="2500000" y="3800000"/>
            <a:ext cx="7200000" cy="200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s-CR" sz="1600" dirty="0">
                <a:solidFill>
                  <a:srgbClr val="FFFFFF"/>
                </a:solidFill>
              </a:rPr>
              <a:t>Detección: semanas → minutos  |  Cobertura: 60% → 100%  |  Evidencia: PDFs perdidos → trazabilidad en cada PR</a:t>
            </a:r>
          </a:p>
        </p:txBody>
      </p:sp>
    </p:spTree>
    <p:extLst>
      <p:ext uri="{BB962C8B-B14F-4D97-AF65-F5344CB8AC3E}">
        <p14:creationId xmlns:p14="http://schemas.microsoft.com/office/powerpoint/2010/main" val="11463884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62B3DB2F-0FD5-414D-8A8E-EA29F891D1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R" dirty="0" b="1"/>
              <a:t>$9.36 millones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02E555B-E59C-334E-8A3A-6EFCC09DCAC9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s-CR" dirty="0"/>
              <a:t>Costo promedio de una brecha de datos en banca en EE.UU. (2024). Implementar este pipeline cuesta: tiempo, herramientas open source, y voluntad.</a:t>
            </a:r>
          </a:p>
        </p:txBody>
      </p:sp>
    </p:spTree>
    <p:extLst>
      <p:ext uri="{BB962C8B-B14F-4D97-AF65-F5344CB8AC3E}">
        <p14:creationId xmlns:p14="http://schemas.microsoft.com/office/powerpoint/2010/main" val="41227036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3E35B2C0-D1CB-EF4A-AA2B-91C53DD34E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R" dirty="0" b="1"/>
              <a:t>Compliance automático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4C745D8-9848-FD40-BCAF-A62F77F0421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s-CR" dirty="0"/>
              <a:t>Cada PR genera evidencia. Cada merge tiene trazabilidad. Cuando SUGEF llegue a auditar, la evidencia ya existe en GitHub.</a:t>
            </a:r>
          </a:p>
        </p:txBody>
      </p:sp>
    </p:spTree>
    <p:extLst>
      <p:ext uri="{BB962C8B-B14F-4D97-AF65-F5344CB8AC3E}">
        <p14:creationId xmlns:p14="http://schemas.microsoft.com/office/powerpoint/2010/main" val="42869629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94A6004A-A135-EC49-BB41-35E781ED2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R" dirty="0" b="1"/>
              <a:t>ardops.dev</a:t>
            </a:r>
          </a:p>
        </p:txBody>
      </p:sp>
      <p:sp>
        <p:nvSpPr>
          <p:cNvPr id="4" name="TextBox 1"/>
          <p:cNvSpPr txBox="1"/>
          <p:nvPr/>
        </p:nvSpPr>
        <p:spPr>
          <a:xfrm>
            <a:off x="2500000" y="3800000"/>
            <a:ext cx="7200000" cy="200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s-CR" sz="1600" dirty="0">
                <a:solidFill>
                  <a:srgbClr val="FFFFFF"/>
                </a:solidFill>
              </a:rPr>
              <a:t>Repo, slides, guías, documentación. Todo accesible para todos.</a:t>
            </a:r>
          </a:p>
        </p:txBody>
      </p:sp>
    </p:spTree>
    <p:extLst>
      <p:ext uri="{BB962C8B-B14F-4D97-AF65-F5344CB8AC3E}">
        <p14:creationId xmlns:p14="http://schemas.microsoft.com/office/powerpoint/2010/main" val="11463884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94A6004A-A135-EC49-BB41-35E781ED2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R" dirty="0" b="1"/>
              <a:t>ardops.dev</a:t>
            </a:r>
          </a:p>
        </p:txBody>
      </p:sp>
    </p:spTree>
    <p:extLst>
      <p:ext uri="{BB962C8B-B14F-4D97-AF65-F5344CB8AC3E}">
        <p14:creationId xmlns:p14="http://schemas.microsoft.com/office/powerpoint/2010/main" val="11463884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94A6004A-A135-EC49-BB41-35E781ED2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R" dirty="0" b="1"/>
              <a:t>La seguridad no es un gate.</a:t>
            </a:r>
          </a:p>
          <a:p>
            <a:r>
              <a:rPr lang="es-CR" dirty="0"/>
              <a:t>Es un guardrail.</a:t>
            </a:r>
          </a:p>
        </p:txBody>
      </p:sp>
    </p:spTree>
    <p:extLst>
      <p:ext uri="{BB962C8B-B14F-4D97-AF65-F5344CB8AC3E}">
        <p14:creationId xmlns:p14="http://schemas.microsoft.com/office/powerpoint/2010/main" val="11463884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30870542-4D63-D549-B420-78BDF84B04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0829" y="2851485"/>
            <a:ext cx="3519638" cy="885524"/>
          </a:xfrm>
        </p:spPr>
        <p:txBody>
          <a:bodyPr/>
          <a:lstStyle/>
          <a:p>
            <a:r>
              <a:rPr lang="es-CR" dirty="0" b="1"/>
              <a:t>Gracias</a:t>
            </a:r>
          </a:p>
          <a:p>
            <a:r>
              <a:rPr lang="es-CR" dirty="0"/>
              <a:t>ardops.dev</a:t>
            </a:r>
          </a:p>
        </p:txBody>
      </p:sp>
    </p:spTree>
    <p:extLst>
      <p:ext uri="{BB962C8B-B14F-4D97-AF65-F5344CB8AC3E}">
        <p14:creationId xmlns:p14="http://schemas.microsoft.com/office/powerpoint/2010/main" val="38142836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94A6004A-A135-EC49-BB41-35E781ED2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R" dirty="0" b="1"/>
              <a:t>GitHub Advanced Security</a:t>
            </a:r>
          </a:p>
        </p:txBody>
      </p:sp>
      <p:sp>
        <p:nvSpPr>
          <p:cNvPr id="4" name="TextBox 1"/>
          <p:cNvSpPr txBox="1"/>
          <p:nvPr/>
        </p:nvSpPr>
        <p:spPr>
          <a:xfrm>
            <a:off x="2500000" y="3800000"/>
            <a:ext cx="7200000" cy="2000000"/>
          </a:xfrm>
          <a:prstGeom prst="rect">
            <a:avLst/>
          </a:prstGeom>
          <a:noFill/>
        </p:spPr>
        <p:txBody>
          <a:bodyPr/>
          <a:lstStyle/>
          <a:p>
            <a:r>
              <a:rPr lang="es-CR" dirty="0"/>
              <a:t>CodeQL: analisis semantico del flujo de datos, no solo patrones</a:t>
            </a:r>
          </a:p>
          <a:p>
            <a:r>
              <a:rPr lang="es-CR" dirty="0"/>
              <a:t>Secret Scanning + Push Protection: bloquea secretos ANTES del push</a:t>
            </a:r>
          </a:p>
          <a:p>
            <a:r>
              <a:rPr lang="es-CR" dirty="0"/>
              <a:t>Dependabot: monitoreo 24/7 de dependencias con PRs automaticos</a:t>
            </a:r>
          </a:p>
        </p:txBody>
      </p:sp>
    </p:spTree>
    <p:extLst>
      <p:ext uri="{BB962C8B-B14F-4D97-AF65-F5344CB8AC3E}">
        <p14:creationId xmlns:p14="http://schemas.microsoft.com/office/powerpoint/2010/main" val="11463884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62B3DB2F-0FD5-414D-8A8E-EA29F891D1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R" dirty="0" b="1"/>
              <a:t>Open Source + GHAS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02E555B-E59C-334E-8A3A-6EFCC09DCAC9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s-CR" dirty="0"/>
              <a:t>Pipeline spec-driven (Spectral, ZAP) = core de seguridad</a:t>
            </a:r>
          </a:p>
          <a:p>
            <a:r>
              <a:rPr lang="es-CR" dirty="0"/>
              <a:t>GHAS (CodeQL, Push Protection, Dependabot) = capa enterprise</a:t>
            </a:r>
          </a:p>
          <a:p>
            <a:r>
              <a:rPr lang="es-CR" dirty="0"/>
              <a:t>Modelo hibrido: maximo valor, costo controlado</a:t>
            </a:r>
          </a:p>
        </p:txBody>
      </p:sp>
    </p:spTree>
    <p:extLst>
      <p:ext uri="{BB962C8B-B14F-4D97-AF65-F5344CB8AC3E}">
        <p14:creationId xmlns:p14="http://schemas.microsoft.com/office/powerpoint/2010/main" val="41227036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94A6004A-A135-EC49-BB41-35E781ED2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R" dirty="0" b="1"/>
              <a:t>De 1 repo a 200</a:t>
            </a:r>
          </a:p>
        </p:txBody>
      </p:sp>
      <p:sp>
        <p:nvSpPr>
          <p:cNvPr id="4" name="TextBox 1"/>
          <p:cNvSpPr txBox="1"/>
          <p:nvPr/>
        </p:nvSpPr>
        <p:spPr>
          <a:xfrm>
            <a:off x="2500000" y="3800000"/>
            <a:ext cx="7200000" cy="2000000"/>
          </a:xfrm>
          <a:prstGeom prst="rect">
            <a:avLst/>
          </a:prstGeom>
          <a:noFill/>
        </p:spPr>
        <p:txBody>
          <a:bodyPr/>
          <a:lstStyle/>
          <a:p>
            <a:r>
              <a:rPr lang="es-CR" dirty="0"/>
              <a:t>Reusable Workflows: definir UNA vez, aplicar a N repos</a:t>
            </a:r>
          </a:p>
          <a:p>
            <a:r>
              <a:rPr lang="es-CR" dirty="0"/>
              <a:t>Organization Rulesets: ningun PR se mergea sin pasar seguridad</a:t>
            </a:r>
          </a:p>
          <a:p>
            <a:r>
              <a:rPr lang="es-CR" dirty="0"/>
              <a:t>Custom Properties: clasificar repos por nivel de riesgo</a:t>
            </a:r>
          </a:p>
        </p:txBody>
      </p:sp>
    </p:spTree>
    <p:extLst>
      <p:ext uri="{BB962C8B-B14F-4D97-AF65-F5344CB8AC3E}">
        <p14:creationId xmlns:p14="http://schemas.microsoft.com/office/powerpoint/2010/main" val="114638845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</Words>
  <Application>Microsoft Macintosh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Futura</vt:lpstr>
      <vt:lpstr>Futura Std Book</vt:lpstr>
      <vt:lpstr>Futura Std Medium</vt:lpstr>
      <vt:lpstr>Tema de Office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Gonzalo Vargas  - Aldea Estudio</dc:creator>
  <cp:lastModifiedBy>Víctor Josué Ardon Rojas</cp:lastModifiedBy>
  <cp:revision>4</cp:revision>
  <dcterms:created xsi:type="dcterms:W3CDTF">2026-01-19T23:16:05Z</dcterms:created>
  <dcterms:modified xsi:type="dcterms:W3CDTF">2026-04-09T23:26:59Z</dcterms:modified>
</cp:coreProperties>
</file>